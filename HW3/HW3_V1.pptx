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261" r:id="rId2"/>
    <p:sldId id="262" r:id="rId3"/>
    <p:sldId id="264" r:id="rId4"/>
    <p:sldId id="267" r:id="rId5"/>
    <p:sldId id="266" r:id="rId6"/>
    <p:sldId id="290" r:id="rId7"/>
    <p:sldId id="291" r:id="rId8"/>
    <p:sldId id="285" r:id="rId9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9A20"/>
    <a:srgbClr val="FF7C08"/>
    <a:srgbClr val="0F6DAE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7" autoAdjust="0"/>
    <p:restoredTop sz="61395" autoAdjust="0"/>
  </p:normalViewPr>
  <p:slideViewPr>
    <p:cSldViewPr snapToGrid="0">
      <p:cViewPr varScale="1">
        <p:scale>
          <a:sx n="83" d="100"/>
          <a:sy n="83" d="100"/>
        </p:scale>
        <p:origin x="2697" y="63"/>
      </p:cViewPr>
      <p:guideLst/>
    </p:cSldViewPr>
  </p:slideViewPr>
  <p:notesTextViewPr>
    <p:cViewPr>
      <p:scale>
        <a:sx n="165" d="100"/>
        <a:sy n="165" d="100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4F8F7F-C1CC-4B35-940C-1BB9661BADA3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552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99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0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3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>
              <a:effectLst/>
              <a:latin typeface="Google Sans Text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AC2CEB09-2A1D-43DA-8307-5C91B95CABBA}" type="datetime1">
              <a:rPr lang="zh-TW" altLang="en-US" smtClean="0"/>
              <a:t>2026/5/6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74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13FE93-748B-439C-AE3A-23E20E04A624}" type="datetime1">
              <a:rPr lang="zh-TW" altLang="en-US" smtClean="0"/>
              <a:pPr/>
              <a:t>2026/5/6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rt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 rtl="0"/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A205CF-910F-465E-B6A6-9BE49763009A}" type="datetime1">
              <a:rPr lang="zh-TW" altLang="en-US" smtClean="0"/>
              <a:pPr/>
              <a:t>2026/5/6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6B6AD9-4500-493A-958D-7E01E540C867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58E77B-3286-4735-8DA0-0075843F60C4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7119D7F-8A3B-40BF-91B5-C6423A8FD745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2DE0A14E-1244-4A4B-A292-9278B262B538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3492946-14D6-45E4-BC2B-6A57E4082C2D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1CC5B1E-06AC-44D4-B39C-56597DAA03E6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A0BE5DD-BCB2-4827-A6D1-925B46897826}" type="datetime1">
              <a:rPr lang="zh-TW" altLang="en-US" smtClean="0"/>
              <a:t>2026/5/6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27F307-9824-4861-C708-43513D6BA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TW" sz="6000" dirty="0"/>
              <a:t>Monotonic Lateral (Pushover) Behavior of Columns</a:t>
            </a:r>
            <a:endParaRPr lang="zh-TW" altLang="en-US" sz="5600" dirty="0">
              <a:solidFill>
                <a:schemeClr val="tx1"/>
              </a:solidFill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78EBCCE2-C830-08C3-B705-E29D3B8B0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4558413"/>
            <a:ext cx="4154342" cy="1786788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Yu-Hung, Lin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Ping-Xu, Lin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Rhaditya Viansyah A.</a:t>
            </a:r>
            <a:endParaRPr lang="en-US" altLang="zh-TW" b="1" cap="none" dirty="0"/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5797D6E5-FAF4-01E9-5EA6-81DC068CF3C0}"/>
              </a:ext>
            </a:extLst>
          </p:cNvPr>
          <p:cNvSpPr txBox="1">
            <a:spLocks/>
          </p:cNvSpPr>
          <p:nvPr/>
        </p:nvSpPr>
        <p:spPr>
          <a:xfrm>
            <a:off x="5002839" y="4558413"/>
            <a:ext cx="2247282" cy="178678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N66144220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N66141125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TW" cap="none" dirty="0"/>
              <a:t>E64148458</a:t>
            </a:r>
            <a:endParaRPr lang="en-US" altLang="zh-TW" b="1" cap="none" dirty="0"/>
          </a:p>
        </p:txBody>
      </p:sp>
    </p:spTree>
    <p:extLst>
      <p:ext uri="{BB962C8B-B14F-4D97-AF65-F5344CB8AC3E}">
        <p14:creationId xmlns:p14="http://schemas.microsoft.com/office/powerpoint/2010/main" val="292555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DFD454-8F49-944B-4338-40B8EFFC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 of content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3ADCB0-2883-9977-FA76-4E36974F5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16450"/>
            <a:ext cx="5779255" cy="4497858"/>
          </a:xfrm>
        </p:spPr>
        <p:txBody>
          <a:bodyPr>
            <a:normAutofit/>
          </a:bodyPr>
          <a:lstStyle/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sz="2400" dirty="0">
                <a:solidFill>
                  <a:schemeClr val="tx1"/>
                </a:solidFill>
              </a:rPr>
              <a:t>Section properties</a:t>
            </a:r>
          </a:p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sz="2400" dirty="0">
                <a:solidFill>
                  <a:schemeClr val="tx1"/>
                </a:solidFill>
              </a:rPr>
              <a:t>Parameter selection</a:t>
            </a:r>
          </a:p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sz="2400" dirty="0">
                <a:solidFill>
                  <a:schemeClr val="tx1"/>
                </a:solidFill>
              </a:rPr>
              <a:t>OpenSees analysis</a:t>
            </a:r>
          </a:p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dirty="0">
                <a:solidFill>
                  <a:schemeClr val="tx1"/>
                </a:solidFill>
              </a:rPr>
              <a:t>Xtract analysis</a:t>
            </a:r>
          </a:p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sz="2400" dirty="0">
                <a:solidFill>
                  <a:schemeClr val="tx1"/>
                </a:solidFill>
              </a:rPr>
              <a:t>Comparison &amp; Justification</a:t>
            </a:r>
          </a:p>
          <a:p>
            <a:pPr marL="324000" indent="-324000">
              <a:lnSpc>
                <a:spcPct val="200000"/>
              </a:lnSpc>
              <a:spcAft>
                <a:spcPts val="0"/>
              </a:spcAft>
              <a:buClrTx/>
              <a:buFont typeface="+mj-lt"/>
              <a:buAutoNum type="arabicPeriod"/>
            </a:pPr>
            <a:r>
              <a:rPr lang="en-US" altLang="zh-TW" sz="2400" dirty="0">
                <a:solidFill>
                  <a:schemeClr val="tx1"/>
                </a:solidFill>
              </a:rPr>
              <a:t>Conclusions</a:t>
            </a:r>
            <a:endParaRPr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41958C-AAB7-25B5-B899-BD1EBEFD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S__110797071.jpg" descr="S__110797071.jpg">
            <a:extLst>
              <a:ext uri="{FF2B5EF4-FFF2-40B4-BE49-F238E27FC236}">
                <a16:creationId xmlns:a16="http://schemas.microsoft.com/office/drawing/2014/main" id="{FF93B1BA-43F5-4F1D-943B-8C76D886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171" y="2416314"/>
            <a:ext cx="3301241" cy="121257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2668D02-2B08-4E8A-C4A7-FACC589845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630" y="3843587"/>
            <a:ext cx="2064321" cy="206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7BCFA6-C4D6-AF2A-7D5A-753F26E16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Section properties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985525-9821-CD27-0C65-2418D4EA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5753446"/>
            <a:ext cx="889687" cy="418523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TW" sz="1400" dirty="0"/>
              <a:t>unit: mm</a:t>
            </a:r>
            <a:endParaRPr lang="zh-TW" altLang="en-US" sz="1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9B4F8B-D817-3837-476F-06DB3A80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7" name="HW1-Model.pdf" descr="HW1-Model.pdf">
            <a:extLst>
              <a:ext uri="{FF2B5EF4-FFF2-40B4-BE49-F238E27FC236}">
                <a16:creationId xmlns:a16="http://schemas.microsoft.com/office/drawing/2014/main" id="{0A486E0A-A8CE-0521-4650-FED9DEC59E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758" t="11810" r="12237" b="25037"/>
          <a:stretch>
            <a:fillRect/>
          </a:stretch>
        </p:blipFill>
        <p:spPr>
          <a:xfrm>
            <a:off x="158167" y="2046416"/>
            <a:ext cx="5899461" cy="3760891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0D980E7-D82A-A002-320B-FC0E7EB10485}"/>
                  </a:ext>
                </a:extLst>
              </p:cNvPr>
              <p:cNvSpPr txBox="1"/>
              <p:nvPr/>
            </p:nvSpPr>
            <p:spPr>
              <a:xfrm>
                <a:off x="6203092" y="2460434"/>
                <a:ext cx="5830741" cy="2932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Longitudinal bars: #8-D25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Reinforcing ratio (longi.): 2.25%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Transverse bars: #4-D19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TW" sz="2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Section Area: 60 x 60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ar-AE" altLang="zh-TW" sz="2400" dirty="0">
                  <a:solidFill>
                    <a:srgbClr val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0D980E7-D82A-A002-320B-FC0E7EB1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092" y="2460434"/>
                <a:ext cx="5830741" cy="2932854"/>
              </a:xfrm>
              <a:prstGeom prst="rect">
                <a:avLst/>
              </a:prstGeom>
              <a:blipFill>
                <a:blip r:embed="rId4"/>
                <a:stretch>
                  <a:fillRect l="-1674" b="-39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25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EAB3667-D159-CC48-30F1-9A528928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9C79F6B0-9F77-BB8D-69BD-C6BF360D52BF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MingLiu" panose="02020509000000000000" pitchFamily="49" charset="-120"/>
                <a:ea typeface="MingLiu" panose="02020509000000000000" pitchFamily="49" charset="-120"/>
                <a:cs typeface="+mj-cs"/>
              </a:defRPr>
            </a:lvl1pPr>
          </a:lstStyle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OpenSees analysis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690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710D27-8DA9-CDC1-0775-527C4A165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OpenSees analysis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733268-B28A-901A-3845-FD3EBB6FBA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27920" cy="4229407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altLang="zh-TW" dirty="0"/>
                  <a:t>Material properties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TW" sz="2000" dirty="0"/>
                  <a:t>Concrete (28</a:t>
                </a:r>
                <a:r>
                  <a:rPr lang="zh-TW" altLang="en-US" sz="2000" dirty="0"/>
                  <a:t>、</a:t>
                </a:r>
                <a:r>
                  <a:rPr lang="en-US" altLang="zh-TW" sz="2000" dirty="0"/>
                  <a:t>35</a:t>
                </a:r>
                <a:r>
                  <a:rPr lang="zh-TW" altLang="en-US" sz="2000" dirty="0"/>
                  <a:t>、</a:t>
                </a:r>
                <a:r>
                  <a:rPr lang="en-US" altLang="zh-TW" sz="2000" dirty="0"/>
                  <a:t>42MPa)</a:t>
                </a:r>
              </a:p>
              <a:p>
                <a:pPr lvl="1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28</m:t>
                      </m:r>
                      <m:r>
                        <a:rPr lang="zh-TW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35</m:t>
                      </m:r>
                      <m:r>
                        <a:rPr lang="zh-TW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、</m:t>
                      </m:r>
                      <m:r>
                        <a:rPr lang="en-US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42</m:t>
                      </m:r>
                      <m:r>
                        <m:rPr>
                          <m:nor/>
                        </m:rPr>
                        <a:rPr lang="en-US" altLang="zh-TW" sz="2000" b="0" i="0" smtClean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</a:rPr>
                        <m:t>MPa</m:t>
                      </m:r>
                    </m:oMath>
                  </m:oMathPara>
                </a14:m>
                <a:endParaRPr lang="en-US" altLang="zh-TW" sz="2000" dirty="0"/>
              </a:p>
              <a:p>
                <a:pPr lvl="1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002</m:t>
                      </m:r>
                    </m:oMath>
                  </m:oMathPara>
                </a14:m>
                <a:endParaRPr lang="ar-AE" altLang="zh-TW" sz="2000" dirty="0"/>
              </a:p>
              <a:p>
                <a:pPr lvl="1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𝑝𝑐𝑢</m:t>
                          </m:r>
                        </m:sub>
                      </m:sSub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TW" sz="2000" b="0" i="0" smtClean="0">
                          <a:solidFill>
                            <a:srgbClr val="0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000">
                          <a:solidFill>
                            <a:srgbClr val="000000"/>
                          </a:solidFill>
                        </a:rPr>
                        <m:t>MPa</m:t>
                      </m:r>
                    </m:oMath>
                  </m:oMathPara>
                </a14:m>
                <a:endParaRPr lang="en-US" altLang="zh-TW" sz="2000" dirty="0"/>
              </a:p>
              <a:p>
                <a:pPr lvl="1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TW" altLang="ar-A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𝑐𝑢</m:t>
                          </m:r>
                        </m:sub>
                      </m:sSub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TW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004</m:t>
                      </m:r>
                    </m:oMath>
                  </m:oMathPara>
                </a14:m>
                <a:endParaRPr lang="ar-AE" altLang="zh-TW" sz="2000" dirty="0"/>
              </a:p>
              <a:p>
                <a:pPr lvl="1">
                  <a:spcBef>
                    <a:spcPts val="600"/>
                  </a:spcBef>
                </a:pPr>
                <a:r>
                  <a:rPr lang="en-US" altLang="zh-TW" sz="2000" dirty="0"/>
                  <a:t>Type: </a:t>
                </a:r>
                <a:r>
                  <a:rPr lang="en-US" altLang="zh-TW" sz="2000" i="1" dirty="0"/>
                  <a:t>Concrete01</a:t>
                </a:r>
                <a:endParaRPr lang="en-US" altLang="zh-TW" sz="200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B733268-B28A-901A-3845-FD3EBB6FB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27920" cy="4229407"/>
              </a:xfrm>
              <a:blipFill>
                <a:blip r:embed="rId3"/>
                <a:stretch>
                  <a:fillRect l="-18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EC055F-E0FA-57FC-9F1C-CBAA8958B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Concrete01.gif" descr="Concrete01.gif">
            <a:extLst>
              <a:ext uri="{FF2B5EF4-FFF2-40B4-BE49-F238E27FC236}">
                <a16:creationId xmlns:a16="http://schemas.microsoft.com/office/drawing/2014/main" id="{8DED7435-AD25-914E-CA7D-7830F5963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148" y="2120836"/>
            <a:ext cx="4948439" cy="394252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60B4117-01F5-CBC3-411B-849DF871E468}"/>
              </a:ext>
            </a:extLst>
          </p:cNvPr>
          <p:cNvSpPr txBox="1"/>
          <p:nvPr/>
        </p:nvSpPr>
        <p:spPr>
          <a:xfrm>
            <a:off x="8591608" y="6075998"/>
            <a:ext cx="27919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1100" i="1" dirty="0"/>
              <a:t>Reference: OpenSees Wiki</a:t>
            </a:r>
          </a:p>
        </p:txBody>
      </p:sp>
    </p:spTree>
    <p:extLst>
      <p:ext uri="{BB962C8B-B14F-4D97-AF65-F5344CB8AC3E}">
        <p14:creationId xmlns:p14="http://schemas.microsoft.com/office/powerpoint/2010/main" val="264222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1E955-923C-AD47-99A8-2C640845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DAEE010-EB7E-4C6B-B404-16FEBB14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43A3E08A-D6B3-9C69-1769-461F994EA41D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MingLiu" panose="02020509000000000000" pitchFamily="49" charset="-120"/>
                <a:ea typeface="MingLiu" panose="02020509000000000000" pitchFamily="49" charset="-120"/>
                <a:cs typeface="+mj-cs"/>
              </a:defRPr>
            </a:lvl1pPr>
          </a:lstStyle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Xtract analysis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542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B699A-B6A2-0C14-B514-37A508C2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83E494A-FAA6-296C-92A3-CC46CB76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7CC96ABE-A669-C977-9015-104A2313456A}"/>
              </a:ext>
            </a:extLst>
          </p:cNvPr>
          <p:cNvSpPr txBox="1">
            <a:spLocks/>
          </p:cNvSpPr>
          <p:nvPr/>
        </p:nvSpPr>
        <p:spPr>
          <a:xfrm>
            <a:off x="1066800" y="2703622"/>
            <a:ext cx="10058400" cy="1450757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MingLiu" panose="02020509000000000000" pitchFamily="49" charset="-120"/>
                <a:ea typeface="MingLiu" panose="02020509000000000000" pitchFamily="49" charset="-120"/>
                <a:cs typeface="+mj-cs"/>
              </a:defRPr>
            </a:lvl1pPr>
          </a:lstStyle>
          <a:p>
            <a:pPr algn="ctr"/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Comparison &amp; Justification</a:t>
            </a:r>
          </a:p>
        </p:txBody>
      </p:sp>
    </p:spTree>
    <p:extLst>
      <p:ext uri="{BB962C8B-B14F-4D97-AF65-F5344CB8AC3E}">
        <p14:creationId xmlns:p14="http://schemas.microsoft.com/office/powerpoint/2010/main" val="88450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F79209B1-4AC8-F441-A4B3-1B6FE5B1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9" name="投影片編號版面配置區 3">
            <a:extLst>
              <a:ext uri="{FF2B5EF4-FFF2-40B4-BE49-F238E27FC236}">
                <a16:creationId xmlns:a16="http://schemas.microsoft.com/office/drawing/2014/main" id="{370A7BB6-F723-F647-8102-BCEFF9C4B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6918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F1D32B-A0C1-7B46-A13E-F810F9E7B285}">
  <we:reference id="wa104381909" version="3.20.0.0" store="en-US" storeType="OMEX"/>
  <we:alternateReferences>
    <we:reference id="WA104381909" version="3.2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{92576DF9-2BA6-4602-89E7-8674600F5ECE}TFf0a5ceae-4542-492d-822e-d65a94fb0e1eb1361072_win32-aaceef65831a</Template>
  <TotalTime>2276</TotalTime>
  <Words>127</Words>
  <Application>Microsoft Office PowerPoint</Application>
  <PresentationFormat>寬螢幕</PresentationFormat>
  <Paragraphs>50</Paragraphs>
  <Slides>8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Google Sans Text</vt:lpstr>
      <vt:lpstr>Microsoft JhengHei UI</vt:lpstr>
      <vt:lpstr>MingLiu</vt:lpstr>
      <vt:lpstr>微軟正黑體</vt:lpstr>
      <vt:lpstr>Calibri</vt:lpstr>
      <vt:lpstr>Cambria Math</vt:lpstr>
      <vt:lpstr>Franklin Gothic Book</vt:lpstr>
      <vt:lpstr>1_RetrospectVTI</vt:lpstr>
      <vt:lpstr>Monotonic Lateral (Pushover) Behavior of Columns</vt:lpstr>
      <vt:lpstr>Table of content</vt:lpstr>
      <vt:lpstr>Section properties</vt:lpstr>
      <vt:lpstr>PowerPoint 簡報</vt:lpstr>
      <vt:lpstr>OpenSees analysis</vt:lpstr>
      <vt:lpstr>PowerPoint 簡報</vt:lpstr>
      <vt:lpstr>PowerPoint 簡報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Moment-Curvature Behavior</dc:title>
  <dc:creator>林平旭</dc:creator>
  <cp:lastModifiedBy>林平旭</cp:lastModifiedBy>
  <cp:revision>165</cp:revision>
  <dcterms:created xsi:type="dcterms:W3CDTF">2026-04-16T13:22:01Z</dcterms:created>
  <dcterms:modified xsi:type="dcterms:W3CDTF">2026-05-06T06:51:36Z</dcterms:modified>
</cp:coreProperties>
</file>