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6" r:id="rId1"/>
  </p:sldMasterIdLst>
  <p:notesMasterIdLst>
    <p:notesMasterId r:id="rId15"/>
  </p:notesMasterIdLst>
  <p:handoutMasterIdLst>
    <p:handoutMasterId r:id="rId16"/>
  </p:handoutMasterIdLst>
  <p:sldIdLst>
    <p:sldId id="261" r:id="rId2"/>
    <p:sldId id="262" r:id="rId3"/>
    <p:sldId id="264" r:id="rId4"/>
    <p:sldId id="265" r:id="rId5"/>
    <p:sldId id="267" r:id="rId6"/>
    <p:sldId id="266" r:id="rId7"/>
    <p:sldId id="269" r:id="rId8"/>
    <p:sldId id="278" r:id="rId9"/>
    <p:sldId id="273" r:id="rId10"/>
    <p:sldId id="277" r:id="rId11"/>
    <p:sldId id="272" r:id="rId12"/>
    <p:sldId id="274" r:id="rId13"/>
    <p:sldId id="276" r:id="rId14"/>
  </p:sldIdLst>
  <p:sldSz cx="12192000" cy="6858000"/>
  <p:notesSz cx="6858000" cy="9144000"/>
  <p:defaultTextStyle>
    <a:defPPr rtl="0">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9A20"/>
    <a:srgbClr val="FF7C08"/>
    <a:srgbClr val="0F6DAE"/>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73588" autoAdjust="0"/>
  </p:normalViewPr>
  <p:slideViewPr>
    <p:cSldViewPr snapToGrid="0">
      <p:cViewPr varScale="1">
        <p:scale>
          <a:sx n="99" d="100"/>
          <a:sy n="99" d="100"/>
        </p:scale>
        <p:origin x="1796" y="99"/>
      </p:cViewPr>
      <p:guideLst/>
    </p:cSldViewPr>
  </p:slideViewPr>
  <p:notesTextViewPr>
    <p:cViewPr>
      <p:scale>
        <a:sx n="150" d="100"/>
        <a:sy n="150" d="100"/>
      </p:scale>
      <p:origin x="0" y="0"/>
    </p:cViewPr>
  </p:notesTextViewPr>
  <p:notesViewPr>
    <p:cSldViewPr snapToGrid="0">
      <p:cViewPr varScale="1">
        <p:scale>
          <a:sx n="123" d="100"/>
          <a:sy n="123" d="100"/>
        </p:scale>
        <p:origin x="497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預留位置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日期版面配置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54F8F7F-C1CC-4B35-940C-1BB9661BADA3}" type="datetime1">
              <a:rPr lang="zh-TW" altLang="en-US" smtClean="0"/>
              <a:t>2026/4/18</a:t>
            </a:fld>
            <a:endParaRPr lang="en-US" dirty="0"/>
          </a:p>
        </p:txBody>
      </p:sp>
      <p:sp>
        <p:nvSpPr>
          <p:cNvPr id="4" name="頁尾版面配置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投影片編號預留位置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D92CB86-0DB9-4A70-B1CF-B23508471F6B}" type="slidenum">
              <a:rPr lang="en-US" smtClean="0"/>
              <a:t>‹#›</a:t>
            </a:fld>
            <a:endParaRPr lang="en-US"/>
          </a:p>
        </p:txBody>
      </p:sp>
    </p:spTree>
    <p:extLst>
      <p:ext uri="{BB962C8B-B14F-4D97-AF65-F5344CB8AC3E}">
        <p14:creationId xmlns:p14="http://schemas.microsoft.com/office/powerpoint/2010/main" val="663557642"/>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AC2CEB09-2A1D-43DA-8307-5C91B95CABBA}" type="datetime1">
              <a:rPr lang="zh-TW" altLang="en-US" smtClean="0"/>
              <a:t>2026/4/18</a:t>
            </a:fld>
            <a:endParaRPr 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備忘稿預留位置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tw"/>
              <a:t>按一下以編輯母片文字樣式</a:t>
            </a:r>
            <a:endParaRPr lang="en-US"/>
          </a:p>
          <a:p>
            <a:pPr lvl="1" rtl="0"/>
            <a:r>
              <a:rPr lang="zh-tw"/>
              <a:t>第二層</a:t>
            </a:r>
          </a:p>
          <a:p>
            <a:pPr lvl="2" rtl="0"/>
            <a:r>
              <a:rPr lang="zh-tw"/>
              <a:t>第三層</a:t>
            </a:r>
          </a:p>
          <a:p>
            <a:pPr lvl="3" rtl="0"/>
            <a:r>
              <a:rPr lang="zh-tw"/>
              <a:t>第四層</a:t>
            </a:r>
          </a:p>
          <a:p>
            <a:pPr lvl="4" rtl="0"/>
            <a:r>
              <a:rPr lang="zh-tw"/>
              <a:t>第五層</a:t>
            </a:r>
            <a:endParaRPr lang="en-US"/>
          </a:p>
        </p:txBody>
      </p:sp>
      <p:sp>
        <p:nvSpPr>
          <p:cNvPr id="6" name="頁尾預留位置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投影片編號預留位置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2B151B-D7D1-48E5-8230-5AADBC794F88}" type="slidenum">
              <a:rPr lang="en-US" smtClean="0"/>
              <a:t>‹#›</a:t>
            </a:fld>
            <a:endParaRPr lang="en-US"/>
          </a:p>
        </p:txBody>
      </p:sp>
    </p:spTree>
    <p:extLst>
      <p:ext uri="{BB962C8B-B14F-4D97-AF65-F5344CB8AC3E}">
        <p14:creationId xmlns:p14="http://schemas.microsoft.com/office/powerpoint/2010/main" val="313859278"/>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en-US" altLang="zh-TW" sz="1600" baseline="0" dirty="0">
                <a:latin typeface="微軟正黑體" panose="020B0604030504040204" pitchFamily="34" charset="-120"/>
                <a:ea typeface="微軟正黑體" panose="020B0604030504040204" pitchFamily="34" charset="-120"/>
              </a:rPr>
              <a:t>To investigate the effects of different concrete strengths and steel yield strengths on the moment-curvature behavior of a column, a total of 6 cases are discussed in this report.</a:t>
            </a:r>
            <a:endParaRPr lang="zh-TW" altLang="en-US" sz="1600" baseline="0" dirty="0">
              <a:latin typeface="微軟正黑體" panose="020B0604030504040204" pitchFamily="34" charset="-120"/>
              <a:ea typeface="微軟正黑體" panose="020B0604030504040204" pitchFamily="34" charset="-120"/>
            </a:endParaRPr>
          </a:p>
        </p:txBody>
      </p:sp>
      <p:sp>
        <p:nvSpPr>
          <p:cNvPr id="4" name="日期版面配置區 3"/>
          <p:cNvSpPr>
            <a:spLocks noGrp="1"/>
          </p:cNvSpPr>
          <p:nvPr>
            <p:ph type="dt" idx="1"/>
          </p:nvPr>
        </p:nvSpPr>
        <p:spPr/>
        <p:txBody>
          <a:bodyPr/>
          <a:lstStyle/>
          <a:p>
            <a:pPr rtl="0"/>
            <a:fld id="{AC2CEB09-2A1D-43DA-8307-5C91B95CABBA}" type="datetime1">
              <a:rPr lang="zh-TW" altLang="en-US" smtClean="0"/>
              <a:t>2026/4/18</a:t>
            </a:fld>
            <a:endParaRPr lang="en-US"/>
          </a:p>
        </p:txBody>
      </p:sp>
      <p:sp>
        <p:nvSpPr>
          <p:cNvPr id="5" name="投影片編號版面配置區 4"/>
          <p:cNvSpPr>
            <a:spLocks noGrp="1"/>
          </p:cNvSpPr>
          <p:nvPr>
            <p:ph type="sldNum" sz="quarter" idx="5"/>
          </p:nvPr>
        </p:nvSpPr>
        <p:spPr/>
        <p:txBody>
          <a:bodyPr/>
          <a:lstStyle/>
          <a:p>
            <a:pPr rtl="0"/>
            <a:fld id="{9C2B151B-D7D1-48E5-8230-5AADBC794F88}" type="slidenum">
              <a:rPr lang="en-US" smtClean="0"/>
              <a:t>4</a:t>
            </a:fld>
            <a:endParaRPr lang="en-US"/>
          </a:p>
        </p:txBody>
      </p:sp>
    </p:spTree>
    <p:extLst>
      <p:ext uri="{BB962C8B-B14F-4D97-AF65-F5344CB8AC3E}">
        <p14:creationId xmlns:p14="http://schemas.microsoft.com/office/powerpoint/2010/main" val="4181213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For the concrete material model, we adopted the Hognestad model and set the peak compressive strain to 0.002.</a:t>
            </a:r>
          </a:p>
          <a:p>
            <a:r>
              <a:rPr lang="en-US" altLang="zh-TW" dirty="0"/>
              <a:t>And to accurately capture the physical phenomenon of cover spalling at the ultimate state, we defined the unconfined concrete to fail completely when the compressive strain reaches 0.004, meaning the residual strength is set to zero.</a:t>
            </a:r>
            <a:endParaRPr lang="zh-TW" altLang="en-US" dirty="0"/>
          </a:p>
        </p:txBody>
      </p:sp>
      <p:sp>
        <p:nvSpPr>
          <p:cNvPr id="4" name="日期版面配置區 3"/>
          <p:cNvSpPr>
            <a:spLocks noGrp="1"/>
          </p:cNvSpPr>
          <p:nvPr>
            <p:ph type="dt" idx="1"/>
          </p:nvPr>
        </p:nvSpPr>
        <p:spPr/>
        <p:txBody>
          <a:bodyPr/>
          <a:lstStyle/>
          <a:p>
            <a:pPr rtl="0"/>
            <a:fld id="{AC2CEB09-2A1D-43DA-8307-5C91B95CABBA}" type="datetime1">
              <a:rPr lang="zh-TW" altLang="en-US" smtClean="0"/>
              <a:t>2026/4/18</a:t>
            </a:fld>
            <a:endParaRPr lang="en-US"/>
          </a:p>
        </p:txBody>
      </p:sp>
      <p:sp>
        <p:nvSpPr>
          <p:cNvPr id="5" name="投影片編號版面配置區 4"/>
          <p:cNvSpPr>
            <a:spLocks noGrp="1"/>
          </p:cNvSpPr>
          <p:nvPr>
            <p:ph type="sldNum" sz="quarter" idx="5"/>
          </p:nvPr>
        </p:nvSpPr>
        <p:spPr/>
        <p:txBody>
          <a:bodyPr/>
          <a:lstStyle/>
          <a:p>
            <a:pPr rtl="0"/>
            <a:fld id="{9C2B151B-D7D1-48E5-8230-5AADBC794F88}" type="slidenum">
              <a:rPr lang="en-US" smtClean="0"/>
              <a:t>6</a:t>
            </a:fld>
            <a:endParaRPr lang="en-US"/>
          </a:p>
        </p:txBody>
      </p:sp>
    </p:spTree>
    <p:extLst>
      <p:ext uri="{BB962C8B-B14F-4D97-AF65-F5344CB8AC3E}">
        <p14:creationId xmlns:p14="http://schemas.microsoft.com/office/powerpoint/2010/main" val="103503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en-US" altLang="zh-TW" dirty="0"/>
              <a:t>In many cases, people use steel01 and steel02</a:t>
            </a:r>
            <a:r>
              <a:rPr lang="zh-TW" altLang="en-US" dirty="0"/>
              <a:t> </a:t>
            </a:r>
            <a:r>
              <a:rPr lang="en-US" altLang="zh-TW" dirty="0"/>
              <a:t>model to simulate rebars in the analysis,</a:t>
            </a:r>
          </a:p>
          <a:p>
            <a:r>
              <a:rPr lang="en-US" altLang="zh-TW" dirty="0"/>
              <a:t>But they are oversimplified and fail to capture the yielding plateau and non-linear strain hardening of steel reinforcement. </a:t>
            </a:r>
          </a:p>
          <a:p>
            <a:r>
              <a:rPr lang="en-US" altLang="zh-TW" dirty="0"/>
              <a:t>Therefore, in this study, we implement the </a:t>
            </a:r>
            <a:r>
              <a:rPr lang="en-US" altLang="zh-TW" sz="1200" kern="1200" dirty="0">
                <a:solidFill>
                  <a:schemeClr val="tx1"/>
                </a:solidFill>
                <a:latin typeface="+mn-lt"/>
                <a:ea typeface="+mn-ea"/>
                <a:cs typeface="+mn-cs"/>
              </a:rPr>
              <a:t>ReinforcingSteel</a:t>
            </a:r>
            <a:r>
              <a:rPr lang="en-US" altLang="zh-TW" dirty="0"/>
              <a:t> model to fully simulate the true behavior of the rebar up to its ultimate strength</a:t>
            </a:r>
            <a:endParaRPr lang="zh-TW" altLang="en-US" dirty="0"/>
          </a:p>
        </p:txBody>
      </p:sp>
      <p:sp>
        <p:nvSpPr>
          <p:cNvPr id="4" name="日期版面配置區 3"/>
          <p:cNvSpPr>
            <a:spLocks noGrp="1"/>
          </p:cNvSpPr>
          <p:nvPr>
            <p:ph type="dt" idx="1"/>
          </p:nvPr>
        </p:nvSpPr>
        <p:spPr/>
        <p:txBody>
          <a:bodyPr/>
          <a:lstStyle/>
          <a:p>
            <a:pPr rtl="0"/>
            <a:fld id="{AC2CEB09-2A1D-43DA-8307-5C91B95CABBA}" type="datetime1">
              <a:rPr lang="zh-TW" altLang="en-US" smtClean="0"/>
              <a:t>2026/4/18</a:t>
            </a:fld>
            <a:endParaRPr lang="en-US"/>
          </a:p>
        </p:txBody>
      </p:sp>
      <p:sp>
        <p:nvSpPr>
          <p:cNvPr id="5" name="投影片編號版面配置區 4"/>
          <p:cNvSpPr>
            <a:spLocks noGrp="1"/>
          </p:cNvSpPr>
          <p:nvPr>
            <p:ph type="sldNum" sz="quarter" idx="5"/>
          </p:nvPr>
        </p:nvSpPr>
        <p:spPr/>
        <p:txBody>
          <a:bodyPr/>
          <a:lstStyle/>
          <a:p>
            <a:pPr rtl="0"/>
            <a:fld id="{9C2B151B-D7D1-48E5-8230-5AADBC794F88}" type="slidenum">
              <a:rPr lang="en-US" smtClean="0"/>
              <a:t>7</a:t>
            </a:fld>
            <a:endParaRPr lang="en-US"/>
          </a:p>
        </p:txBody>
      </p:sp>
    </p:spTree>
    <p:extLst>
      <p:ext uri="{BB962C8B-B14F-4D97-AF65-F5344CB8AC3E}">
        <p14:creationId xmlns:p14="http://schemas.microsoft.com/office/powerpoint/2010/main" val="946300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7C378-6D75-94D6-0123-FDF63C66A2F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36A58F4-55EF-9155-1D1A-0496B234A834}"/>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EF9613AE-7CF9-5B8B-DE0E-D8E7727098A1}"/>
              </a:ext>
            </a:extLst>
          </p:cNvPr>
          <p:cNvSpPr>
            <a:spLocks noGrp="1"/>
          </p:cNvSpPr>
          <p:nvPr>
            <p:ph type="body" idx="1"/>
          </p:nvPr>
        </p:nvSpPr>
        <p:spPr/>
        <p:txBody>
          <a:bodyPr/>
          <a:lstStyle/>
          <a:p>
            <a:r>
              <a:rPr lang="en-US" altLang="zh-TW" dirty="0"/>
              <a:t>First, we apply an axial load to the section, setting the axial load ratio at 20%, and keep it constant throughout the analysis. </a:t>
            </a:r>
          </a:p>
          <a:p>
            <a:r>
              <a:rPr lang="en-US" altLang="zh-TW" dirty="0"/>
              <a:t>After the axial load is fully applied, we start to increase the curvature. </a:t>
            </a:r>
          </a:p>
          <a:p>
            <a:r>
              <a:rPr lang="en-US" altLang="zh-TW" dirty="0"/>
              <a:t>We do this by using a displacement-control method, specifically controlling the third degree of freedom—DOF 3—to achieve true curvature control.</a:t>
            </a:r>
            <a:endParaRPr lang="zh-TW" altLang="en-US" dirty="0"/>
          </a:p>
        </p:txBody>
      </p:sp>
      <p:sp>
        <p:nvSpPr>
          <p:cNvPr id="4" name="日期版面配置區 3">
            <a:extLst>
              <a:ext uri="{FF2B5EF4-FFF2-40B4-BE49-F238E27FC236}">
                <a16:creationId xmlns:a16="http://schemas.microsoft.com/office/drawing/2014/main" id="{BCE16563-1E03-D493-ED07-08A4A1DF2A38}"/>
              </a:ext>
            </a:extLst>
          </p:cNvPr>
          <p:cNvSpPr>
            <a:spLocks noGrp="1"/>
          </p:cNvSpPr>
          <p:nvPr>
            <p:ph type="dt" idx="1"/>
          </p:nvPr>
        </p:nvSpPr>
        <p:spPr/>
        <p:txBody>
          <a:bodyPr/>
          <a:lstStyle/>
          <a:p>
            <a:pPr rtl="0"/>
            <a:fld id="{AC2CEB09-2A1D-43DA-8307-5C91B95CABBA}" type="datetime1">
              <a:rPr lang="zh-TW" altLang="en-US" smtClean="0"/>
              <a:t>2026/4/18</a:t>
            </a:fld>
            <a:endParaRPr lang="en-US"/>
          </a:p>
        </p:txBody>
      </p:sp>
      <p:sp>
        <p:nvSpPr>
          <p:cNvPr id="5" name="投影片編號版面配置區 4">
            <a:extLst>
              <a:ext uri="{FF2B5EF4-FFF2-40B4-BE49-F238E27FC236}">
                <a16:creationId xmlns:a16="http://schemas.microsoft.com/office/drawing/2014/main" id="{C84C2E1B-DC2D-8458-F9AF-29F4175BB5AD}"/>
              </a:ext>
            </a:extLst>
          </p:cNvPr>
          <p:cNvSpPr>
            <a:spLocks noGrp="1"/>
          </p:cNvSpPr>
          <p:nvPr>
            <p:ph type="sldNum" sz="quarter" idx="5"/>
          </p:nvPr>
        </p:nvSpPr>
        <p:spPr/>
        <p:txBody>
          <a:bodyPr/>
          <a:lstStyle/>
          <a:p>
            <a:pPr rtl="0"/>
            <a:fld id="{9C2B151B-D7D1-48E5-8230-5AADBC794F88}" type="slidenum">
              <a:rPr lang="en-US" smtClean="0"/>
              <a:t>8</a:t>
            </a:fld>
            <a:endParaRPr lang="en-US"/>
          </a:p>
        </p:txBody>
      </p:sp>
    </p:spTree>
    <p:extLst>
      <p:ext uri="{BB962C8B-B14F-4D97-AF65-F5344CB8AC3E}">
        <p14:creationId xmlns:p14="http://schemas.microsoft.com/office/powerpoint/2010/main" val="574721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On this slide, we are examining the effect of different concrete strength—from 28, to 35, to 42 MPa—on the moment-curvature behavior of the section, while keeping the longitudinal reinforcement constant using SD420 steel.</a:t>
            </a:r>
          </a:p>
          <a:p>
            <a:endParaRPr lang="en-US" altLang="zh-TW" dirty="0"/>
          </a:p>
          <a:p>
            <a:r>
              <a:rPr lang="en-US" altLang="zh-TW" dirty="0"/>
              <a:t>We specifically extracted the ultimate moment (M</a:t>
            </a:r>
            <a:r>
              <a:rPr lang="en-US" altLang="zh-TW" baseline="-25000" dirty="0"/>
              <a:t>u</a:t>
            </a:r>
            <a:r>
              <a:rPr lang="en-US" altLang="zh-TW" dirty="0"/>
              <a:t>) at the end of the curve and marked it with horizontal dashed lines.</a:t>
            </a:r>
          </a:p>
          <a:p>
            <a:r>
              <a:rPr lang="en-US" altLang="zh-TW" dirty="0"/>
              <a:t>Here, you might notice a phenomenon: Case 5, which uses the 42 MPa concrete, actually drops to the lowest residual ultimate moment at 886.82 among the three.</a:t>
            </a:r>
          </a:p>
          <a:p>
            <a:endParaRPr lang="en-US" altLang="zh-TW" dirty="0"/>
          </a:p>
          <a:p>
            <a:r>
              <a:rPr lang="en-US" altLang="zh-TW" dirty="0"/>
              <a:t>This behavior is primarily due to the brittleness of 42 MPa concrete compared to 28 and 35. It provides a much higher peak strength, but it suffers from the serious cover spalling when subjected to large deformations. After the cover concrete spalls, the core confined concrete crushes and degrades at a much faster rate compared to the lower-strength concrete.</a:t>
            </a:r>
          </a:p>
          <a:p>
            <a:endParaRPr lang="en-US" altLang="zh-TW" dirty="0"/>
          </a:p>
          <a:p>
            <a:r>
              <a:rPr lang="en-US" altLang="zh-TW" dirty="0"/>
              <a:t>0.08575</a:t>
            </a:r>
            <a:endParaRPr lang="zh-TW" altLang="en-US" dirty="0"/>
          </a:p>
        </p:txBody>
      </p:sp>
      <p:sp>
        <p:nvSpPr>
          <p:cNvPr id="4" name="日期版面配置區 3"/>
          <p:cNvSpPr>
            <a:spLocks noGrp="1"/>
          </p:cNvSpPr>
          <p:nvPr>
            <p:ph type="dt" idx="1"/>
          </p:nvPr>
        </p:nvSpPr>
        <p:spPr/>
        <p:txBody>
          <a:bodyPr/>
          <a:lstStyle/>
          <a:p>
            <a:pPr rtl="0"/>
            <a:fld id="{AC2CEB09-2A1D-43DA-8307-5C91B95CABBA}" type="datetime1">
              <a:rPr lang="zh-TW" altLang="en-US" smtClean="0"/>
              <a:t>2026/4/18</a:t>
            </a:fld>
            <a:endParaRPr lang="en-US"/>
          </a:p>
        </p:txBody>
      </p:sp>
      <p:sp>
        <p:nvSpPr>
          <p:cNvPr id="5" name="投影片編號版面配置區 4"/>
          <p:cNvSpPr>
            <a:spLocks noGrp="1"/>
          </p:cNvSpPr>
          <p:nvPr>
            <p:ph type="sldNum" sz="quarter" idx="5"/>
          </p:nvPr>
        </p:nvSpPr>
        <p:spPr/>
        <p:txBody>
          <a:bodyPr/>
          <a:lstStyle/>
          <a:p>
            <a:pPr rtl="0"/>
            <a:fld id="{9C2B151B-D7D1-48E5-8230-5AADBC794F88}" type="slidenum">
              <a:rPr lang="en-US" smtClean="0"/>
              <a:t>9</a:t>
            </a:fld>
            <a:endParaRPr lang="en-US"/>
          </a:p>
        </p:txBody>
      </p:sp>
    </p:spTree>
    <p:extLst>
      <p:ext uri="{BB962C8B-B14F-4D97-AF65-F5344CB8AC3E}">
        <p14:creationId xmlns:p14="http://schemas.microsoft.com/office/powerpoint/2010/main" val="3667918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This is a magnified moment-curvature plot. To provide a clear view of the section’s failure progress, </a:t>
            </a:r>
          </a:p>
          <a:p>
            <a:r>
              <a:rPr lang="en-US" altLang="zh-TW" dirty="0"/>
              <a:t>we have zoomed in on the curves and marked the onset of concrete cover spalling for each case with vertical dashed lines.</a:t>
            </a:r>
          </a:p>
          <a:p>
            <a:endParaRPr lang="en-US" altLang="zh-TW" dirty="0"/>
          </a:p>
          <a:p>
            <a:r>
              <a:rPr lang="en-US" altLang="zh-TW" dirty="0"/>
              <a:t>First, as expected, the green</a:t>
            </a:r>
            <a:r>
              <a:rPr lang="zh-TW" altLang="en-US" dirty="0"/>
              <a:t> </a:t>
            </a:r>
            <a:r>
              <a:rPr lang="en-US" altLang="zh-TW" dirty="0"/>
              <a:t>curve 42 MPa concrete with SD420 rebar demonstrates the highest flexural stiffness and peak strength.</a:t>
            </a:r>
          </a:p>
          <a:p>
            <a:r>
              <a:rPr lang="en-US" altLang="zh-TW" dirty="0"/>
              <a:t>When the ultimate strain is reached and the concrete cover spalls</a:t>
            </a:r>
            <a:r>
              <a:rPr lang="zh-TW" altLang="en-US" dirty="0"/>
              <a:t> </a:t>
            </a:r>
            <a:r>
              <a:rPr lang="en-US" altLang="zh-TW" dirty="0"/>
              <a:t>off, losing its load-bearing capacity, all three curves accurately reflect the moment drop after the peak.</a:t>
            </a:r>
          </a:p>
          <a:p>
            <a:endParaRPr lang="en-US" altLang="zh-TW" dirty="0"/>
          </a:p>
          <a:p>
            <a:r>
              <a:rPr lang="en-US" altLang="zh-TW" dirty="0"/>
              <a:t>3</a:t>
            </a:r>
            <a:r>
              <a:rPr lang="zh-TW" altLang="en-US" dirty="0"/>
              <a:t>條虛線</a:t>
            </a:r>
            <a:r>
              <a:rPr lang="en-US" altLang="zh-TW" dirty="0"/>
              <a:t>(spall</a:t>
            </a:r>
            <a:r>
              <a:rPr lang="zh-TW" altLang="en-US" dirty="0"/>
              <a:t>的曲率差異</a:t>
            </a:r>
            <a:r>
              <a:rPr lang="en-US" altLang="zh-TW" dirty="0"/>
              <a:t>)</a:t>
            </a:r>
          </a:p>
          <a:p>
            <a:r>
              <a:rPr lang="en-US" altLang="zh-TW" dirty="0"/>
              <a:t>On the right side, there are 3 dashed lines</a:t>
            </a:r>
          </a:p>
          <a:p>
            <a:r>
              <a:rPr lang="en-US" altLang="zh-TW" dirty="0"/>
              <a:t>We can see that, as the concrete strength increases, the curvature corresponding to the cover spalling actually becomes larger,</a:t>
            </a:r>
          </a:p>
          <a:p>
            <a:r>
              <a:rPr lang="en-US" altLang="zh-TW" dirty="0"/>
              <a:t>which means the dashed lines shift further to the right.</a:t>
            </a:r>
          </a:p>
          <a:p>
            <a:endParaRPr lang="en-US" altLang="zh-TW" dirty="0"/>
          </a:p>
          <a:p>
            <a:r>
              <a:rPr lang="en-US" altLang="zh-TW" dirty="0"/>
              <a:t>This occurs because higher-strength concrete can withstand greater compressive stress.</a:t>
            </a:r>
          </a:p>
          <a:p>
            <a:r>
              <a:rPr lang="en-US" altLang="zh-TW" dirty="0"/>
              <a:t>As a result, to maintain internal force equilibrium of the section, the required neutral axis depth decreases.</a:t>
            </a:r>
          </a:p>
          <a:p>
            <a:r>
              <a:rPr lang="en-US" altLang="zh-TW" dirty="0"/>
              <a:t>Assuming the cover spalls at a compressive strain of 0.004, a smaller neutral axis depth naturally calculates to a larger curvature.</a:t>
            </a:r>
            <a:endParaRPr lang="zh-TW" altLang="en-US" dirty="0"/>
          </a:p>
        </p:txBody>
      </p:sp>
      <p:sp>
        <p:nvSpPr>
          <p:cNvPr id="4" name="日期版面配置區 3"/>
          <p:cNvSpPr>
            <a:spLocks noGrp="1"/>
          </p:cNvSpPr>
          <p:nvPr>
            <p:ph type="dt" idx="1"/>
          </p:nvPr>
        </p:nvSpPr>
        <p:spPr/>
        <p:txBody>
          <a:bodyPr/>
          <a:lstStyle/>
          <a:p>
            <a:pPr rtl="0"/>
            <a:fld id="{AC2CEB09-2A1D-43DA-8307-5C91B95CABBA}" type="datetime1">
              <a:rPr lang="zh-TW" altLang="en-US" smtClean="0"/>
              <a:t>2026/4/18</a:t>
            </a:fld>
            <a:endParaRPr lang="en-US"/>
          </a:p>
        </p:txBody>
      </p:sp>
      <p:sp>
        <p:nvSpPr>
          <p:cNvPr id="5" name="投影片編號版面配置區 4"/>
          <p:cNvSpPr>
            <a:spLocks noGrp="1"/>
          </p:cNvSpPr>
          <p:nvPr>
            <p:ph type="sldNum" sz="quarter" idx="5"/>
          </p:nvPr>
        </p:nvSpPr>
        <p:spPr/>
        <p:txBody>
          <a:bodyPr/>
          <a:lstStyle/>
          <a:p>
            <a:pPr rtl="0"/>
            <a:fld id="{9C2B151B-D7D1-48E5-8230-5AADBC794F88}" type="slidenum">
              <a:rPr lang="en-US" smtClean="0"/>
              <a:t>10</a:t>
            </a:fld>
            <a:endParaRPr lang="en-US"/>
          </a:p>
        </p:txBody>
      </p:sp>
    </p:spTree>
    <p:extLst>
      <p:ext uri="{BB962C8B-B14F-4D97-AF65-F5344CB8AC3E}">
        <p14:creationId xmlns:p14="http://schemas.microsoft.com/office/powerpoint/2010/main" val="3848741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In this part, we upgraded the reinforcement to SD550, expecting the higher-strength steel to carry the strength loss as the concrete cover spalling.</a:t>
            </a:r>
          </a:p>
          <a:p>
            <a:r>
              <a:rPr lang="en-US" altLang="zh-TW" dirty="0"/>
              <a:t>As you can see from the curves, unlike the previous SD420 cases, although a sudden moment drop still occurs after spalling, the magnitude of this drop is significantly reduced.</a:t>
            </a:r>
          </a:p>
          <a:p>
            <a:endParaRPr lang="en-US" altLang="zh-TW" dirty="0"/>
          </a:p>
          <a:p>
            <a:r>
              <a:rPr lang="en-US" altLang="zh-TW" dirty="0"/>
              <a:t>Furthermore, the higher-strength steel accelerates the moment recovery, creating a second peak to these 3 cases.</a:t>
            </a:r>
          </a:p>
          <a:p>
            <a:endParaRPr lang="en-US" altLang="zh-TW" dirty="0"/>
          </a:p>
          <a:p>
            <a:r>
              <a:rPr lang="en-US" altLang="zh-TW" dirty="0"/>
              <a:t>However, as the curvature is pushed to the ultimate limit, the green curve which is case6 still experiences a Steep decline,</a:t>
            </a:r>
          </a:p>
          <a:p>
            <a:r>
              <a:rPr lang="en-US" altLang="zh-TW" dirty="0"/>
              <a:t>and its residual strength of 989.92 remains the lowest among the three.</a:t>
            </a:r>
            <a:br>
              <a:rPr lang="en-US" altLang="zh-TW" dirty="0"/>
            </a:br>
            <a:endParaRPr lang="en-US" altLang="zh-TW" dirty="0"/>
          </a:p>
          <a:p>
            <a:r>
              <a:rPr lang="en-US" altLang="zh-TW" dirty="0"/>
              <a:t>This indicates that the strain hardening of the high-strength steel SD550 ultimately cannot fully offset the core crushing and brittle degradation of the 42 MPa concrete at extreme deformations.</a:t>
            </a:r>
          </a:p>
          <a:p>
            <a:endParaRPr lang="en-US" altLang="zh-TW" dirty="0"/>
          </a:p>
          <a:p>
            <a:r>
              <a:rPr lang="en-US" altLang="zh-TW" dirty="0"/>
              <a:t>In contrast, look at the orange curve, Case 4, which uses the 35 MPa concrete. It benefits from the secondary peak gain provided by the SD550, perfectly sustaining a high ultimate moment of 1088.82</a:t>
            </a:r>
          </a:p>
          <a:p>
            <a:endParaRPr lang="en-US" altLang="zh-TW" dirty="0"/>
          </a:p>
          <a:p>
            <a:r>
              <a:rPr lang="en-US" altLang="zh-TW" dirty="0"/>
              <a:t>This clearly verifies that, 35 MPa concrete with SD550 steel is the optimal combination of these 6 cases</a:t>
            </a:r>
          </a:p>
          <a:p>
            <a:br>
              <a:rPr lang="en-US" altLang="zh-TW" dirty="0"/>
            </a:br>
            <a:r>
              <a:rPr lang="en-US" altLang="zh-TW" dirty="0"/>
              <a:t>0.1123</a:t>
            </a:r>
            <a:endParaRPr lang="zh-TW" altLang="en-US" dirty="0"/>
          </a:p>
        </p:txBody>
      </p:sp>
      <p:sp>
        <p:nvSpPr>
          <p:cNvPr id="4" name="日期版面配置區 3"/>
          <p:cNvSpPr>
            <a:spLocks noGrp="1"/>
          </p:cNvSpPr>
          <p:nvPr>
            <p:ph type="dt" idx="1"/>
          </p:nvPr>
        </p:nvSpPr>
        <p:spPr/>
        <p:txBody>
          <a:bodyPr/>
          <a:lstStyle/>
          <a:p>
            <a:pPr rtl="0"/>
            <a:fld id="{AC2CEB09-2A1D-43DA-8307-5C91B95CABBA}" type="datetime1">
              <a:rPr lang="zh-TW" altLang="en-US" smtClean="0"/>
              <a:t>2026/4/18</a:t>
            </a:fld>
            <a:endParaRPr lang="en-US"/>
          </a:p>
        </p:txBody>
      </p:sp>
      <p:sp>
        <p:nvSpPr>
          <p:cNvPr id="5" name="投影片編號版面配置區 4"/>
          <p:cNvSpPr>
            <a:spLocks noGrp="1"/>
          </p:cNvSpPr>
          <p:nvPr>
            <p:ph type="sldNum" sz="quarter" idx="5"/>
          </p:nvPr>
        </p:nvSpPr>
        <p:spPr/>
        <p:txBody>
          <a:bodyPr/>
          <a:lstStyle/>
          <a:p>
            <a:pPr rtl="0"/>
            <a:fld id="{9C2B151B-D7D1-48E5-8230-5AADBC794F88}" type="slidenum">
              <a:rPr lang="en-US" smtClean="0"/>
              <a:t>11</a:t>
            </a:fld>
            <a:endParaRPr lang="en-US"/>
          </a:p>
        </p:txBody>
      </p:sp>
    </p:spTree>
    <p:extLst>
      <p:ext uri="{BB962C8B-B14F-4D97-AF65-F5344CB8AC3E}">
        <p14:creationId xmlns:p14="http://schemas.microsoft.com/office/powerpoint/2010/main" val="2723127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In the previous slides, we discussed the effect of concrete strength. Now, we keep the constant concrete strength constant,</a:t>
            </a:r>
          </a:p>
          <a:p>
            <a:r>
              <a:rPr lang="en-US" altLang="zh-TW" dirty="0"/>
              <a:t>we will evaluate the specific benefits of upgrading the longitudinal reinforcement from SD420 to SD550.</a:t>
            </a:r>
          </a:p>
          <a:p>
            <a:endParaRPr lang="en-US" altLang="zh-TW" dirty="0"/>
          </a:p>
          <a:p>
            <a:r>
              <a:rPr lang="en-US" altLang="zh-TW" dirty="0"/>
              <a:t>First, for the 28 MPa baseline group. As you can see, during the elastic stage—before a curvature of 0.01—the blue and orange curves overlap completely,</a:t>
            </a:r>
          </a:p>
          <a:p>
            <a:r>
              <a:rPr lang="en-US" altLang="zh-TW" dirty="0"/>
              <a:t>because the stiffness here is dominated by the concrete. The real difference occurs after the cover concrete spalling.</a:t>
            </a:r>
          </a:p>
          <a:p>
            <a:endParaRPr lang="en-US" altLang="zh-TW" dirty="0"/>
          </a:p>
          <a:p>
            <a:r>
              <a:rPr lang="en-US" altLang="zh-TW" dirty="0"/>
              <a:t>After reaching its peak, the blue line (SD420 steel) begins to gradually decline. In contrast, the orange line (SD550 steel), because it yields later and hardens significantly, successfully reverses the downward trend and pushes upward to a second peak. This clearly establishes the fundamental mechanism of how high-strength steel rescues the load-carrying capacity after cover spalling.</a:t>
            </a:r>
            <a:endParaRPr lang="zh-TW" altLang="en-US" dirty="0"/>
          </a:p>
        </p:txBody>
      </p:sp>
      <p:sp>
        <p:nvSpPr>
          <p:cNvPr id="4" name="日期版面配置區 3"/>
          <p:cNvSpPr>
            <a:spLocks noGrp="1"/>
          </p:cNvSpPr>
          <p:nvPr>
            <p:ph type="dt" idx="1"/>
          </p:nvPr>
        </p:nvSpPr>
        <p:spPr/>
        <p:txBody>
          <a:bodyPr/>
          <a:lstStyle/>
          <a:p>
            <a:pPr rtl="0"/>
            <a:fld id="{AC2CEB09-2A1D-43DA-8307-5C91B95CABBA}" type="datetime1">
              <a:rPr lang="zh-TW" altLang="en-US" smtClean="0"/>
              <a:t>2026/4/18</a:t>
            </a:fld>
            <a:endParaRPr lang="en-US"/>
          </a:p>
        </p:txBody>
      </p:sp>
      <p:sp>
        <p:nvSpPr>
          <p:cNvPr id="5" name="投影片編號版面配置區 4"/>
          <p:cNvSpPr>
            <a:spLocks noGrp="1"/>
          </p:cNvSpPr>
          <p:nvPr>
            <p:ph type="sldNum" sz="quarter" idx="5"/>
          </p:nvPr>
        </p:nvSpPr>
        <p:spPr/>
        <p:txBody>
          <a:bodyPr/>
          <a:lstStyle/>
          <a:p>
            <a:pPr rtl="0"/>
            <a:fld id="{9C2B151B-D7D1-48E5-8230-5AADBC794F88}" type="slidenum">
              <a:rPr lang="en-US" smtClean="0"/>
              <a:t>12</a:t>
            </a:fld>
            <a:endParaRPr lang="en-US"/>
          </a:p>
        </p:txBody>
      </p:sp>
    </p:spTree>
    <p:extLst>
      <p:ext uri="{BB962C8B-B14F-4D97-AF65-F5344CB8AC3E}">
        <p14:creationId xmlns:p14="http://schemas.microsoft.com/office/powerpoint/2010/main" val="4151198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Finally, let's examine the extreme case of 42 MPa. On the surface, the SD550 steel aggressively pushes the maximum moment of this section well beyond the 1400 kN-m mark. However, look at the steep drop of the orange line (SD550) after a curvature of 0.06. This graph provides us with a crucial mechanical warning: no matter how strong the strain hardening of the steel is, it cannot prevent the brittle collapse of a high-strength concrete core. When the 42 MPa core crushes prematurely, causing a rapid shortening of the internal moment arm, even SD550 steel cannot save the section from degrading.</a:t>
            </a:r>
          </a:p>
          <a:p>
            <a:endParaRPr lang="en-US" altLang="zh-TW" dirty="0"/>
          </a:p>
          <a:p>
            <a:r>
              <a:rPr lang="en-US" altLang="zh-TW" dirty="0"/>
              <a:t>To summarize the comparison of these 2 graphs, we can draw a clear conclusion: while upgrading to SD550 steel indeed comprehensively increases the ultimate load-carrying capacity, if we want to ensure the ultimate ductility of the member during a major earthquake, we must very carefully control the issue of brittle degradation in high-strength concrete.</a:t>
            </a:r>
            <a:endParaRPr lang="zh-TW" altLang="en-US" dirty="0"/>
          </a:p>
        </p:txBody>
      </p:sp>
      <p:sp>
        <p:nvSpPr>
          <p:cNvPr id="4" name="日期版面配置區 3"/>
          <p:cNvSpPr>
            <a:spLocks noGrp="1"/>
          </p:cNvSpPr>
          <p:nvPr>
            <p:ph type="dt" idx="1"/>
          </p:nvPr>
        </p:nvSpPr>
        <p:spPr/>
        <p:txBody>
          <a:bodyPr/>
          <a:lstStyle/>
          <a:p>
            <a:pPr rtl="0"/>
            <a:fld id="{AC2CEB09-2A1D-43DA-8307-5C91B95CABBA}" type="datetime1">
              <a:rPr lang="zh-TW" altLang="en-US" smtClean="0"/>
              <a:t>2026/4/18</a:t>
            </a:fld>
            <a:endParaRPr lang="en-US"/>
          </a:p>
        </p:txBody>
      </p:sp>
      <p:sp>
        <p:nvSpPr>
          <p:cNvPr id="5" name="投影片編號版面配置區 4"/>
          <p:cNvSpPr>
            <a:spLocks noGrp="1"/>
          </p:cNvSpPr>
          <p:nvPr>
            <p:ph type="sldNum" sz="quarter" idx="5"/>
          </p:nvPr>
        </p:nvSpPr>
        <p:spPr/>
        <p:txBody>
          <a:bodyPr/>
          <a:lstStyle/>
          <a:p>
            <a:pPr rtl="0"/>
            <a:fld id="{9C2B151B-D7D1-48E5-8230-5AADBC794F88}" type="slidenum">
              <a:rPr lang="en-US" smtClean="0"/>
              <a:t>13</a:t>
            </a:fld>
            <a:endParaRPr lang="en-US"/>
          </a:p>
        </p:txBody>
      </p:sp>
    </p:spTree>
    <p:extLst>
      <p:ext uri="{BB962C8B-B14F-4D97-AF65-F5344CB8AC3E}">
        <p14:creationId xmlns:p14="http://schemas.microsoft.com/office/powerpoint/2010/main" val="3124277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solidFill>
                <a:schemeClr val="tx1"/>
              </a:solidFill>
            </a:endParaRPr>
          </a:p>
        </p:txBody>
      </p:sp>
      <p:sp>
        <p:nvSpPr>
          <p:cNvPr id="2" name="標題 1"/>
          <p:cNvSpPr>
            <a:spLocks noGrp="1"/>
          </p:cNvSpPr>
          <p:nvPr>
            <p:ph type="ctrTitle"/>
          </p:nvPr>
        </p:nvSpPr>
        <p:spPr>
          <a:xfrm>
            <a:off x="1097280" y="758952"/>
            <a:ext cx="10058400" cy="3566160"/>
          </a:xfrm>
        </p:spPr>
        <p:txBody>
          <a:bodyPr rtlCol="0" anchor="b">
            <a:normAutofit/>
          </a:bodyPr>
          <a:lstStyle>
            <a:lvl1pPr algn="l">
              <a:lnSpc>
                <a:spcPct val="90000"/>
              </a:lnSpc>
              <a:defRPr sz="8000" spc="-50" baseline="0">
                <a:solidFill>
                  <a:schemeClr val="tx1"/>
                </a:solidFill>
                <a:latin typeface="微軟正黑體" panose="020B0604030504040204" pitchFamily="34" charset="-120"/>
                <a:ea typeface="微軟正黑體" panose="020B0604030504040204" pitchFamily="34" charset="-120"/>
              </a:defRPr>
            </a:lvl1pPr>
          </a:lstStyle>
          <a:p>
            <a:pPr rtl="0"/>
            <a:r>
              <a:rPr lang="zh-TW" altLang="en-US"/>
              <a:t>按一下以編輯母片標題樣式</a:t>
            </a:r>
            <a:endParaRPr lang="en-US" dirty="0"/>
          </a:p>
        </p:txBody>
      </p:sp>
      <p:sp>
        <p:nvSpPr>
          <p:cNvPr id="3" name="副標題 2"/>
          <p:cNvSpPr>
            <a:spLocks noGrp="1"/>
          </p:cNvSpPr>
          <p:nvPr>
            <p:ph type="subTitle" idx="1"/>
          </p:nvPr>
        </p:nvSpPr>
        <p:spPr>
          <a:xfrm>
            <a:off x="1100051" y="4645152"/>
            <a:ext cx="10058400" cy="1143000"/>
          </a:xfrm>
        </p:spPr>
        <p:txBody>
          <a:bodyPr lIns="91440" rIns="91440" rtlCol="0">
            <a:normAutofit/>
          </a:bodyPr>
          <a:lstStyle>
            <a:lvl1pPr marL="0" indent="0" algn="l">
              <a:buNone/>
              <a:defRPr sz="2400" cap="all" spc="200" baseline="0">
                <a:solidFill>
                  <a:schemeClr val="tx1"/>
                </a:solidFill>
                <a:latin typeface="微軟正黑體" panose="020B0604030504040204" pitchFamily="34" charset="-120"/>
                <a:ea typeface="微軟正黑體" panose="020B0604030504040204" pitchFamily="34" charset="-12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zh-TW" altLang="en-US"/>
              <a:t>按一下以編輯母片子標題樣式</a:t>
            </a:r>
            <a:endParaRPr lang="en-US" dirty="0"/>
          </a:p>
        </p:txBody>
      </p:sp>
      <p:cxnSp>
        <p:nvCxnSpPr>
          <p:cNvPr id="9" name="直線接點​​(S)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日期版面配置區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lvl1pPr>
              <a:defRPr>
                <a:solidFill>
                  <a:schemeClr val="bg1"/>
                </a:solidFill>
              </a:defRPr>
            </a:lvl1pPr>
          </a:lstStyle>
          <a:p>
            <a:fld id="{DD13FE93-748B-439C-AE3A-23E20E04A624}" type="datetime1">
              <a:rPr lang="zh-TW" altLang="en-US" smtClean="0"/>
              <a:pPr/>
              <a:t>2026/4/18</a:t>
            </a:fld>
            <a:endParaRPr lang="en-US" dirty="0"/>
          </a:p>
        </p:txBody>
      </p:sp>
      <p:sp>
        <p:nvSpPr>
          <p:cNvPr id="5" name="頁尾版面配置區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lvl1pPr>
              <a:defRPr>
                <a:solidFill>
                  <a:schemeClr val="bg1"/>
                </a:solidFill>
              </a:defRPr>
            </a:lvl1pPr>
          </a:lstStyle>
          <a:p>
            <a:endParaRPr lang="en-US" dirty="0">
              <a:solidFill>
                <a:schemeClr val="bg1"/>
              </a:solidFill>
            </a:endParaRPr>
          </a:p>
        </p:txBody>
      </p:sp>
      <p:sp>
        <p:nvSpPr>
          <p:cNvPr id="6" name="投影片編號預留位置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lvl1pPr>
              <a:defRPr>
                <a:solidFill>
                  <a:schemeClr val="bg1"/>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lvl1pPr>
              <a:defRPr>
                <a:solidFill>
                  <a:schemeClr val="tx1"/>
                </a:solidFill>
                <a:latin typeface="微軟正黑體" panose="020B0604030504040204" pitchFamily="34" charset="-120"/>
                <a:ea typeface="微軟正黑體" panose="020B0604030504040204" pitchFamily="34" charset="-120"/>
              </a:defRPr>
            </a:lvl1pPr>
          </a:lstStyle>
          <a:p>
            <a:pPr rtl="0"/>
            <a:r>
              <a:rPr lang="zh-TW" altLang="en-US" dirty="0"/>
              <a:t>按一下以編輯母片標題樣式</a:t>
            </a:r>
            <a:endParaRPr lang="en-US" dirty="0"/>
          </a:p>
        </p:txBody>
      </p:sp>
      <p:sp>
        <p:nvSpPr>
          <p:cNvPr id="3" name="內容預留位置 2"/>
          <p:cNvSpPr>
            <a:spLocks noGrp="1"/>
          </p:cNvSpPr>
          <p:nvPr>
            <p:ph idx="1"/>
          </p:nvPr>
        </p:nvSpPr>
        <p:spPr/>
        <p:txBody>
          <a:bodyPr rtlCol="0"/>
          <a:lstStyle>
            <a:lvl1pPr algn="just">
              <a:lnSpc>
                <a:spcPct val="150000"/>
              </a:lnSpc>
              <a:spcBef>
                <a:spcPts val="0"/>
              </a:spcBef>
              <a:spcAft>
                <a:spcPts val="0"/>
              </a:spcAft>
              <a:buFontTx/>
              <a:buNone/>
              <a:defRPr sz="2400">
                <a:solidFill>
                  <a:schemeClr val="tx1"/>
                </a:solidFill>
                <a:latin typeface="微軟正黑體" panose="020B0604030504040204" pitchFamily="34" charset="-120"/>
                <a:ea typeface="微軟正黑體" panose="020B0604030504040204" pitchFamily="34" charset="-120"/>
              </a:defRPr>
            </a:lvl1pPr>
            <a:lvl2pPr algn="just">
              <a:lnSpc>
                <a:spcPct val="150000"/>
              </a:lnSpc>
              <a:spcBef>
                <a:spcPts val="0"/>
              </a:spcBef>
              <a:spcAft>
                <a:spcPts val="0"/>
              </a:spcAft>
              <a:buFontTx/>
              <a:buNone/>
              <a:defRPr>
                <a:latin typeface="微軟正黑體" panose="020B0604030504040204" pitchFamily="34" charset="-120"/>
                <a:ea typeface="微軟正黑體" panose="020B0604030504040204" pitchFamily="34" charset="-120"/>
              </a:defRPr>
            </a:lvl2pPr>
            <a:lvl3pPr algn="just">
              <a:lnSpc>
                <a:spcPct val="150000"/>
              </a:lnSpc>
              <a:spcBef>
                <a:spcPts val="0"/>
              </a:spcBef>
              <a:spcAft>
                <a:spcPts val="0"/>
              </a:spcAft>
              <a:buFontTx/>
              <a:buNone/>
              <a:defRPr>
                <a:latin typeface="微軟正黑體" panose="020B0604030504040204" pitchFamily="34" charset="-120"/>
                <a:ea typeface="微軟正黑體" panose="020B0604030504040204" pitchFamily="34" charset="-120"/>
              </a:defRPr>
            </a:lvl3pPr>
            <a:lvl4pPr algn="just">
              <a:lnSpc>
                <a:spcPct val="150000"/>
              </a:lnSpc>
              <a:spcBef>
                <a:spcPts val="0"/>
              </a:spcBef>
              <a:spcAft>
                <a:spcPts val="0"/>
              </a:spcAft>
              <a:buFontTx/>
              <a:buNone/>
              <a:defRPr>
                <a:latin typeface="微軟正黑體" panose="020B0604030504040204" pitchFamily="34" charset="-120"/>
                <a:ea typeface="微軟正黑體" panose="020B0604030504040204" pitchFamily="34" charset="-120"/>
              </a:defRPr>
            </a:lvl4pPr>
            <a:lvl5pPr algn="just">
              <a:lnSpc>
                <a:spcPct val="150000"/>
              </a:lnSpc>
              <a:spcBef>
                <a:spcPts val="0"/>
              </a:spcBef>
              <a:spcAft>
                <a:spcPts val="0"/>
              </a:spcAft>
              <a:buFontTx/>
              <a:buNone/>
              <a:defRPr>
                <a:latin typeface="微軟正黑體" panose="020B0604030504040204" pitchFamily="34" charset="-120"/>
                <a:ea typeface="微軟正黑體" panose="020B0604030504040204" pitchFamily="34" charset="-120"/>
              </a:defRPr>
            </a:lvl5pPr>
          </a:lstStyle>
          <a:p>
            <a:pPr lvl="0" rtl="0"/>
            <a:endParaRPr lang="en-US" dirty="0"/>
          </a:p>
        </p:txBody>
      </p:sp>
      <p:sp>
        <p:nvSpPr>
          <p:cNvPr id="8" name="頁尾版面配置區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lvl1pPr>
              <a:defRPr>
                <a:solidFill>
                  <a:schemeClr val="bg1"/>
                </a:solidFill>
              </a:defRPr>
            </a:lvl1pPr>
          </a:lstStyle>
          <a:p>
            <a:endParaRPr lang="en-US" dirty="0">
              <a:solidFill>
                <a:schemeClr val="bg1"/>
              </a:solidFill>
            </a:endParaRPr>
          </a:p>
        </p:txBody>
      </p:sp>
      <p:sp>
        <p:nvSpPr>
          <p:cNvPr id="9" name="投影片編號預留位置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lvl1pPr>
              <a:defRPr>
                <a:solidFill>
                  <a:schemeClr val="bg1"/>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1"/>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solidFill>
                <a:schemeClr val="tx1"/>
              </a:solidFill>
            </a:endParaRPr>
          </a:p>
        </p:txBody>
      </p:sp>
      <p:sp>
        <p:nvSpPr>
          <p:cNvPr id="2" name="標題 1"/>
          <p:cNvSpPr>
            <a:spLocks noGrp="1"/>
          </p:cNvSpPr>
          <p:nvPr>
            <p:ph type="title"/>
          </p:nvPr>
        </p:nvSpPr>
        <p:spPr>
          <a:xfrm>
            <a:off x="1097280" y="758952"/>
            <a:ext cx="10058400" cy="3566160"/>
          </a:xfrm>
        </p:spPr>
        <p:txBody>
          <a:bodyPr rtlCol="0" anchor="b" anchorCtr="0">
            <a:normAutofit/>
          </a:bodyPr>
          <a:lstStyle>
            <a:lvl1pPr>
              <a:lnSpc>
                <a:spcPct val="90000"/>
              </a:lnSpc>
              <a:defRPr sz="8000" b="0">
                <a:solidFill>
                  <a:schemeClr val="tx1"/>
                </a:solidFill>
                <a:latin typeface="微軟正黑體" panose="020B0604030504040204" pitchFamily="34" charset="-120"/>
                <a:ea typeface="微軟正黑體" panose="020B0604030504040204" pitchFamily="34" charset="-120"/>
              </a:defRPr>
            </a:lvl1pPr>
          </a:lstStyle>
          <a:p>
            <a:pPr rtl="0"/>
            <a:r>
              <a:rPr lang="zh-TW" altLang="en-US"/>
              <a:t>按一下以編輯母片標題樣式</a:t>
            </a:r>
            <a:endParaRPr lang="en-US" dirty="0"/>
          </a:p>
        </p:txBody>
      </p:sp>
      <p:sp>
        <p:nvSpPr>
          <p:cNvPr id="3" name="文字預留位置 2"/>
          <p:cNvSpPr>
            <a:spLocks noGrp="1"/>
          </p:cNvSpPr>
          <p:nvPr>
            <p:ph type="body" idx="1"/>
          </p:nvPr>
        </p:nvSpPr>
        <p:spPr>
          <a:xfrm>
            <a:off x="1097280" y="4663440"/>
            <a:ext cx="10058400" cy="1143000"/>
          </a:xfrm>
        </p:spPr>
        <p:txBody>
          <a:bodyPr lIns="91440" rIns="91440" rtlCol="0" anchor="t" anchorCtr="0">
            <a:normAutofit/>
          </a:bodyPr>
          <a:lstStyle>
            <a:lvl1pPr marL="0" indent="0">
              <a:buNone/>
              <a:defRPr sz="2400" cap="all" spc="200" baseline="0">
                <a:solidFill>
                  <a:schemeClr val="tx1"/>
                </a:solidFill>
                <a:latin typeface="微軟正黑體" panose="020B0604030504040204" pitchFamily="34" charset="-120"/>
                <a:ea typeface="微軟正黑體" panose="020B0604030504040204" pitchFamily="34" charset="-12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TW" altLang="en-US"/>
              <a:t>按一下以編輯母片文字樣式</a:t>
            </a:r>
          </a:p>
        </p:txBody>
      </p:sp>
      <p:cxnSp>
        <p:nvCxnSpPr>
          <p:cNvPr id="9" name="直線接點​​(S)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頁尾版面配置區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lvl1pPr>
              <a:defRPr>
                <a:solidFill>
                  <a:schemeClr val="bg1"/>
                </a:solidFill>
              </a:defRPr>
            </a:lvl1pPr>
          </a:lstStyle>
          <a:p>
            <a:endParaRPr lang="en-US" dirty="0">
              <a:solidFill>
                <a:schemeClr val="bg1"/>
              </a:solidFill>
            </a:endParaRPr>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內容">
    <p:spTree>
      <p:nvGrpSpPr>
        <p:cNvPr id="1" name=""/>
        <p:cNvGrpSpPr/>
        <p:nvPr/>
      </p:nvGrpSpPr>
      <p:grpSpPr>
        <a:xfrm>
          <a:off x="0" y="0"/>
          <a:ext cx="0" cy="0"/>
          <a:chOff x="0" y="0"/>
          <a:chExt cx="0" cy="0"/>
        </a:xfrm>
      </p:grpSpPr>
      <p:sp>
        <p:nvSpPr>
          <p:cNvPr id="8" name="標題 7"/>
          <p:cNvSpPr>
            <a:spLocks noGrp="1"/>
          </p:cNvSpPr>
          <p:nvPr>
            <p:ph type="title"/>
          </p:nvPr>
        </p:nvSpPr>
        <p:spPr>
          <a:xfrm>
            <a:off x="1097280" y="286603"/>
            <a:ext cx="10058400" cy="1450757"/>
          </a:xfrm>
        </p:spPr>
        <p:txBody>
          <a:bodyPr rtlCol="0"/>
          <a:lstStyle>
            <a:lvl1pPr>
              <a:defRPr>
                <a:solidFill>
                  <a:schemeClr val="tx1"/>
                </a:solidFill>
              </a:defRPr>
            </a:lvl1pPr>
          </a:lstStyle>
          <a:p>
            <a:pPr rtl="0"/>
            <a:r>
              <a:rPr lang="zh-TW" altLang="en-US"/>
              <a:t>按一下以編輯母片標題樣式</a:t>
            </a:r>
            <a:endParaRPr lang="en-US" dirty="0"/>
          </a:p>
        </p:txBody>
      </p:sp>
      <p:sp>
        <p:nvSpPr>
          <p:cNvPr id="3" name="內容預留位置 2"/>
          <p:cNvSpPr>
            <a:spLocks noGrp="1"/>
          </p:cNvSpPr>
          <p:nvPr>
            <p:ph sz="half" idx="1"/>
          </p:nvPr>
        </p:nvSpPr>
        <p:spPr>
          <a:xfrm>
            <a:off x="1097280" y="2120900"/>
            <a:ext cx="4639736" cy="3748193"/>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en-US" dirty="0"/>
          </a:p>
        </p:txBody>
      </p:sp>
      <p:sp>
        <p:nvSpPr>
          <p:cNvPr id="4" name="內容預留位置 3"/>
          <p:cNvSpPr>
            <a:spLocks noGrp="1"/>
          </p:cNvSpPr>
          <p:nvPr>
            <p:ph sz="half" idx="2"/>
          </p:nvPr>
        </p:nvSpPr>
        <p:spPr>
          <a:xfrm>
            <a:off x="6515944" y="2120900"/>
            <a:ext cx="4639736" cy="3748194"/>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en-US" dirty="0"/>
          </a:p>
        </p:txBody>
      </p:sp>
      <p:sp>
        <p:nvSpPr>
          <p:cNvPr id="2" name="日期版面配置區 1">
            <a:extLst>
              <a:ext uri="{FF2B5EF4-FFF2-40B4-BE49-F238E27FC236}">
                <a16:creationId xmlns:a16="http://schemas.microsoft.com/office/drawing/2014/main" id="{5782D47D-B0DC-4C40-BCC6-BBBA32584A38}"/>
              </a:ext>
            </a:extLst>
          </p:cNvPr>
          <p:cNvSpPr>
            <a:spLocks noGrp="1"/>
          </p:cNvSpPr>
          <p:nvPr>
            <p:ph type="dt" sz="half" idx="10"/>
          </p:nvPr>
        </p:nvSpPr>
        <p:spPr/>
        <p:txBody>
          <a:bodyPr rtlCol="0"/>
          <a:lstStyle>
            <a:lvl1pPr>
              <a:defRPr>
                <a:solidFill>
                  <a:schemeClr val="bg1"/>
                </a:solidFill>
              </a:defRPr>
            </a:lvl1pPr>
          </a:lstStyle>
          <a:p>
            <a:fld id="{8EA205CF-910F-465E-B6A6-9BE49763009A}" type="datetime1">
              <a:rPr lang="zh-TW" altLang="en-US" smtClean="0"/>
              <a:pPr/>
              <a:t>2026/4/18</a:t>
            </a:fld>
            <a:endParaRPr lang="en-US" dirty="0"/>
          </a:p>
        </p:txBody>
      </p:sp>
      <p:sp>
        <p:nvSpPr>
          <p:cNvPr id="9" name="頁尾版面配置區 8">
            <a:extLst>
              <a:ext uri="{FF2B5EF4-FFF2-40B4-BE49-F238E27FC236}">
                <a16:creationId xmlns:a16="http://schemas.microsoft.com/office/drawing/2014/main" id="{4690D34E-7EBD-44B2-83CA-4C126A18D7EF}"/>
              </a:ext>
            </a:extLst>
          </p:cNvPr>
          <p:cNvSpPr>
            <a:spLocks noGrp="1"/>
          </p:cNvSpPr>
          <p:nvPr>
            <p:ph type="ftr" sz="quarter" idx="11"/>
          </p:nvPr>
        </p:nvSpPr>
        <p:spPr/>
        <p:txBody>
          <a:bodyPr rtlCol="0"/>
          <a:lstStyle>
            <a:lvl1pPr>
              <a:defRPr>
                <a:solidFill>
                  <a:schemeClr val="bg1"/>
                </a:solidFill>
              </a:defRPr>
            </a:lvl1pPr>
          </a:lstStyle>
          <a:p>
            <a:endParaRPr lang="en-US" dirty="0">
              <a:solidFill>
                <a:schemeClr val="bg1"/>
              </a:solidFill>
            </a:endParaRPr>
          </a:p>
        </p:txBody>
      </p:sp>
      <p:sp>
        <p:nvSpPr>
          <p:cNvPr id="10" name="投影片編號預留位置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rtlCol="0"/>
          <a:lstStyle>
            <a:lvl1pPr>
              <a:defRPr>
                <a:solidFill>
                  <a:schemeClr val="bg1"/>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標題 9"/>
          <p:cNvSpPr>
            <a:spLocks noGrp="1"/>
          </p:cNvSpPr>
          <p:nvPr>
            <p:ph type="title"/>
          </p:nvPr>
        </p:nvSpPr>
        <p:spPr>
          <a:xfrm>
            <a:off x="1097280" y="286603"/>
            <a:ext cx="10058400" cy="1450757"/>
          </a:xfrm>
        </p:spPr>
        <p:txBody>
          <a:bodyPr rtlCol="0"/>
          <a:lstStyle/>
          <a:p>
            <a:pPr rtl="0"/>
            <a:r>
              <a:rPr lang="zh-TW" altLang="en-US"/>
              <a:t>按一下以編輯母片標題樣式</a:t>
            </a:r>
            <a:endParaRPr lang="en-US" dirty="0"/>
          </a:p>
        </p:txBody>
      </p:sp>
      <p:sp>
        <p:nvSpPr>
          <p:cNvPr id="3" name="文字預留位置 2"/>
          <p:cNvSpPr>
            <a:spLocks noGrp="1"/>
          </p:cNvSpPr>
          <p:nvPr>
            <p:ph type="body" idx="1"/>
          </p:nvPr>
        </p:nvSpPr>
        <p:spPr>
          <a:xfrm>
            <a:off x="1097280"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TW" altLang="en-US"/>
              <a:t>按一下以編輯母片文字樣式</a:t>
            </a:r>
          </a:p>
        </p:txBody>
      </p:sp>
      <p:sp>
        <p:nvSpPr>
          <p:cNvPr id="4" name="內容預留位置 3"/>
          <p:cNvSpPr>
            <a:spLocks noGrp="1"/>
          </p:cNvSpPr>
          <p:nvPr>
            <p:ph sz="half" idx="2"/>
          </p:nvPr>
        </p:nvSpPr>
        <p:spPr>
          <a:xfrm>
            <a:off x="1097280" y="2958274"/>
            <a:ext cx="4639736" cy="2910821"/>
          </a:xfrm>
        </p:spPr>
        <p:txBody>
          <a:bodyPr rtlCol="0"/>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en-US" dirty="0"/>
          </a:p>
        </p:txBody>
      </p:sp>
      <p:sp>
        <p:nvSpPr>
          <p:cNvPr id="5" name="文字預留位置 4"/>
          <p:cNvSpPr>
            <a:spLocks noGrp="1"/>
          </p:cNvSpPr>
          <p:nvPr>
            <p:ph type="body" sz="quarter" idx="3"/>
          </p:nvPr>
        </p:nvSpPr>
        <p:spPr>
          <a:xfrm>
            <a:off x="6515944"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TW" altLang="en-US"/>
              <a:t>按一下以編輯母片文字樣式</a:t>
            </a:r>
          </a:p>
        </p:txBody>
      </p:sp>
      <p:sp>
        <p:nvSpPr>
          <p:cNvPr id="6" name="內容預留位置 5"/>
          <p:cNvSpPr>
            <a:spLocks noGrp="1"/>
          </p:cNvSpPr>
          <p:nvPr>
            <p:ph sz="quarter" idx="4"/>
          </p:nvPr>
        </p:nvSpPr>
        <p:spPr>
          <a:xfrm>
            <a:off x="6515944" y="2958273"/>
            <a:ext cx="4639736" cy="2910821"/>
          </a:xfrm>
        </p:spPr>
        <p:txBody>
          <a:bodyPr rtlCol="0"/>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en-US" dirty="0"/>
          </a:p>
        </p:txBody>
      </p:sp>
      <p:sp>
        <p:nvSpPr>
          <p:cNvPr id="2" name="日期版面配置區 1">
            <a:extLst>
              <a:ext uri="{FF2B5EF4-FFF2-40B4-BE49-F238E27FC236}">
                <a16:creationId xmlns:a16="http://schemas.microsoft.com/office/drawing/2014/main" id="{8AF8A515-AA94-45D1-9223-5C2272618D85}"/>
              </a:ext>
            </a:extLst>
          </p:cNvPr>
          <p:cNvSpPr>
            <a:spLocks noGrp="1"/>
          </p:cNvSpPr>
          <p:nvPr>
            <p:ph type="dt" sz="half" idx="10"/>
          </p:nvPr>
        </p:nvSpPr>
        <p:spPr/>
        <p:txBody>
          <a:bodyPr rtlCol="0"/>
          <a:lstStyle/>
          <a:p>
            <a:pPr rtl="0"/>
            <a:fld id="{FE6B6AD9-4500-493A-958D-7E01E540C867}" type="datetime1">
              <a:rPr lang="zh-TW" altLang="en-US" smtClean="0"/>
              <a:t>2026/4/18</a:t>
            </a:fld>
            <a:endParaRPr lang="en-US" dirty="0"/>
          </a:p>
        </p:txBody>
      </p:sp>
      <p:sp>
        <p:nvSpPr>
          <p:cNvPr id="11" name="頁尾版面配置區 10">
            <a:extLst>
              <a:ext uri="{FF2B5EF4-FFF2-40B4-BE49-F238E27FC236}">
                <a16:creationId xmlns:a16="http://schemas.microsoft.com/office/drawing/2014/main" id="{D052F5BC-98E0-4D60-AD67-9547738B7DD4}"/>
              </a:ext>
            </a:extLst>
          </p:cNvPr>
          <p:cNvSpPr>
            <a:spLocks noGrp="1"/>
          </p:cNvSpPr>
          <p:nvPr>
            <p:ph type="ftr" sz="quarter" idx="11"/>
          </p:nvPr>
        </p:nvSpPr>
        <p:spPr/>
        <p:txBody>
          <a:bodyPr rtlCol="0"/>
          <a:lstStyle/>
          <a:p>
            <a:pPr rtl="0"/>
            <a:endParaRPr lang="en-US" dirty="0"/>
          </a:p>
        </p:txBody>
      </p:sp>
      <p:sp>
        <p:nvSpPr>
          <p:cNvPr id="12" name="投影片編號預留位置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p>
            <a:pPr rtl="0"/>
            <a:r>
              <a:rPr lang="zh-TW" altLang="en-US"/>
              <a:t>按一下以編輯母片標題樣式</a:t>
            </a:r>
            <a:endParaRPr lang="en-US" dirty="0"/>
          </a:p>
        </p:txBody>
      </p:sp>
      <p:sp>
        <p:nvSpPr>
          <p:cNvPr id="6" name="日期版面配置區 5">
            <a:extLst>
              <a:ext uri="{FF2B5EF4-FFF2-40B4-BE49-F238E27FC236}">
                <a16:creationId xmlns:a16="http://schemas.microsoft.com/office/drawing/2014/main" id="{7392073F-158F-44A3-8913-917AFFC1BC20}"/>
              </a:ext>
            </a:extLst>
          </p:cNvPr>
          <p:cNvSpPr>
            <a:spLocks noGrp="1"/>
          </p:cNvSpPr>
          <p:nvPr>
            <p:ph type="dt" sz="half" idx="10"/>
          </p:nvPr>
        </p:nvSpPr>
        <p:spPr/>
        <p:txBody>
          <a:bodyPr rtlCol="0"/>
          <a:lstStyle/>
          <a:p>
            <a:pPr rtl="0"/>
            <a:fld id="{B358E77B-3286-4735-8DA0-0075843F60C4}" type="datetime1">
              <a:rPr lang="zh-TW" altLang="en-US" smtClean="0"/>
              <a:t>2026/4/18</a:t>
            </a:fld>
            <a:endParaRPr lang="en-US" dirty="0"/>
          </a:p>
        </p:txBody>
      </p:sp>
      <p:sp>
        <p:nvSpPr>
          <p:cNvPr id="7" name="頁尾版面配置區 6">
            <a:extLst>
              <a:ext uri="{FF2B5EF4-FFF2-40B4-BE49-F238E27FC236}">
                <a16:creationId xmlns:a16="http://schemas.microsoft.com/office/drawing/2014/main" id="{EED72207-24CA-42B7-A975-2F8E41CBA904}"/>
              </a:ext>
            </a:extLst>
          </p:cNvPr>
          <p:cNvSpPr>
            <a:spLocks noGrp="1"/>
          </p:cNvSpPr>
          <p:nvPr>
            <p:ph type="ftr" sz="quarter" idx="11"/>
          </p:nvPr>
        </p:nvSpPr>
        <p:spPr/>
        <p:txBody>
          <a:bodyPr rtlCol="0"/>
          <a:lstStyle/>
          <a:p>
            <a:pPr rtl="0"/>
            <a:endParaRPr lang="en-US" dirty="0"/>
          </a:p>
        </p:txBody>
      </p:sp>
      <p:sp>
        <p:nvSpPr>
          <p:cNvPr id="8" name="投影片編號預留位置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4" name="投影片編號預留位置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標題 1"/>
          <p:cNvSpPr>
            <a:spLocks noGrp="1"/>
          </p:cNvSpPr>
          <p:nvPr>
            <p:ph type="title"/>
          </p:nvPr>
        </p:nvSpPr>
        <p:spPr>
          <a:xfrm>
            <a:off x="643466" y="786383"/>
            <a:ext cx="3517567" cy="2093975"/>
          </a:xfrm>
        </p:spPr>
        <p:txBody>
          <a:bodyPr rtlCol="0" anchor="b">
            <a:normAutofit/>
          </a:bodyPr>
          <a:lstStyle>
            <a:lvl1pPr>
              <a:lnSpc>
                <a:spcPct val="90000"/>
              </a:lnSpc>
              <a:defRPr sz="3600" b="0">
                <a:solidFill>
                  <a:srgbClr val="FFFFFF"/>
                </a:solidFill>
              </a:defRPr>
            </a:lvl1pPr>
          </a:lstStyle>
          <a:p>
            <a:pPr rtl="0"/>
            <a:r>
              <a:rPr lang="zh-TW" altLang="en-US"/>
              <a:t>按一下以編輯母片標題樣式</a:t>
            </a:r>
            <a:endParaRPr lang="en-US" dirty="0"/>
          </a:p>
        </p:txBody>
      </p:sp>
      <p:sp>
        <p:nvSpPr>
          <p:cNvPr id="3" name="內容預留位置 2"/>
          <p:cNvSpPr>
            <a:spLocks noGrp="1"/>
          </p:cNvSpPr>
          <p:nvPr>
            <p:ph idx="1"/>
          </p:nvPr>
        </p:nvSpPr>
        <p:spPr>
          <a:xfrm>
            <a:off x="5458984" y="812799"/>
            <a:ext cx="5928344" cy="5294757"/>
          </a:xfrm>
        </p:spPr>
        <p:txBody>
          <a:bodyPr rtlCol="0"/>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en-US" dirty="0"/>
          </a:p>
        </p:txBody>
      </p:sp>
      <p:sp>
        <p:nvSpPr>
          <p:cNvPr id="4" name="文字預留位置 3"/>
          <p:cNvSpPr>
            <a:spLocks noGrp="1"/>
          </p:cNvSpPr>
          <p:nvPr>
            <p:ph type="body" sz="half" idx="2"/>
          </p:nvPr>
        </p:nvSpPr>
        <p:spPr>
          <a:xfrm>
            <a:off x="643465" y="3043050"/>
            <a:ext cx="3517567" cy="3064505"/>
          </a:xfrm>
        </p:spPr>
        <p:txBody>
          <a:bodyPr lIns="91440" rIns="91440" rtlCol="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TW" altLang="en-US"/>
              <a:t>按一下以編輯母片文字樣式</a:t>
            </a:r>
          </a:p>
        </p:txBody>
      </p:sp>
      <p:sp>
        <p:nvSpPr>
          <p:cNvPr id="5" name="日期版面配置區 4"/>
          <p:cNvSpPr>
            <a:spLocks noGrp="1"/>
          </p:cNvSpPr>
          <p:nvPr>
            <p:ph type="dt" sz="half" idx="10"/>
          </p:nvPr>
        </p:nvSpPr>
        <p:spPr>
          <a:xfrm>
            <a:off x="643464" y="6446520"/>
            <a:ext cx="3517568" cy="365125"/>
          </a:xfrm>
        </p:spPr>
        <p:txBody>
          <a:bodyPr rtlCol="0"/>
          <a:lstStyle>
            <a:lvl1pPr algn="l">
              <a:defRPr/>
            </a:lvl1pPr>
          </a:lstStyle>
          <a:p>
            <a:pPr rtl="0"/>
            <a:fld id="{17119D7F-8A3B-40BF-91B5-C6423A8FD745}" type="datetime1">
              <a:rPr lang="zh-TW" altLang="en-US" smtClean="0"/>
              <a:t>2026/4/18</a:t>
            </a:fld>
            <a:endParaRPr lang="en-US" dirty="0"/>
          </a:p>
        </p:txBody>
      </p:sp>
      <p:sp>
        <p:nvSpPr>
          <p:cNvPr id="6" name="頁尾版面配置區 5"/>
          <p:cNvSpPr>
            <a:spLocks noGrp="1"/>
          </p:cNvSpPr>
          <p:nvPr>
            <p:ph type="ftr" sz="quarter" idx="11"/>
          </p:nvPr>
        </p:nvSpPr>
        <p:spPr>
          <a:xfrm>
            <a:off x="5458983" y="6446520"/>
            <a:ext cx="5334019" cy="365125"/>
          </a:xfrm>
        </p:spPr>
        <p:txBody>
          <a:bodyPr rtlCol="0"/>
          <a:lstStyle>
            <a:lvl1pPr algn="l">
              <a:defRPr>
                <a:solidFill>
                  <a:schemeClr val="tx2"/>
                </a:solidFill>
              </a:defRPr>
            </a:lvl1pPr>
          </a:lstStyle>
          <a:p>
            <a:pPr rtl="0"/>
            <a:endParaRPr lang="en-US" dirty="0"/>
          </a:p>
        </p:txBody>
      </p:sp>
      <p:sp>
        <p:nvSpPr>
          <p:cNvPr id="7" name="投影片編號預留位置 6"/>
          <p:cNvSpPr>
            <a:spLocks noGrp="1"/>
          </p:cNvSpPr>
          <p:nvPr>
            <p:ph type="sldNum" sz="quarter" idx="12"/>
          </p:nvPr>
        </p:nvSpPr>
        <p:spPr/>
        <p:txBody>
          <a:bodyPr rtlCol="0"/>
          <a:lstStyle>
            <a:lvl1pPr>
              <a:defRPr>
                <a:solidFill>
                  <a:schemeClr val="tx2"/>
                </a:solidFill>
              </a:defRPr>
            </a:lvl1pPr>
          </a:lstStyle>
          <a:p>
            <a:pPr rtl="0"/>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3" name="圖片預留位置 2"/>
          <p:cNvSpPr>
            <a:spLocks noGrp="1" noChangeAspect="1"/>
          </p:cNvSpPr>
          <p:nvPr>
            <p:ph type="pic" idx="1"/>
          </p:nvPr>
        </p:nvSpPr>
        <p:spPr>
          <a:xfrm>
            <a:off x="15" y="0"/>
            <a:ext cx="12191985" cy="4578350"/>
          </a:xfrm>
          <a:solidFill>
            <a:schemeClr val="bg1">
              <a:lumMod val="85000"/>
            </a:schemeClr>
          </a:solidFill>
        </p:spPr>
        <p:txBody>
          <a:bodyPr lIns="457200" tIns="45720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zh-TW" altLang="en-US"/>
              <a:t>按一下圖示以新增圖片</a:t>
            </a:r>
            <a:endParaRPr lang="en-US" dirty="0"/>
          </a:p>
        </p:txBody>
      </p:sp>
      <p:sp>
        <p:nvSpPr>
          <p:cNvPr id="2" name="標題 1"/>
          <p:cNvSpPr>
            <a:spLocks noGrp="1"/>
          </p:cNvSpPr>
          <p:nvPr>
            <p:ph type="title"/>
          </p:nvPr>
        </p:nvSpPr>
        <p:spPr>
          <a:xfrm>
            <a:off x="1097279" y="4799362"/>
            <a:ext cx="10113645" cy="743682"/>
          </a:xfrm>
        </p:spPr>
        <p:txBody>
          <a:bodyPr tIns="0" bIns="0" rtlCol="0" anchor="b">
            <a:noAutofit/>
          </a:bodyPr>
          <a:lstStyle>
            <a:lvl1pPr>
              <a:defRPr sz="3600" b="0">
                <a:solidFill>
                  <a:srgbClr val="FFFFFF"/>
                </a:solidFill>
              </a:defRPr>
            </a:lvl1pPr>
          </a:lstStyle>
          <a:p>
            <a:pPr rtl="0"/>
            <a:r>
              <a:rPr lang="zh-TW" altLang="en-US"/>
              <a:t>按一下以編輯母片標題樣式</a:t>
            </a:r>
            <a:endParaRPr lang="en-US" dirty="0"/>
          </a:p>
        </p:txBody>
      </p:sp>
      <p:sp>
        <p:nvSpPr>
          <p:cNvPr id="4" name="文字預留位置 3"/>
          <p:cNvSpPr>
            <a:spLocks noGrp="1"/>
          </p:cNvSpPr>
          <p:nvPr>
            <p:ph type="body" sz="half" idx="2"/>
          </p:nvPr>
        </p:nvSpPr>
        <p:spPr>
          <a:xfrm>
            <a:off x="1097279" y="5715000"/>
            <a:ext cx="10113264" cy="609600"/>
          </a:xfrm>
        </p:spPr>
        <p:txBody>
          <a:bodyPr lIns="91440" tIns="0" rIns="91440" bIns="0" rtlCol="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TW" altLang="en-US"/>
              <a:t>按一下以編輯母片文字樣式</a:t>
            </a:r>
          </a:p>
        </p:txBody>
      </p:sp>
      <p:sp>
        <p:nvSpPr>
          <p:cNvPr id="5" name="日期版面配置區 4"/>
          <p:cNvSpPr>
            <a:spLocks noGrp="1"/>
          </p:cNvSpPr>
          <p:nvPr>
            <p:ph type="dt" sz="half" idx="10"/>
          </p:nvPr>
        </p:nvSpPr>
        <p:spPr/>
        <p:txBody>
          <a:bodyPr rtlCol="0"/>
          <a:lstStyle>
            <a:lvl1pPr>
              <a:defRPr/>
            </a:lvl1pPr>
          </a:lstStyle>
          <a:p>
            <a:pPr rtl="0"/>
            <a:fld id="{2DE0A14E-1244-4A4B-A292-9278B262B538}" type="datetime1">
              <a:rPr lang="zh-TW" altLang="en-US" smtClean="0"/>
              <a:t>2026/4/18</a:t>
            </a:fld>
            <a:endParaRPr lang="en-US" dirty="0"/>
          </a:p>
        </p:txBody>
      </p:sp>
      <p:sp>
        <p:nvSpPr>
          <p:cNvPr id="6" name="頁尾預留位置 5"/>
          <p:cNvSpPr>
            <a:spLocks noGrp="1"/>
          </p:cNvSpPr>
          <p:nvPr>
            <p:ph type="ftr" sz="quarter" idx="11"/>
          </p:nvPr>
        </p:nvSpPr>
        <p:spPr>
          <a:xfrm>
            <a:off x="1097279" y="6446838"/>
            <a:ext cx="6818262" cy="365125"/>
          </a:xfrm>
        </p:spPr>
        <p:txBody>
          <a:bodyPr rtlCol="0"/>
          <a:lstStyle/>
          <a:p>
            <a:pPr algn="l" rtl="0"/>
            <a:endParaRPr lang="en-US" dirty="0"/>
          </a:p>
        </p:txBody>
      </p:sp>
      <p:sp>
        <p:nvSpPr>
          <p:cNvPr id="7" name="投影片編號版面配置區 6"/>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p>
            <a:pPr rtl="0"/>
            <a:r>
              <a:rPr lang="zh-TW" altLang="en-US"/>
              <a:t>按一下以編輯母片標題樣式</a:t>
            </a:r>
            <a:endParaRPr lang="en-US" dirty="0"/>
          </a:p>
        </p:txBody>
      </p:sp>
      <p:sp>
        <p:nvSpPr>
          <p:cNvPr id="3" name="直排文字預留位置 2"/>
          <p:cNvSpPr>
            <a:spLocks noGrp="1"/>
          </p:cNvSpPr>
          <p:nvPr>
            <p:ph type="body" orient="vert" idx="1"/>
          </p:nvPr>
        </p:nvSpPr>
        <p:spPr/>
        <p:txBody>
          <a:bodyPr vert="eaVert" lIns="45720" tIns="0" rIns="45720" bIns="0" rtlCol="0"/>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en-US" dirty="0"/>
          </a:p>
        </p:txBody>
      </p:sp>
      <p:sp>
        <p:nvSpPr>
          <p:cNvPr id="7" name="日期版面配置區 6">
            <a:extLst>
              <a:ext uri="{FF2B5EF4-FFF2-40B4-BE49-F238E27FC236}">
                <a16:creationId xmlns:a16="http://schemas.microsoft.com/office/drawing/2014/main" id="{7D5506EE-1026-4F35-9ACC-BD05BE0F9B36}"/>
              </a:ext>
            </a:extLst>
          </p:cNvPr>
          <p:cNvSpPr>
            <a:spLocks noGrp="1"/>
          </p:cNvSpPr>
          <p:nvPr>
            <p:ph type="dt" sz="half" idx="10"/>
          </p:nvPr>
        </p:nvSpPr>
        <p:spPr/>
        <p:txBody>
          <a:bodyPr rtlCol="0"/>
          <a:lstStyle/>
          <a:p>
            <a:pPr rtl="0"/>
            <a:fld id="{13492946-14D6-45E4-BC2B-6A57E4082C2D}" type="datetime1">
              <a:rPr lang="zh-TW" altLang="en-US" smtClean="0"/>
              <a:t>2026/4/18</a:t>
            </a:fld>
            <a:endParaRPr lang="en-US" dirty="0"/>
          </a:p>
        </p:txBody>
      </p:sp>
      <p:sp>
        <p:nvSpPr>
          <p:cNvPr id="8" name="頁尾版面配置區 7">
            <a:extLst>
              <a:ext uri="{FF2B5EF4-FFF2-40B4-BE49-F238E27FC236}">
                <a16:creationId xmlns:a16="http://schemas.microsoft.com/office/drawing/2014/main" id="{B7696E5F-8D95-4450-AE52-5438E6EDE2BF}"/>
              </a:ext>
            </a:extLst>
          </p:cNvPr>
          <p:cNvSpPr>
            <a:spLocks noGrp="1"/>
          </p:cNvSpPr>
          <p:nvPr>
            <p:ph type="ftr" sz="quarter" idx="11"/>
          </p:nvPr>
        </p:nvSpPr>
        <p:spPr/>
        <p:txBody>
          <a:bodyPr rtlCol="0"/>
          <a:lstStyle/>
          <a:p>
            <a:pPr rtl="0"/>
            <a:endParaRPr lang="en-US" dirty="0"/>
          </a:p>
        </p:txBody>
      </p:sp>
      <p:sp>
        <p:nvSpPr>
          <p:cNvPr id="9" name="投影片編號預留位置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直排標題 1"/>
          <p:cNvSpPr>
            <a:spLocks noGrp="1"/>
          </p:cNvSpPr>
          <p:nvPr>
            <p:ph type="title" orient="vert"/>
          </p:nvPr>
        </p:nvSpPr>
        <p:spPr>
          <a:xfrm>
            <a:off x="8724900" y="412302"/>
            <a:ext cx="2628900" cy="5759898"/>
          </a:xfrm>
        </p:spPr>
        <p:txBody>
          <a:bodyPr vert="eaVert" rtlCol="0"/>
          <a:lstStyle/>
          <a:p>
            <a:pPr rtl="0"/>
            <a:r>
              <a:rPr lang="zh-TW" altLang="en-US"/>
              <a:t>按一下以編輯母片標題樣式</a:t>
            </a:r>
            <a:endParaRPr lang="en-US" dirty="0"/>
          </a:p>
        </p:txBody>
      </p:sp>
      <p:sp>
        <p:nvSpPr>
          <p:cNvPr id="3" name="直排文字預留位置 2"/>
          <p:cNvSpPr>
            <a:spLocks noGrp="1"/>
          </p:cNvSpPr>
          <p:nvPr>
            <p:ph type="body" orient="vert" idx="1"/>
          </p:nvPr>
        </p:nvSpPr>
        <p:spPr>
          <a:xfrm>
            <a:off x="838200" y="412302"/>
            <a:ext cx="7734300" cy="5759898"/>
          </a:xfrm>
        </p:spPr>
        <p:txBody>
          <a:bodyPr vert="eaVert" lIns="45720" tIns="0" rIns="45720" bIns="0" rtlCol="0"/>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en-US" dirty="0"/>
          </a:p>
        </p:txBody>
      </p:sp>
      <p:sp>
        <p:nvSpPr>
          <p:cNvPr id="7" name="日期版面配置區 6">
            <a:extLst>
              <a:ext uri="{FF2B5EF4-FFF2-40B4-BE49-F238E27FC236}">
                <a16:creationId xmlns:a16="http://schemas.microsoft.com/office/drawing/2014/main" id="{AF33D6B0-F070-45C4-A472-19F432BE3932}"/>
              </a:ext>
            </a:extLst>
          </p:cNvPr>
          <p:cNvSpPr>
            <a:spLocks noGrp="1"/>
          </p:cNvSpPr>
          <p:nvPr>
            <p:ph type="dt" sz="half" idx="10"/>
          </p:nvPr>
        </p:nvSpPr>
        <p:spPr/>
        <p:txBody>
          <a:bodyPr rtlCol="0"/>
          <a:lstStyle/>
          <a:p>
            <a:pPr rtl="0"/>
            <a:fld id="{B1CC5B1E-06AC-44D4-B39C-56597DAA03E6}" type="datetime1">
              <a:rPr lang="zh-TW" altLang="en-US" smtClean="0"/>
              <a:t>2026/4/18</a:t>
            </a:fld>
            <a:endParaRPr lang="en-US" dirty="0"/>
          </a:p>
        </p:txBody>
      </p:sp>
      <p:sp>
        <p:nvSpPr>
          <p:cNvPr id="8" name="頁尾版面配置區 7">
            <a:extLst>
              <a:ext uri="{FF2B5EF4-FFF2-40B4-BE49-F238E27FC236}">
                <a16:creationId xmlns:a16="http://schemas.microsoft.com/office/drawing/2014/main" id="{9975399F-DAB2-410D-967F-ED17E6F796E7}"/>
              </a:ext>
            </a:extLst>
          </p:cNvPr>
          <p:cNvSpPr>
            <a:spLocks noGrp="1"/>
          </p:cNvSpPr>
          <p:nvPr>
            <p:ph type="ftr" sz="quarter" idx="11"/>
          </p:nvPr>
        </p:nvSpPr>
        <p:spPr/>
        <p:txBody>
          <a:bodyPr rtlCol="0"/>
          <a:lstStyle/>
          <a:p>
            <a:pPr rtl="0"/>
            <a:endParaRPr lang="en-US" dirty="0"/>
          </a:p>
        </p:txBody>
      </p:sp>
      <p:sp>
        <p:nvSpPr>
          <p:cNvPr id="10" name="投影片編號版面配置區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標題版面配置區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pPr rtl="0"/>
            <a:r>
              <a:rPr lang="zh-tw" dirty="0"/>
              <a:t>按一下以編輯母片標題樣式</a:t>
            </a:r>
            <a:endParaRPr lang="en-US" dirty="0"/>
          </a:p>
        </p:txBody>
      </p:sp>
      <p:sp>
        <p:nvSpPr>
          <p:cNvPr id="3" name="文字預留位置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rtl="0"/>
            <a:r>
              <a:rPr lang="zh-tw" dirty="0"/>
              <a:t>按一下以編輯母片文字樣式</a:t>
            </a:r>
          </a:p>
          <a:p>
            <a:pPr lvl="1" rtl="0"/>
            <a:r>
              <a:rPr lang="zh-tw" dirty="0"/>
              <a:t>第二層</a:t>
            </a:r>
          </a:p>
          <a:p>
            <a:pPr lvl="2" rtl="0"/>
            <a:r>
              <a:rPr lang="zh-tw" dirty="0"/>
              <a:t>第三層</a:t>
            </a:r>
          </a:p>
          <a:p>
            <a:pPr lvl="3" rtl="0"/>
            <a:r>
              <a:rPr lang="zh-tw" dirty="0"/>
              <a:t>第四層</a:t>
            </a:r>
          </a:p>
          <a:p>
            <a:pPr lvl="4" rtl="0"/>
            <a:r>
              <a:rPr lang="zh-tw" dirty="0"/>
              <a:t>第五層</a:t>
            </a:r>
            <a:endParaRPr lang="en-US" dirty="0"/>
          </a:p>
        </p:txBody>
      </p:sp>
      <p:sp>
        <p:nvSpPr>
          <p:cNvPr id="4" name="日期版面配置區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latin typeface="Microsoft JhengHei UI" panose="020B0604030504040204" pitchFamily="34" charset="-120"/>
                <a:ea typeface="Microsoft JhengHei UI" panose="020B0604030504040204" pitchFamily="34" charset="-120"/>
              </a:defRPr>
            </a:lvl1pPr>
          </a:lstStyle>
          <a:p>
            <a:fld id="{1A0BE5DD-BCB2-4827-A6D1-925B46897826}" type="datetime1">
              <a:rPr lang="zh-TW" altLang="en-US" smtClean="0"/>
              <a:t>2026/4/18</a:t>
            </a:fld>
            <a:endParaRPr lang="en-US" dirty="0"/>
          </a:p>
        </p:txBody>
      </p:sp>
      <p:sp>
        <p:nvSpPr>
          <p:cNvPr id="5" name="頁尾預留位置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latin typeface="Microsoft JhengHei UI" panose="020B0604030504040204" pitchFamily="34" charset="-120"/>
                <a:ea typeface="Microsoft JhengHei UI" panose="020B0604030504040204" pitchFamily="34" charset="-120"/>
              </a:defRPr>
            </a:lvl1pPr>
          </a:lstStyle>
          <a:p>
            <a:endParaRPr lang="en-US" dirty="0"/>
          </a:p>
        </p:txBody>
      </p:sp>
      <p:sp>
        <p:nvSpPr>
          <p:cNvPr id="6" name="投影片編號版面配置區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latin typeface="Microsoft JhengHei UI" panose="020B0604030504040204" pitchFamily="34" charset="-120"/>
                <a:ea typeface="Microsoft JhengHei UI" panose="020B0604030504040204" pitchFamily="34" charset="-120"/>
              </a:defRPr>
            </a:lvl1pPr>
          </a:lstStyle>
          <a:p>
            <a:fld id="{3A98EE3D-8CD1-4C3F-BD1C-C98C9596463C}" type="slidenum">
              <a:rPr lang="en-US" smtClean="0"/>
              <a:pPr/>
              <a:t>‹#›</a:t>
            </a:fld>
            <a:endParaRPr lang="en-US" dirty="0"/>
          </a:p>
        </p:txBody>
      </p:sp>
      <p:cxnSp>
        <p:nvCxnSpPr>
          <p:cNvPr id="10" name="直線接點​​(S)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hdr="0" ftr="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ingLiu" panose="02020509000000000000" pitchFamily="49" charset="-120"/>
          <a:ea typeface="MingLiu" panose="02020509000000000000" pitchFamily="49" charset="-120"/>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27F307-9824-4861-C708-43513D6BA0FD}"/>
              </a:ext>
            </a:extLst>
          </p:cNvPr>
          <p:cNvSpPr>
            <a:spLocks noGrp="1"/>
          </p:cNvSpPr>
          <p:nvPr>
            <p:ph type="title"/>
          </p:nvPr>
        </p:nvSpPr>
        <p:spPr/>
        <p:txBody>
          <a:bodyPr anchor="ctr">
            <a:normAutofit/>
          </a:bodyPr>
          <a:lstStyle/>
          <a:p>
            <a:r>
              <a:rPr kumimoji="0" lang="en-US" altLang="zh-TW" sz="5600" b="0" i="0" u="none" strike="noStrike" kern="1200" cap="none" spc="-5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j-cs"/>
              </a:rPr>
              <a:t>Moment-Curvature Behavior</a:t>
            </a:r>
            <a:endParaRPr lang="zh-TW" altLang="en-US" sz="5600" dirty="0">
              <a:solidFill>
                <a:schemeClr val="tx1"/>
              </a:solidFill>
            </a:endParaRPr>
          </a:p>
        </p:txBody>
      </p:sp>
      <p:sp>
        <p:nvSpPr>
          <p:cNvPr id="5" name="文字版面配置區 2">
            <a:extLst>
              <a:ext uri="{FF2B5EF4-FFF2-40B4-BE49-F238E27FC236}">
                <a16:creationId xmlns:a16="http://schemas.microsoft.com/office/drawing/2014/main" id="{78EBCCE2-C830-08C3-B705-E29D3B8B0BDA}"/>
              </a:ext>
            </a:extLst>
          </p:cNvPr>
          <p:cNvSpPr>
            <a:spLocks noGrp="1"/>
          </p:cNvSpPr>
          <p:nvPr>
            <p:ph type="body" idx="1"/>
          </p:nvPr>
        </p:nvSpPr>
        <p:spPr>
          <a:xfrm>
            <a:off x="1097280" y="4558413"/>
            <a:ext cx="4154342" cy="1786788"/>
          </a:xfrm>
        </p:spPr>
        <p:txBody>
          <a:bodyPr anchor="ctr">
            <a:normAutofit/>
          </a:bodyPr>
          <a:lstStyle/>
          <a:p>
            <a:pPr>
              <a:lnSpc>
                <a:spcPct val="150000"/>
              </a:lnSpc>
              <a:spcBef>
                <a:spcPts val="0"/>
              </a:spcBef>
              <a:spcAft>
                <a:spcPts val="0"/>
              </a:spcAft>
            </a:pPr>
            <a:r>
              <a:rPr lang="en-US" altLang="zh-TW" cap="none" dirty="0"/>
              <a:t>Yu-Hung, Lin</a:t>
            </a:r>
          </a:p>
          <a:p>
            <a:pPr>
              <a:lnSpc>
                <a:spcPct val="150000"/>
              </a:lnSpc>
              <a:spcBef>
                <a:spcPts val="0"/>
              </a:spcBef>
              <a:spcAft>
                <a:spcPts val="0"/>
              </a:spcAft>
            </a:pPr>
            <a:r>
              <a:rPr lang="en-US" altLang="zh-TW" cap="none" dirty="0"/>
              <a:t>Ping-Xu, Lin</a:t>
            </a:r>
          </a:p>
          <a:p>
            <a:pPr>
              <a:lnSpc>
                <a:spcPct val="150000"/>
              </a:lnSpc>
              <a:spcBef>
                <a:spcPts val="0"/>
              </a:spcBef>
              <a:spcAft>
                <a:spcPts val="0"/>
              </a:spcAft>
            </a:pPr>
            <a:r>
              <a:rPr lang="en-US" altLang="zh-TW" cap="none" dirty="0"/>
              <a:t>Rhaditya Viansyah A.</a:t>
            </a:r>
            <a:endParaRPr lang="en-US" altLang="zh-TW" b="1" cap="none" dirty="0"/>
          </a:p>
        </p:txBody>
      </p:sp>
      <p:sp>
        <p:nvSpPr>
          <p:cNvPr id="6" name="文字版面配置區 2">
            <a:extLst>
              <a:ext uri="{FF2B5EF4-FFF2-40B4-BE49-F238E27FC236}">
                <a16:creationId xmlns:a16="http://schemas.microsoft.com/office/drawing/2014/main" id="{5797D6E5-FAF4-01E9-5EA6-81DC068CF3C0}"/>
              </a:ext>
            </a:extLst>
          </p:cNvPr>
          <p:cNvSpPr txBox="1">
            <a:spLocks/>
          </p:cNvSpPr>
          <p:nvPr/>
        </p:nvSpPr>
        <p:spPr>
          <a:xfrm>
            <a:off x="5002839" y="4558413"/>
            <a:ext cx="2247282" cy="1786788"/>
          </a:xfrm>
          <a:prstGeom prst="rect">
            <a:avLst/>
          </a:prstGeom>
        </p:spPr>
        <p:txBody>
          <a:bodyPr vert="horz" lIns="91440" tIns="45720" rIns="91440" bIns="45720" rtlCol="0" anchor="ctr" anchorCtr="0">
            <a:normAutofit/>
          </a:bodyPr>
          <a:lstStyle>
            <a:lvl1pPr marL="0" indent="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1"/>
                </a:solidFill>
                <a:latin typeface="微軟正黑體" panose="020B0604030504040204" pitchFamily="34" charset="-120"/>
                <a:ea typeface="微軟正黑體" panose="020B0604030504040204" pitchFamily="34" charset="-120"/>
                <a:cs typeface="+mn-cs"/>
              </a:defRPr>
            </a:lvl1pPr>
            <a:lvl2pPr marL="457200" indent="0" algn="l" defTabSz="914400" rtl="0" eaLnBrk="1" latinLnBrk="0" hangingPunct="1">
              <a:lnSpc>
                <a:spcPct val="100000"/>
              </a:lnSpc>
              <a:spcBef>
                <a:spcPts val="200"/>
              </a:spcBef>
              <a:spcAft>
                <a:spcPts val="400"/>
              </a:spcAft>
              <a:buClrTx/>
              <a:buFont typeface="Calibri" pitchFamily="34" charset="0"/>
              <a:buNone/>
              <a:defRPr sz="1800" kern="1200">
                <a:solidFill>
                  <a:schemeClr val="tx1">
                    <a:tint val="75000"/>
                  </a:schemeClr>
                </a:solidFill>
                <a:latin typeface="Microsoft JhengHei UI" panose="020B0604030504040204" pitchFamily="34" charset="-120"/>
                <a:ea typeface="Microsoft JhengHei UI" panose="020B0604030504040204" pitchFamily="34" charset="-120"/>
                <a:cs typeface="+mn-cs"/>
              </a:defRPr>
            </a:lvl2pPr>
            <a:lvl3pPr marL="914400" indent="0" algn="l" defTabSz="914400" rtl="0" eaLnBrk="1" latinLnBrk="0" hangingPunct="1">
              <a:lnSpc>
                <a:spcPct val="100000"/>
              </a:lnSpc>
              <a:spcBef>
                <a:spcPts val="200"/>
              </a:spcBef>
              <a:spcAft>
                <a:spcPts val="400"/>
              </a:spcAft>
              <a:buClrTx/>
              <a:buFont typeface="Calibri" pitchFamily="34" charset="0"/>
              <a:buNone/>
              <a:defRPr sz="1600" kern="1200">
                <a:solidFill>
                  <a:schemeClr val="tx1">
                    <a:tint val="75000"/>
                  </a:schemeClr>
                </a:solidFill>
                <a:latin typeface="Microsoft JhengHei UI" panose="020B0604030504040204" pitchFamily="34" charset="-120"/>
                <a:ea typeface="Microsoft JhengHei UI" panose="020B0604030504040204" pitchFamily="34" charset="-120"/>
                <a:cs typeface="+mn-cs"/>
              </a:defRPr>
            </a:lvl3pPr>
            <a:lvl4pPr marL="1371600" indent="0" algn="l" defTabSz="914400" rtl="0" eaLnBrk="1" latinLnBrk="0" hangingPunct="1">
              <a:lnSpc>
                <a:spcPct val="100000"/>
              </a:lnSpc>
              <a:spcBef>
                <a:spcPts val="200"/>
              </a:spcBef>
              <a:spcAft>
                <a:spcPts val="400"/>
              </a:spcAft>
              <a:buClrTx/>
              <a:buFont typeface="Calibri" pitchFamily="34" charset="0"/>
              <a:buNone/>
              <a:defRPr sz="1400" kern="1200">
                <a:solidFill>
                  <a:schemeClr val="tx1">
                    <a:tint val="75000"/>
                  </a:schemeClr>
                </a:solidFill>
                <a:latin typeface="Microsoft JhengHei UI" panose="020B0604030504040204" pitchFamily="34" charset="-120"/>
                <a:ea typeface="Microsoft JhengHei UI" panose="020B0604030504040204" pitchFamily="34" charset="-120"/>
                <a:cs typeface="+mn-cs"/>
              </a:defRPr>
            </a:lvl4pPr>
            <a:lvl5pPr marL="1828800" indent="0" algn="l" defTabSz="914400" rtl="0" eaLnBrk="1" latinLnBrk="0" hangingPunct="1">
              <a:lnSpc>
                <a:spcPct val="100000"/>
              </a:lnSpc>
              <a:spcBef>
                <a:spcPts val="200"/>
              </a:spcBef>
              <a:spcAft>
                <a:spcPts val="400"/>
              </a:spcAft>
              <a:buClrTx/>
              <a:buFont typeface="Calibri" pitchFamily="34" charset="0"/>
              <a:buNone/>
              <a:defRPr sz="1400" kern="1200">
                <a:solidFill>
                  <a:schemeClr val="tx1">
                    <a:tint val="75000"/>
                  </a:schemeClr>
                </a:solidFill>
                <a:latin typeface="Microsoft JhengHei UI" panose="020B0604030504040204" pitchFamily="34" charset="-120"/>
                <a:ea typeface="Microsoft JhengHei UI" panose="020B0604030504040204" pitchFamily="34" charset="-120"/>
                <a:cs typeface="+mn-cs"/>
              </a:defRPr>
            </a:lvl5pPr>
            <a:lvl6pPr marL="2286000"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tint val="75000"/>
                  </a:schemeClr>
                </a:solidFill>
                <a:latin typeface="+mn-lt"/>
                <a:ea typeface="+mn-ea"/>
                <a:cs typeface="+mn-cs"/>
              </a:defRPr>
            </a:lvl9pPr>
          </a:lstStyle>
          <a:p>
            <a:pPr>
              <a:lnSpc>
                <a:spcPct val="150000"/>
              </a:lnSpc>
              <a:spcBef>
                <a:spcPts val="0"/>
              </a:spcBef>
              <a:spcAft>
                <a:spcPts val="0"/>
              </a:spcAft>
            </a:pPr>
            <a:r>
              <a:rPr lang="en-US" altLang="zh-TW" cap="none" dirty="0"/>
              <a:t>N66144220</a:t>
            </a:r>
          </a:p>
          <a:p>
            <a:pPr>
              <a:lnSpc>
                <a:spcPct val="150000"/>
              </a:lnSpc>
              <a:spcBef>
                <a:spcPts val="0"/>
              </a:spcBef>
              <a:spcAft>
                <a:spcPts val="0"/>
              </a:spcAft>
            </a:pPr>
            <a:r>
              <a:rPr lang="en-US" altLang="zh-TW" cap="none" dirty="0"/>
              <a:t>N66141125</a:t>
            </a:r>
          </a:p>
          <a:p>
            <a:pPr>
              <a:lnSpc>
                <a:spcPct val="150000"/>
              </a:lnSpc>
              <a:spcBef>
                <a:spcPts val="0"/>
              </a:spcBef>
              <a:spcAft>
                <a:spcPts val="0"/>
              </a:spcAft>
            </a:pPr>
            <a:r>
              <a:rPr lang="en-US" altLang="zh-TW" cap="none" dirty="0"/>
              <a:t>E64148458</a:t>
            </a:r>
            <a:endParaRPr lang="en-US" altLang="zh-TW" b="1" cap="none" dirty="0"/>
          </a:p>
        </p:txBody>
      </p:sp>
    </p:spTree>
    <p:extLst>
      <p:ext uri="{BB962C8B-B14F-4D97-AF65-F5344CB8AC3E}">
        <p14:creationId xmlns:p14="http://schemas.microsoft.com/office/powerpoint/2010/main" val="2925550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DFD454-8F49-944B-4338-40B8EFFCB038}"/>
              </a:ext>
            </a:extLst>
          </p:cNvPr>
          <p:cNvSpPr>
            <a:spLocks noGrp="1"/>
          </p:cNvSpPr>
          <p:nvPr>
            <p:ph type="title"/>
          </p:nvPr>
        </p:nvSpPr>
        <p:spPr/>
        <p:txBody>
          <a:bodyPr/>
          <a:lstStyle/>
          <a:p>
            <a:r>
              <a:rPr lang="en-US" altLang="zh-TW" dirty="0"/>
              <a:t>Table of content</a:t>
            </a:r>
            <a:endParaRPr lang="zh-TW" altLang="en-US" dirty="0"/>
          </a:p>
        </p:txBody>
      </p:sp>
      <p:sp>
        <p:nvSpPr>
          <p:cNvPr id="3" name="內容版面配置區 2">
            <a:extLst>
              <a:ext uri="{FF2B5EF4-FFF2-40B4-BE49-F238E27FC236}">
                <a16:creationId xmlns:a16="http://schemas.microsoft.com/office/drawing/2014/main" id="{873ADCB0-2883-9977-FA76-4E36974F5B4B}"/>
              </a:ext>
            </a:extLst>
          </p:cNvPr>
          <p:cNvSpPr>
            <a:spLocks noGrp="1"/>
          </p:cNvSpPr>
          <p:nvPr>
            <p:ph idx="1"/>
          </p:nvPr>
        </p:nvSpPr>
        <p:spPr>
          <a:xfrm>
            <a:off x="1097280" y="1816450"/>
            <a:ext cx="5779255" cy="4497858"/>
          </a:xfrm>
        </p:spPr>
        <p:txBody>
          <a:bodyPr>
            <a:normAutofit/>
          </a:bodyPr>
          <a:lstStyle/>
          <a:p>
            <a:pPr marL="324000" indent="-324000">
              <a:lnSpc>
                <a:spcPct val="200000"/>
              </a:lnSpc>
              <a:spcAft>
                <a:spcPts val="0"/>
              </a:spcAft>
              <a:buClrTx/>
              <a:buFont typeface="+mj-lt"/>
              <a:buAutoNum type="arabicPeriod"/>
            </a:pPr>
            <a:r>
              <a:rPr lang="en-US" altLang="zh-TW" sz="2400" dirty="0">
                <a:solidFill>
                  <a:schemeClr val="tx1"/>
                </a:solidFill>
              </a:rPr>
              <a:t>Section properties</a:t>
            </a:r>
          </a:p>
          <a:p>
            <a:pPr marL="324000" indent="-324000">
              <a:lnSpc>
                <a:spcPct val="200000"/>
              </a:lnSpc>
              <a:spcAft>
                <a:spcPts val="0"/>
              </a:spcAft>
              <a:buClrTx/>
              <a:buFont typeface="+mj-lt"/>
              <a:buAutoNum type="arabicPeriod"/>
            </a:pPr>
            <a:r>
              <a:rPr lang="en-US" altLang="zh-TW" sz="2400" dirty="0">
                <a:solidFill>
                  <a:schemeClr val="tx1"/>
                </a:solidFill>
              </a:rPr>
              <a:t>Parameter selection</a:t>
            </a:r>
          </a:p>
          <a:p>
            <a:pPr marL="324000" indent="-324000">
              <a:lnSpc>
                <a:spcPct val="200000"/>
              </a:lnSpc>
              <a:spcAft>
                <a:spcPts val="0"/>
              </a:spcAft>
              <a:buClrTx/>
              <a:buFont typeface="+mj-lt"/>
              <a:buAutoNum type="arabicPeriod"/>
            </a:pPr>
            <a:r>
              <a:rPr lang="en-US" altLang="zh-TW" sz="2400" dirty="0">
                <a:solidFill>
                  <a:schemeClr val="tx1"/>
                </a:solidFill>
              </a:rPr>
              <a:t>OpenSees analysis</a:t>
            </a:r>
          </a:p>
          <a:p>
            <a:pPr marL="324000" indent="-324000">
              <a:lnSpc>
                <a:spcPct val="200000"/>
              </a:lnSpc>
              <a:spcAft>
                <a:spcPts val="0"/>
              </a:spcAft>
              <a:buClrTx/>
              <a:buFont typeface="+mj-lt"/>
              <a:buAutoNum type="arabicPeriod"/>
            </a:pPr>
            <a:r>
              <a:rPr lang="en-US" altLang="zh-TW" dirty="0">
                <a:solidFill>
                  <a:schemeClr val="tx1"/>
                </a:solidFill>
              </a:rPr>
              <a:t>Xtract analysis</a:t>
            </a:r>
          </a:p>
          <a:p>
            <a:pPr marL="324000" indent="-324000">
              <a:lnSpc>
                <a:spcPct val="200000"/>
              </a:lnSpc>
              <a:spcAft>
                <a:spcPts val="0"/>
              </a:spcAft>
              <a:buClrTx/>
              <a:buFont typeface="+mj-lt"/>
              <a:buAutoNum type="arabicPeriod"/>
            </a:pPr>
            <a:r>
              <a:rPr lang="en-US" altLang="zh-TW" sz="2400" dirty="0">
                <a:solidFill>
                  <a:schemeClr val="tx1"/>
                </a:solidFill>
              </a:rPr>
              <a:t>Comparison &amp; Justification</a:t>
            </a:r>
          </a:p>
          <a:p>
            <a:pPr marL="324000" indent="-324000">
              <a:lnSpc>
                <a:spcPct val="200000"/>
              </a:lnSpc>
              <a:spcAft>
                <a:spcPts val="0"/>
              </a:spcAft>
              <a:buClrTx/>
              <a:buFont typeface="+mj-lt"/>
              <a:buAutoNum type="arabicPeriod"/>
            </a:pPr>
            <a:r>
              <a:rPr lang="en-US" altLang="zh-TW" sz="2400" dirty="0">
                <a:solidFill>
                  <a:schemeClr val="tx1"/>
                </a:solidFill>
              </a:rPr>
              <a:t>Conclusions</a:t>
            </a:r>
            <a:endParaRPr lang="zh-TW" altLang="en-US" sz="2400" dirty="0">
              <a:solidFill>
                <a:schemeClr val="tx1"/>
              </a:solidFill>
            </a:endParaRPr>
          </a:p>
        </p:txBody>
      </p:sp>
      <p:sp>
        <p:nvSpPr>
          <p:cNvPr id="4" name="投影片編號版面配置區 3">
            <a:extLst>
              <a:ext uri="{FF2B5EF4-FFF2-40B4-BE49-F238E27FC236}">
                <a16:creationId xmlns:a16="http://schemas.microsoft.com/office/drawing/2014/main" id="{7D41958C-AAB7-25B5-B899-BD1EBEFD08FA}"/>
              </a:ext>
            </a:extLst>
          </p:cNvPr>
          <p:cNvSpPr>
            <a:spLocks noGrp="1"/>
          </p:cNvSpPr>
          <p:nvPr>
            <p:ph type="sldNum" sz="quarter" idx="12"/>
          </p:nvPr>
        </p:nvSpPr>
        <p:spPr/>
        <p:txBody>
          <a:bodyPr/>
          <a:lstStyle/>
          <a:p>
            <a:pPr rtl="0"/>
            <a:fld id="{3A98EE3D-8CD1-4C3F-BD1C-C98C9596463C}" type="slidenum">
              <a:rPr lang="en-US" smtClean="0"/>
              <a:t>2</a:t>
            </a:fld>
            <a:endParaRPr lang="en-US" dirty="0"/>
          </a:p>
        </p:txBody>
      </p:sp>
      <p:pic>
        <p:nvPicPr>
          <p:cNvPr id="5" name="S__110797071.jpg" descr="S__110797071.jpg">
            <a:extLst>
              <a:ext uri="{FF2B5EF4-FFF2-40B4-BE49-F238E27FC236}">
                <a16:creationId xmlns:a16="http://schemas.microsoft.com/office/drawing/2014/main" id="{FF93B1BA-43F5-4F1D-943B-8C76D8860312}"/>
              </a:ext>
            </a:extLst>
          </p:cNvPr>
          <p:cNvPicPr>
            <a:picLocks noChangeAspect="1"/>
          </p:cNvPicPr>
          <p:nvPr/>
        </p:nvPicPr>
        <p:blipFill>
          <a:blip r:embed="rId2"/>
          <a:stretch>
            <a:fillRect/>
          </a:stretch>
        </p:blipFill>
        <p:spPr>
          <a:xfrm>
            <a:off x="6621171" y="2416314"/>
            <a:ext cx="3301241" cy="1212572"/>
          </a:xfrm>
          <a:prstGeom prst="rect">
            <a:avLst/>
          </a:prstGeom>
          <a:ln w="12700">
            <a:miter lim="400000"/>
          </a:ln>
        </p:spPr>
      </p:pic>
      <p:pic>
        <p:nvPicPr>
          <p:cNvPr id="6" name="圖片 5">
            <a:extLst>
              <a:ext uri="{FF2B5EF4-FFF2-40B4-BE49-F238E27FC236}">
                <a16:creationId xmlns:a16="http://schemas.microsoft.com/office/drawing/2014/main" id="{D2668D02-2B08-4E8A-C4A7-FACC589845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9630" y="3843587"/>
            <a:ext cx="2064321" cy="2064321"/>
          </a:xfrm>
          <a:prstGeom prst="rect">
            <a:avLst/>
          </a:prstGeom>
        </p:spPr>
      </p:pic>
    </p:spTree>
    <p:extLst>
      <p:ext uri="{BB962C8B-B14F-4D97-AF65-F5344CB8AC3E}">
        <p14:creationId xmlns:p14="http://schemas.microsoft.com/office/powerpoint/2010/main" val="73115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7BCFA6-C4D6-AF2A-7D5A-753F26E16BEB}"/>
              </a:ext>
            </a:extLst>
          </p:cNvPr>
          <p:cNvSpPr>
            <a:spLocks noGrp="1"/>
          </p:cNvSpPr>
          <p:nvPr>
            <p:ph type="title"/>
          </p:nvPr>
        </p:nvSpPr>
        <p:spPr/>
        <p:txBody>
          <a:bodyPr/>
          <a:lstStyle/>
          <a:p>
            <a:r>
              <a:rPr lang="en-US" altLang="zh-TW" dirty="0"/>
              <a:t>Section properties</a:t>
            </a:r>
            <a:endParaRPr lang="zh-TW" altLang="en-US" dirty="0"/>
          </a:p>
        </p:txBody>
      </p:sp>
      <p:sp>
        <p:nvSpPr>
          <p:cNvPr id="3" name="內容版面配置區 2">
            <a:extLst>
              <a:ext uri="{FF2B5EF4-FFF2-40B4-BE49-F238E27FC236}">
                <a16:creationId xmlns:a16="http://schemas.microsoft.com/office/drawing/2014/main" id="{51985525-9821-CD27-0C65-2418D4EA1992}"/>
              </a:ext>
            </a:extLst>
          </p:cNvPr>
          <p:cNvSpPr>
            <a:spLocks noGrp="1"/>
          </p:cNvSpPr>
          <p:nvPr>
            <p:ph idx="1"/>
          </p:nvPr>
        </p:nvSpPr>
        <p:spPr>
          <a:xfrm>
            <a:off x="543697" y="5753446"/>
            <a:ext cx="889687" cy="418523"/>
          </a:xfrm>
        </p:spPr>
        <p:txBody>
          <a:bodyPr anchor="ctr">
            <a:normAutofit/>
          </a:bodyPr>
          <a:lstStyle/>
          <a:p>
            <a:pPr algn="ctr"/>
            <a:r>
              <a:rPr lang="en-US" altLang="zh-TW" sz="1400" dirty="0"/>
              <a:t>unit: mm</a:t>
            </a:r>
            <a:endParaRPr lang="zh-TW" altLang="en-US" sz="1400" dirty="0"/>
          </a:p>
        </p:txBody>
      </p:sp>
      <p:sp>
        <p:nvSpPr>
          <p:cNvPr id="4" name="投影片編號版面配置區 3">
            <a:extLst>
              <a:ext uri="{FF2B5EF4-FFF2-40B4-BE49-F238E27FC236}">
                <a16:creationId xmlns:a16="http://schemas.microsoft.com/office/drawing/2014/main" id="{E39B4F8B-D817-3837-476F-06DB3A800268}"/>
              </a:ext>
            </a:extLst>
          </p:cNvPr>
          <p:cNvSpPr>
            <a:spLocks noGrp="1"/>
          </p:cNvSpPr>
          <p:nvPr>
            <p:ph type="sldNum" sz="quarter" idx="12"/>
          </p:nvPr>
        </p:nvSpPr>
        <p:spPr/>
        <p:txBody>
          <a:bodyPr/>
          <a:lstStyle/>
          <a:p>
            <a:pPr rtl="0"/>
            <a:fld id="{3A98EE3D-8CD1-4C3F-BD1C-C98C9596463C}" type="slidenum">
              <a:rPr lang="en-US" smtClean="0"/>
              <a:t>3</a:t>
            </a:fld>
            <a:endParaRPr lang="en-US" dirty="0"/>
          </a:p>
        </p:txBody>
      </p:sp>
      <p:pic>
        <p:nvPicPr>
          <p:cNvPr id="7" name="HW1-Model.pdf" descr="HW1-Model.pdf">
            <a:extLst>
              <a:ext uri="{FF2B5EF4-FFF2-40B4-BE49-F238E27FC236}">
                <a16:creationId xmlns:a16="http://schemas.microsoft.com/office/drawing/2014/main" id="{0A486E0A-A8CE-0521-4650-FED9DEC59EB1}"/>
              </a:ext>
            </a:extLst>
          </p:cNvPr>
          <p:cNvPicPr>
            <a:picLocks noChangeAspect="1"/>
          </p:cNvPicPr>
          <p:nvPr/>
        </p:nvPicPr>
        <p:blipFill>
          <a:blip r:embed="rId2"/>
          <a:srcRect l="17758" t="11810" r="12237" b="25037"/>
          <a:stretch>
            <a:fillRect/>
          </a:stretch>
        </p:blipFill>
        <p:spPr>
          <a:xfrm>
            <a:off x="158167" y="2046416"/>
            <a:ext cx="5899461" cy="3760891"/>
          </a:xfrm>
          <a:prstGeom prst="rect">
            <a:avLst/>
          </a:prstGeom>
          <a:ln w="12700">
            <a:miter lim="400000"/>
          </a:ln>
        </p:spPr>
      </p:pic>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C0D980E7-D82A-A002-320B-FC0E7EB10485}"/>
                  </a:ext>
                </a:extLst>
              </p:cNvPr>
              <p:cNvSpPr txBox="1"/>
              <p:nvPr/>
            </p:nvSpPr>
            <p:spPr>
              <a:xfrm>
                <a:off x="6203092" y="2460434"/>
                <a:ext cx="5830741" cy="2932854"/>
              </a:xfrm>
              <a:prstGeom prst="rect">
                <a:avLst/>
              </a:prstGeom>
              <a:noFill/>
            </p:spPr>
            <p:txBody>
              <a:bodyPr wrap="square">
                <a:spAutoFit/>
              </a:bodyPr>
              <a:lstStyle/>
              <a:p>
                <a:pPr>
                  <a:lnSpc>
                    <a:spcPct val="200000"/>
                  </a:lnSpc>
                </a:pPr>
                <a:r>
                  <a:rPr lang="en-US" altLang="zh-TW" sz="2400" dirty="0">
                    <a:latin typeface="微軟正黑體" panose="020B0604030504040204" pitchFamily="34" charset="-120"/>
                    <a:ea typeface="微軟正黑體" panose="020B0604030504040204" pitchFamily="34" charset="-120"/>
                  </a:rPr>
                  <a:t>Longitudinal bars: #8-D25</a:t>
                </a:r>
              </a:p>
              <a:p>
                <a:pPr>
                  <a:lnSpc>
                    <a:spcPct val="200000"/>
                  </a:lnSpc>
                </a:pPr>
                <a:r>
                  <a:rPr lang="en-US" altLang="zh-TW" sz="2400" dirty="0">
                    <a:latin typeface="微軟正黑體" panose="020B0604030504040204" pitchFamily="34" charset="-120"/>
                    <a:ea typeface="微軟正黑體" panose="020B0604030504040204" pitchFamily="34" charset="-120"/>
                  </a:rPr>
                  <a:t>Reinforcing ratio (longi.): 2.25%</a:t>
                </a:r>
              </a:p>
              <a:p>
                <a:pPr>
                  <a:lnSpc>
                    <a:spcPct val="200000"/>
                  </a:lnSpc>
                </a:pPr>
                <a:r>
                  <a:rPr lang="en-US" altLang="zh-TW" sz="2400" dirty="0">
                    <a:latin typeface="微軟正黑體" panose="020B0604030504040204" pitchFamily="34" charset="-120"/>
                    <a:ea typeface="微軟正黑體" panose="020B0604030504040204" pitchFamily="34" charset="-120"/>
                  </a:rPr>
                  <a:t>Transverse bars: #4-D19</a:t>
                </a:r>
              </a:p>
              <a:p>
                <a:pPr>
                  <a:lnSpc>
                    <a:spcPct val="200000"/>
                  </a:lnSpc>
                </a:pPr>
                <a:r>
                  <a:rPr lang="en-US" altLang="zh-TW" sz="2400" dirty="0">
                    <a:latin typeface="微軟正黑體" panose="020B0604030504040204" pitchFamily="34" charset="-120"/>
                    <a:ea typeface="微軟正黑體" panose="020B0604030504040204" pitchFamily="34" charset="-120"/>
                  </a:rPr>
                  <a:t>Section Area: 60 x 60 </a:t>
                </a:r>
                <a14:m>
                  <m:oMath xmlns:m="http://schemas.openxmlformats.org/officeDocument/2006/math">
                    <m:r>
                      <a:rPr lang="en-US" altLang="zh-TW" sz="2400" i="1">
                        <a:solidFill>
                          <a:srgbClr val="000000"/>
                        </a:solidFill>
                        <a:latin typeface="Cambria Math" panose="02040503050406030204" pitchFamily="18" charset="0"/>
                      </a:rPr>
                      <m:t>𝑐</m:t>
                    </m:r>
                    <m:r>
                      <a:rPr lang="en-US" altLang="zh-TW" sz="2400" b="0" i="1" smtClean="0">
                        <a:solidFill>
                          <a:srgbClr val="000000"/>
                        </a:solidFill>
                        <a:latin typeface="Cambria Math" panose="02040503050406030204" pitchFamily="18" charset="0"/>
                      </a:rPr>
                      <m:t>𝑚</m:t>
                    </m:r>
                  </m:oMath>
                </a14:m>
                <a:endParaRPr lang="ar-AE" altLang="zh-TW" sz="2400" dirty="0">
                  <a:solidFill>
                    <a:srgbClr val="000000"/>
                  </a:solidFill>
                  <a:latin typeface="微軟正黑體" panose="020B0604030504040204" pitchFamily="34" charset="-120"/>
                  <a:ea typeface="微軟正黑體" panose="020B0604030504040204" pitchFamily="34" charset="-120"/>
                </a:endParaRPr>
              </a:p>
            </p:txBody>
          </p:sp>
        </mc:Choice>
        <mc:Fallback xmlns="">
          <p:sp>
            <p:nvSpPr>
              <p:cNvPr id="9" name="文字方塊 8">
                <a:extLst>
                  <a:ext uri="{FF2B5EF4-FFF2-40B4-BE49-F238E27FC236}">
                    <a16:creationId xmlns:a16="http://schemas.microsoft.com/office/drawing/2014/main" id="{C0D980E7-D82A-A002-320B-FC0E7EB10485}"/>
                  </a:ext>
                </a:extLst>
              </p:cNvPr>
              <p:cNvSpPr txBox="1">
                <a:spLocks noRot="1" noChangeAspect="1" noMove="1" noResize="1" noEditPoints="1" noAdjustHandles="1" noChangeArrowheads="1" noChangeShapeType="1" noTextEdit="1"/>
              </p:cNvSpPr>
              <p:nvPr/>
            </p:nvSpPr>
            <p:spPr>
              <a:xfrm>
                <a:off x="6203092" y="2460434"/>
                <a:ext cx="5830741" cy="2932854"/>
              </a:xfrm>
              <a:prstGeom prst="rect">
                <a:avLst/>
              </a:prstGeom>
              <a:blipFill>
                <a:blip r:embed="rId3"/>
                <a:stretch>
                  <a:fillRect l="-1674" b="-395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92522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2">
            <a:extLst>
              <a:ext uri="{FF2B5EF4-FFF2-40B4-BE49-F238E27FC236}">
                <a16:creationId xmlns:a16="http://schemas.microsoft.com/office/drawing/2014/main" id="{886CB57F-53C9-251B-AFE5-76CBAF49B443}"/>
              </a:ext>
            </a:extLst>
          </p:cNvPr>
          <p:cNvSpPr txBox="1">
            <a:spLocks/>
          </p:cNvSpPr>
          <p:nvPr/>
        </p:nvSpPr>
        <p:spPr>
          <a:xfrm>
            <a:off x="2316480" y="4045639"/>
            <a:ext cx="5248812" cy="2205531"/>
          </a:xfrm>
          <a:prstGeom prst="rect">
            <a:avLst/>
          </a:prstGeom>
        </p:spPr>
        <p:txBody>
          <a:bodyPr vert="horz" lIns="0" tIns="45720" rIns="0" bIns="45720" rtlCol="0">
            <a:normAutofit fontScale="92500" lnSpcReduction="10000"/>
          </a:bodyPr>
          <a:lstStyle>
            <a:lvl1pPr marL="91440" indent="-91440" algn="just" defTabSz="914400" rtl="0" eaLnBrk="1" latinLnBrk="0" hangingPunct="1">
              <a:lnSpc>
                <a:spcPct val="150000"/>
              </a:lnSpc>
              <a:spcBef>
                <a:spcPts val="0"/>
              </a:spcBef>
              <a:spcAft>
                <a:spcPts val="0"/>
              </a:spcAft>
              <a:buClr>
                <a:schemeClr val="accent1"/>
              </a:buClr>
              <a:buSzPct val="100000"/>
              <a:buFontTx/>
              <a:buNone/>
              <a:defRPr sz="2400" kern="1200">
                <a:solidFill>
                  <a:schemeClr val="tx1"/>
                </a:solidFill>
                <a:latin typeface="微軟正黑體" panose="020B0604030504040204" pitchFamily="34" charset="-120"/>
                <a:ea typeface="微軟正黑體" panose="020B0604030504040204" pitchFamily="34" charset="-120"/>
                <a:cs typeface="+mn-cs"/>
              </a:defRPr>
            </a:lvl1pPr>
            <a:lvl2pPr marL="384048" indent="-182880" algn="just" defTabSz="914400" rtl="0" eaLnBrk="1" latinLnBrk="0" hangingPunct="1">
              <a:lnSpc>
                <a:spcPct val="150000"/>
              </a:lnSpc>
              <a:spcBef>
                <a:spcPts val="0"/>
              </a:spcBef>
              <a:spcAft>
                <a:spcPts val="0"/>
              </a:spcAft>
              <a:buClrTx/>
              <a:buFontTx/>
              <a:buNone/>
              <a:defRPr sz="17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2pPr>
            <a:lvl3pPr marL="566928" indent="-182880" algn="just" defTabSz="914400" rtl="0" eaLnBrk="1" latinLnBrk="0" hangingPunct="1">
              <a:lnSpc>
                <a:spcPct val="150000"/>
              </a:lnSpc>
              <a:spcBef>
                <a:spcPts val="0"/>
              </a:spcBef>
              <a:spcAft>
                <a:spcPts val="0"/>
              </a:spcAft>
              <a:buClrTx/>
              <a:buFontTx/>
              <a:buNone/>
              <a:defRPr sz="13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3pPr>
            <a:lvl4pPr marL="749808" indent="-182880" algn="just" defTabSz="914400" rtl="0" eaLnBrk="1" latinLnBrk="0" hangingPunct="1">
              <a:lnSpc>
                <a:spcPct val="150000"/>
              </a:lnSpc>
              <a:spcBef>
                <a:spcPts val="0"/>
              </a:spcBef>
              <a:spcAft>
                <a:spcPts val="0"/>
              </a:spcAft>
              <a:buClrTx/>
              <a:buFontTx/>
              <a:buNone/>
              <a:defRPr sz="13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4pPr>
            <a:lvl5pPr marL="932688" indent="-182880" algn="just" defTabSz="914400" rtl="0" eaLnBrk="1" latinLnBrk="0" hangingPunct="1">
              <a:lnSpc>
                <a:spcPct val="150000"/>
              </a:lnSpc>
              <a:spcBef>
                <a:spcPts val="0"/>
              </a:spcBef>
              <a:spcAft>
                <a:spcPts val="0"/>
              </a:spcAft>
              <a:buClrTx/>
              <a:buFontTx/>
              <a:buNone/>
              <a:defRPr sz="13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indent="0">
              <a:spcAft>
                <a:spcPts val="1200"/>
              </a:spcAft>
            </a:pPr>
            <a:r>
              <a:rPr lang="en-US" altLang="zh-TW" sz="2000" dirty="0"/>
              <a:t>4 combinations were discussed in this report.</a:t>
            </a:r>
          </a:p>
          <a:p>
            <a:pPr indent="0">
              <a:spcAft>
                <a:spcPts val="1200"/>
              </a:spcAft>
            </a:pPr>
            <a:r>
              <a:rPr lang="en-US" altLang="zh-TW" sz="2000" dirty="0"/>
              <a:t>case1: (28, 420),</a:t>
            </a:r>
            <a:r>
              <a:rPr lang="zh-TW" altLang="en-US" sz="2000" dirty="0"/>
              <a:t>　</a:t>
            </a:r>
            <a:r>
              <a:rPr lang="en-US" altLang="zh-TW" sz="2000" dirty="0"/>
              <a:t>case2: (28, 550)</a:t>
            </a:r>
          </a:p>
          <a:p>
            <a:pPr indent="0">
              <a:spcAft>
                <a:spcPts val="1200"/>
              </a:spcAft>
            </a:pPr>
            <a:r>
              <a:rPr lang="en-US" altLang="zh-TW" sz="2000" dirty="0"/>
              <a:t>case3: (35, 420),</a:t>
            </a:r>
            <a:r>
              <a:rPr lang="zh-TW" altLang="en-US" sz="2000" dirty="0"/>
              <a:t>　</a:t>
            </a:r>
            <a:r>
              <a:rPr lang="en-US" altLang="zh-TW" sz="2000" dirty="0"/>
              <a:t>case4: (35, 550)</a:t>
            </a:r>
          </a:p>
          <a:p>
            <a:pPr indent="0">
              <a:spcAft>
                <a:spcPts val="1200"/>
              </a:spcAft>
            </a:pPr>
            <a:r>
              <a:rPr lang="en-US" altLang="zh-TW" sz="2000" dirty="0"/>
              <a:t>case5: (42, 420),</a:t>
            </a:r>
            <a:r>
              <a:rPr lang="zh-TW" altLang="en-US" sz="2000" dirty="0"/>
              <a:t>　</a:t>
            </a:r>
            <a:r>
              <a:rPr lang="en-US" altLang="zh-TW" sz="2000" dirty="0"/>
              <a:t>case6: (42, 550)</a:t>
            </a:r>
          </a:p>
        </p:txBody>
      </p:sp>
      <p:grpSp>
        <p:nvGrpSpPr>
          <p:cNvPr id="17" name="群組 16">
            <a:extLst>
              <a:ext uri="{FF2B5EF4-FFF2-40B4-BE49-F238E27FC236}">
                <a16:creationId xmlns:a16="http://schemas.microsoft.com/office/drawing/2014/main" id="{7A62E4C5-5004-53D0-E89B-0B2363C7A4A3}"/>
              </a:ext>
            </a:extLst>
          </p:cNvPr>
          <p:cNvGrpSpPr/>
          <p:nvPr/>
        </p:nvGrpSpPr>
        <p:grpSpPr>
          <a:xfrm>
            <a:off x="2316479" y="4313848"/>
            <a:ext cx="3940233" cy="1937322"/>
            <a:chOff x="1097280" y="4313848"/>
            <a:chExt cx="3940233" cy="1937322"/>
          </a:xfrm>
        </p:grpSpPr>
        <p:grpSp>
          <p:nvGrpSpPr>
            <p:cNvPr id="13" name="群組 12">
              <a:extLst>
                <a:ext uri="{FF2B5EF4-FFF2-40B4-BE49-F238E27FC236}">
                  <a16:creationId xmlns:a16="http://schemas.microsoft.com/office/drawing/2014/main" id="{A85C967B-19C7-40A9-5700-D49257FF89DB}"/>
                </a:ext>
              </a:extLst>
            </p:cNvPr>
            <p:cNvGrpSpPr/>
            <p:nvPr/>
          </p:nvGrpSpPr>
          <p:grpSpPr>
            <a:xfrm>
              <a:off x="1097280" y="4621875"/>
              <a:ext cx="3940233" cy="1629295"/>
              <a:chOff x="1097280" y="4621875"/>
              <a:chExt cx="3940233" cy="1629295"/>
            </a:xfrm>
          </p:grpSpPr>
          <p:sp>
            <p:nvSpPr>
              <p:cNvPr id="7" name="矩形 6">
                <a:extLst>
                  <a:ext uri="{FF2B5EF4-FFF2-40B4-BE49-F238E27FC236}">
                    <a16:creationId xmlns:a16="http://schemas.microsoft.com/office/drawing/2014/main" id="{9FEC1482-50C8-A39D-D531-0312F93946CB}"/>
                  </a:ext>
                </a:extLst>
              </p:cNvPr>
              <p:cNvSpPr/>
              <p:nvPr/>
            </p:nvSpPr>
            <p:spPr>
              <a:xfrm>
                <a:off x="1097280" y="4621876"/>
                <a:ext cx="1878676" cy="16292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2129F7CA-DFD8-6343-F79D-6091C0B441D5}"/>
                  </a:ext>
                </a:extLst>
              </p:cNvPr>
              <p:cNvSpPr/>
              <p:nvPr/>
            </p:nvSpPr>
            <p:spPr>
              <a:xfrm>
                <a:off x="3158837" y="4621875"/>
                <a:ext cx="1878676" cy="16292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a:extLst>
                <a:ext uri="{FF2B5EF4-FFF2-40B4-BE49-F238E27FC236}">
                  <a16:creationId xmlns:a16="http://schemas.microsoft.com/office/drawing/2014/main" id="{B2FDE448-850C-3E30-E60E-0F45A1FAF9BE}"/>
                </a:ext>
              </a:extLst>
            </p:cNvPr>
            <p:cNvSpPr txBox="1"/>
            <p:nvPr/>
          </p:nvSpPr>
          <p:spPr>
            <a:xfrm>
              <a:off x="1790353" y="4318006"/>
              <a:ext cx="492529" cy="369332"/>
            </a:xfrm>
            <a:prstGeom prst="rect">
              <a:avLst/>
            </a:prstGeom>
            <a:noFill/>
          </p:spPr>
          <p:txBody>
            <a:bodyPr wrap="square">
              <a:spAutoFit/>
            </a:bodyPr>
            <a:lstStyle/>
            <a:p>
              <a:pPr indent="0" algn="ctr">
                <a:spcAft>
                  <a:spcPts val="1200"/>
                </a:spcAft>
              </a:pPr>
              <a:r>
                <a:rPr lang="en-US" altLang="zh-TW" sz="1800" dirty="0">
                  <a:solidFill>
                    <a:srgbClr val="FF0000"/>
                  </a:solidFill>
                </a:rPr>
                <a:t>1</a:t>
              </a:r>
            </a:p>
          </p:txBody>
        </p:sp>
        <p:sp>
          <p:nvSpPr>
            <p:cNvPr id="16" name="文字方塊 15">
              <a:extLst>
                <a:ext uri="{FF2B5EF4-FFF2-40B4-BE49-F238E27FC236}">
                  <a16:creationId xmlns:a16="http://schemas.microsoft.com/office/drawing/2014/main" id="{E393DD52-FE71-F42C-576F-ED92347582F4}"/>
                </a:ext>
              </a:extLst>
            </p:cNvPr>
            <p:cNvSpPr txBox="1"/>
            <p:nvPr/>
          </p:nvSpPr>
          <p:spPr>
            <a:xfrm>
              <a:off x="3851911" y="4313848"/>
              <a:ext cx="492529" cy="369332"/>
            </a:xfrm>
            <a:prstGeom prst="rect">
              <a:avLst/>
            </a:prstGeom>
            <a:noFill/>
          </p:spPr>
          <p:txBody>
            <a:bodyPr wrap="square">
              <a:spAutoFit/>
            </a:bodyPr>
            <a:lstStyle/>
            <a:p>
              <a:pPr indent="0" algn="ctr">
                <a:spcAft>
                  <a:spcPts val="1200"/>
                </a:spcAft>
              </a:pPr>
              <a:r>
                <a:rPr lang="en-US" altLang="zh-TW" dirty="0">
                  <a:solidFill>
                    <a:srgbClr val="FF0000"/>
                  </a:solidFill>
                </a:rPr>
                <a:t>2</a:t>
              </a:r>
              <a:endParaRPr lang="en-US" altLang="zh-TW" sz="1800" dirty="0">
                <a:solidFill>
                  <a:srgbClr val="FF0000"/>
                </a:solidFill>
              </a:endParaRPr>
            </a:p>
          </p:txBody>
        </p:sp>
      </p:grpSp>
      <p:sp>
        <p:nvSpPr>
          <p:cNvPr id="2" name="標題 1">
            <a:extLst>
              <a:ext uri="{FF2B5EF4-FFF2-40B4-BE49-F238E27FC236}">
                <a16:creationId xmlns:a16="http://schemas.microsoft.com/office/drawing/2014/main" id="{29FB4974-2A94-081F-6CD9-573991CD4447}"/>
              </a:ext>
            </a:extLst>
          </p:cNvPr>
          <p:cNvSpPr>
            <a:spLocks noGrp="1"/>
          </p:cNvSpPr>
          <p:nvPr>
            <p:ph type="title"/>
          </p:nvPr>
        </p:nvSpPr>
        <p:spPr/>
        <p:txBody>
          <a:bodyPr/>
          <a:lstStyle/>
          <a:p>
            <a:r>
              <a:rPr lang="en-US" altLang="zh-TW" dirty="0"/>
              <a:t>Parameter selection</a:t>
            </a:r>
            <a:endParaRPr lang="zh-TW" altLang="en-US" dirty="0"/>
          </a:p>
        </p:txBody>
      </p:sp>
      <p:graphicFrame>
        <p:nvGraphicFramePr>
          <p:cNvPr id="5" name="內容版面配置區 4">
            <a:extLst>
              <a:ext uri="{FF2B5EF4-FFF2-40B4-BE49-F238E27FC236}">
                <a16:creationId xmlns:a16="http://schemas.microsoft.com/office/drawing/2014/main" id="{57F79FB3-EE98-D412-0D9B-010D93E544D7}"/>
              </a:ext>
            </a:extLst>
          </p:cNvPr>
          <p:cNvGraphicFramePr>
            <a:graphicFrameLocks noGrp="1"/>
          </p:cNvGraphicFramePr>
          <p:nvPr>
            <p:ph idx="1"/>
            <p:extLst>
              <p:ext uri="{D42A27DB-BD31-4B8C-83A1-F6EECF244321}">
                <p14:modId xmlns:p14="http://schemas.microsoft.com/office/powerpoint/2010/main" val="2602693176"/>
              </p:ext>
            </p:extLst>
          </p:nvPr>
        </p:nvGraphicFramePr>
        <p:xfrm>
          <a:off x="2378311" y="1975772"/>
          <a:ext cx="7435378" cy="1831456"/>
        </p:xfrm>
        <a:graphic>
          <a:graphicData uri="http://schemas.openxmlformats.org/drawingml/2006/table">
            <a:tbl>
              <a:tblPr firstRow="1" bandRow="1">
                <a:tableStyleId>{69012ECD-51FC-41F1-AA8D-1B2483CD663E}</a:tableStyleId>
              </a:tblPr>
              <a:tblGrid>
                <a:gridCol w="3717688">
                  <a:extLst>
                    <a:ext uri="{9D8B030D-6E8A-4147-A177-3AD203B41FA5}">
                      <a16:colId xmlns:a16="http://schemas.microsoft.com/office/drawing/2014/main" val="429496228"/>
                    </a:ext>
                  </a:extLst>
                </a:gridCol>
                <a:gridCol w="1858845">
                  <a:extLst>
                    <a:ext uri="{9D8B030D-6E8A-4147-A177-3AD203B41FA5}">
                      <a16:colId xmlns:a16="http://schemas.microsoft.com/office/drawing/2014/main" val="4083211302"/>
                    </a:ext>
                  </a:extLst>
                </a:gridCol>
                <a:gridCol w="1858845">
                  <a:extLst>
                    <a:ext uri="{9D8B030D-6E8A-4147-A177-3AD203B41FA5}">
                      <a16:colId xmlns:a16="http://schemas.microsoft.com/office/drawing/2014/main" val="731159077"/>
                    </a:ext>
                  </a:extLst>
                </a:gridCol>
              </a:tblGrid>
              <a:tr h="457864">
                <a:tc>
                  <a:txBody>
                    <a:bodyPr/>
                    <a:lstStyle/>
                    <a:p>
                      <a:pPr algn="ctr"/>
                      <a:r>
                        <a:rPr lang="en-US" altLang="zh-TW" dirty="0">
                          <a:solidFill>
                            <a:schemeClr val="tx1"/>
                          </a:solidFill>
                          <a:latin typeface="微軟正黑體" panose="020B0604030504040204" pitchFamily="34" charset="-120"/>
                          <a:ea typeface="微軟正黑體" panose="020B0604030504040204" pitchFamily="34" charset="-120"/>
                        </a:rPr>
                        <a:t>Concrete strength (MPa)</a:t>
                      </a:r>
                      <a:endParaRPr lang="zh-TW" altLang="en-US" dirty="0">
                        <a:solidFill>
                          <a:schemeClr val="tx1"/>
                        </a:solidFill>
                        <a:latin typeface="微軟正黑體" panose="020B0604030504040204" pitchFamily="34" charset="-120"/>
                        <a:ea typeface="微軟正黑體" panose="020B0604030504040204" pitchFamily="34" charset="-120"/>
                      </a:endParaRPr>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tcPr>
                </a:tc>
                <a:tc gridSpan="2">
                  <a:txBody>
                    <a:bodyPr/>
                    <a:lstStyle/>
                    <a:p>
                      <a:pPr algn="ctr"/>
                      <a:r>
                        <a:rPr lang="en-US" altLang="zh-TW" dirty="0">
                          <a:solidFill>
                            <a:schemeClr val="tx1"/>
                          </a:solidFill>
                          <a:latin typeface="微軟正黑體" panose="020B0604030504040204" pitchFamily="34" charset="-120"/>
                          <a:ea typeface="微軟正黑體" panose="020B0604030504040204" pitchFamily="34" charset="-120"/>
                        </a:rPr>
                        <a:t>Steel grade (MPa)</a:t>
                      </a:r>
                      <a:endParaRPr lang="zh-TW" altLang="en-US" dirty="0">
                        <a:solidFill>
                          <a:schemeClr val="tx1"/>
                        </a:solidFill>
                        <a:latin typeface="微軟正黑體" panose="020B0604030504040204" pitchFamily="34" charset="-120"/>
                        <a:ea typeface="微軟正黑體" panose="020B0604030504040204" pitchFamily="34" charset="-120"/>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tcPr>
                </a:tc>
                <a:tc hMerge="1">
                  <a:txBody>
                    <a:bodyPr/>
                    <a:lstStyle/>
                    <a:p>
                      <a:endParaRPr lang="zh-TW" altLang="en-US"/>
                    </a:p>
                  </a:txBody>
                  <a:tcPr/>
                </a:tc>
                <a:extLst>
                  <a:ext uri="{0D108BD9-81ED-4DB2-BD59-A6C34878D82A}">
                    <a16:rowId xmlns:a16="http://schemas.microsoft.com/office/drawing/2014/main" val="2322396512"/>
                  </a:ext>
                </a:extLst>
              </a:tr>
              <a:tr h="457864">
                <a:tc>
                  <a:txBody>
                    <a:bodyPr/>
                    <a:lstStyle/>
                    <a:p>
                      <a:pPr algn="ctr"/>
                      <a:r>
                        <a:rPr lang="en-US" altLang="zh-TW" dirty="0">
                          <a:solidFill>
                            <a:schemeClr val="tx1"/>
                          </a:solidFill>
                          <a:latin typeface="微軟正黑體" panose="020B0604030504040204" pitchFamily="34" charset="-120"/>
                          <a:ea typeface="微軟正黑體" panose="020B0604030504040204" pitchFamily="34" charset="-120"/>
                        </a:rPr>
                        <a:t>28</a:t>
                      </a:r>
                      <a:endParaRPr lang="zh-TW" altLang="en-US" dirty="0">
                        <a:solidFill>
                          <a:schemeClr val="tx1"/>
                        </a:solidFill>
                        <a:latin typeface="微軟正黑體" panose="020B0604030504040204" pitchFamily="34" charset="-120"/>
                        <a:ea typeface="微軟正黑體" panose="020B0604030504040204" pitchFamily="34" charset="-120"/>
                      </a:endParaRPr>
                    </a:p>
                  </a:txBody>
                  <a:tcPr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tcPr>
                </a:tc>
                <a:tc rowSpan="3">
                  <a:txBody>
                    <a:bodyPr/>
                    <a:lstStyle/>
                    <a:p>
                      <a:pPr algn="ctr"/>
                      <a:r>
                        <a:rPr lang="en-US" altLang="zh-TW" dirty="0">
                          <a:solidFill>
                            <a:schemeClr val="tx1"/>
                          </a:solidFill>
                          <a:latin typeface="微軟正黑體" panose="020B0604030504040204" pitchFamily="34" charset="-120"/>
                          <a:ea typeface="微軟正黑體" panose="020B0604030504040204" pitchFamily="34" charset="-120"/>
                        </a:rPr>
                        <a:t>420</a:t>
                      </a:r>
                      <a:endParaRPr lang="zh-TW" altLang="en-US" dirty="0">
                        <a:solidFill>
                          <a:schemeClr val="tx1"/>
                        </a:solidFill>
                        <a:latin typeface="微軟正黑體" panose="020B0604030504040204" pitchFamily="34" charset="-120"/>
                        <a:ea typeface="微軟正黑體" panose="020B0604030504040204" pitchFamily="34" charset="-120"/>
                      </a:endParaRPr>
                    </a:p>
                  </a:txBody>
                  <a:tcPr anchor="ctr">
                    <a:lnL w="19050" cap="flat" cmpd="sng" algn="ctr">
                      <a:solidFill>
                        <a:schemeClr val="tx1"/>
                      </a:solidFill>
                      <a:prstDash val="solid"/>
                      <a:round/>
                      <a:headEnd type="none" w="med" len="med"/>
                      <a:tailEnd type="none" w="med" len="med"/>
                    </a:lnL>
                    <a:lnR w="12700" cap="flat" cmpd="sng" algn="ctr">
                      <a:solidFill>
                        <a:srgbClr val="9BA8B7"/>
                      </a:solidFill>
                      <a:prstDash val="solid"/>
                      <a:round/>
                      <a:headEnd type="none" w="med" len="med"/>
                      <a:tailEnd type="none" w="med" len="med"/>
                    </a:lnR>
                    <a:lnT w="19050" cap="flat" cmpd="sng" algn="ctr">
                      <a:solidFill>
                        <a:schemeClr val="tx1"/>
                      </a:solidFill>
                      <a:prstDash val="solid"/>
                      <a:round/>
                      <a:headEnd type="none" w="med" len="med"/>
                      <a:tailEnd type="none" w="med" len="med"/>
                    </a:lnT>
                  </a:tcPr>
                </a:tc>
                <a:tc rowSpan="3">
                  <a:txBody>
                    <a:bodyPr/>
                    <a:lstStyle/>
                    <a:p>
                      <a:pPr algn="ctr"/>
                      <a:r>
                        <a:rPr lang="en-US" altLang="zh-TW" dirty="0">
                          <a:solidFill>
                            <a:schemeClr val="tx1"/>
                          </a:solidFill>
                          <a:latin typeface="微軟正黑體" panose="020B0604030504040204" pitchFamily="34" charset="-120"/>
                          <a:ea typeface="微軟正黑體" panose="020B0604030504040204" pitchFamily="34" charset="-120"/>
                        </a:rPr>
                        <a:t>550</a:t>
                      </a:r>
                      <a:endParaRPr lang="zh-TW" altLang="en-US"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rgbClr val="9BA8B7"/>
                      </a:solidFill>
                      <a:prstDash val="solid"/>
                      <a:round/>
                      <a:headEnd type="none" w="med" len="med"/>
                      <a:tailEnd type="none" w="med" len="med"/>
                    </a:lnL>
                    <a:lnT w="190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82705998"/>
                  </a:ext>
                </a:extLst>
              </a:tr>
              <a:tr h="457864">
                <a:tc>
                  <a:txBody>
                    <a:bodyPr/>
                    <a:lstStyle/>
                    <a:p>
                      <a:pPr algn="ctr"/>
                      <a:r>
                        <a:rPr lang="en-US" altLang="zh-TW" dirty="0">
                          <a:solidFill>
                            <a:schemeClr val="tx1"/>
                          </a:solidFill>
                          <a:latin typeface="微軟正黑體" panose="020B0604030504040204" pitchFamily="34" charset="-120"/>
                          <a:ea typeface="微軟正黑體" panose="020B0604030504040204" pitchFamily="34" charset="-120"/>
                        </a:rPr>
                        <a:t>35</a:t>
                      </a:r>
                      <a:endParaRPr lang="zh-TW" altLang="en-US" dirty="0">
                        <a:solidFill>
                          <a:schemeClr val="tx1"/>
                        </a:solidFill>
                        <a:latin typeface="微軟正黑體" panose="020B0604030504040204" pitchFamily="34" charset="-120"/>
                        <a:ea typeface="微軟正黑體" panose="020B0604030504040204" pitchFamily="34" charset="-120"/>
                      </a:endParaRPr>
                    </a:p>
                  </a:txBody>
                  <a:tcPr anchor="ctr">
                    <a:lnR w="19050" cap="flat" cmpd="sng" algn="ctr">
                      <a:solidFill>
                        <a:schemeClr val="tx1"/>
                      </a:solidFill>
                      <a:prstDash val="solid"/>
                      <a:round/>
                      <a:headEnd type="none" w="med" len="med"/>
                      <a:tailEnd type="none" w="med" len="med"/>
                    </a:lnR>
                  </a:tcPr>
                </a:tc>
                <a:tc vMerge="1">
                  <a:txBody>
                    <a:bodyPr/>
                    <a:lstStyle/>
                    <a:p>
                      <a:pPr algn="ctr"/>
                      <a:endParaRPr lang="zh-TW" altLang="en-US" dirty="0">
                        <a:solidFill>
                          <a:schemeClr val="tx1"/>
                        </a:solidFill>
                        <a:latin typeface="微軟正黑體" panose="020B0604030504040204" pitchFamily="34" charset="-120"/>
                        <a:ea typeface="微軟正黑體" panose="020B0604030504040204" pitchFamily="34" charset="-120"/>
                      </a:endParaRPr>
                    </a:p>
                  </a:txBody>
                  <a:tcPr anchor="ctr"/>
                </a:tc>
                <a:tc vMerge="1">
                  <a:txBody>
                    <a:bodyPr/>
                    <a:lstStyle/>
                    <a:p>
                      <a:endParaRPr lang="zh-TW" altLang="en-US"/>
                    </a:p>
                  </a:txBody>
                  <a:tcPr/>
                </a:tc>
                <a:extLst>
                  <a:ext uri="{0D108BD9-81ED-4DB2-BD59-A6C34878D82A}">
                    <a16:rowId xmlns:a16="http://schemas.microsoft.com/office/drawing/2014/main" val="2227603103"/>
                  </a:ext>
                </a:extLst>
              </a:tr>
              <a:tr h="457864">
                <a:tc>
                  <a:txBody>
                    <a:bodyPr/>
                    <a:lstStyle/>
                    <a:p>
                      <a:pPr algn="ctr"/>
                      <a:r>
                        <a:rPr lang="en-US" altLang="zh-TW" dirty="0">
                          <a:solidFill>
                            <a:schemeClr val="tx1"/>
                          </a:solidFill>
                          <a:latin typeface="微軟正黑體" panose="020B0604030504040204" pitchFamily="34" charset="-120"/>
                          <a:ea typeface="微軟正黑體" panose="020B0604030504040204" pitchFamily="34" charset="-120"/>
                        </a:rPr>
                        <a:t>42</a:t>
                      </a:r>
                      <a:endParaRPr lang="zh-TW" altLang="en-US" dirty="0">
                        <a:solidFill>
                          <a:schemeClr val="tx1"/>
                        </a:solidFill>
                        <a:latin typeface="微軟正黑體" panose="020B0604030504040204" pitchFamily="34" charset="-120"/>
                        <a:ea typeface="微軟正黑體" panose="020B0604030504040204" pitchFamily="34" charset="-120"/>
                      </a:endParaRPr>
                    </a:p>
                  </a:txBody>
                  <a:tcPr anchor="ctr">
                    <a:lnR w="19050" cap="flat" cmpd="sng" algn="ctr">
                      <a:solidFill>
                        <a:schemeClr val="tx1"/>
                      </a:solidFill>
                      <a:prstDash val="solid"/>
                      <a:round/>
                      <a:headEnd type="none" w="med" len="med"/>
                      <a:tailEnd type="none" w="med" len="med"/>
                    </a:lnR>
                  </a:tcPr>
                </a:tc>
                <a:tc vMerge="1">
                  <a:txBody>
                    <a:bodyPr/>
                    <a:lstStyle/>
                    <a:p>
                      <a:pPr algn="ctr"/>
                      <a:endParaRPr lang="zh-TW" altLang="en-US" dirty="0">
                        <a:solidFill>
                          <a:schemeClr val="tx1"/>
                        </a:solidFill>
                        <a:latin typeface="微軟正黑體" panose="020B0604030504040204" pitchFamily="34" charset="-120"/>
                        <a:ea typeface="微軟正黑體" panose="020B0604030504040204" pitchFamily="34" charset="-120"/>
                      </a:endParaRPr>
                    </a:p>
                  </a:txBody>
                  <a:tcPr anchor="ctr"/>
                </a:tc>
                <a:tc vMerge="1">
                  <a:txBody>
                    <a:bodyPr/>
                    <a:lstStyle/>
                    <a:p>
                      <a:endParaRPr lang="zh-TW" altLang="en-US"/>
                    </a:p>
                  </a:txBody>
                  <a:tcPr/>
                </a:tc>
                <a:extLst>
                  <a:ext uri="{0D108BD9-81ED-4DB2-BD59-A6C34878D82A}">
                    <a16:rowId xmlns:a16="http://schemas.microsoft.com/office/drawing/2014/main" val="3144975900"/>
                  </a:ext>
                </a:extLst>
              </a:tr>
            </a:tbl>
          </a:graphicData>
        </a:graphic>
      </p:graphicFrame>
      <p:sp>
        <p:nvSpPr>
          <p:cNvPr id="4" name="投影片編號版面配置區 3">
            <a:extLst>
              <a:ext uri="{FF2B5EF4-FFF2-40B4-BE49-F238E27FC236}">
                <a16:creationId xmlns:a16="http://schemas.microsoft.com/office/drawing/2014/main" id="{A5AF29AA-C205-7674-74EF-55C9C438AA9B}"/>
              </a:ext>
            </a:extLst>
          </p:cNvPr>
          <p:cNvSpPr>
            <a:spLocks noGrp="1"/>
          </p:cNvSpPr>
          <p:nvPr>
            <p:ph type="sldNum" sz="quarter" idx="12"/>
          </p:nvPr>
        </p:nvSpPr>
        <p:spPr/>
        <p:txBody>
          <a:bodyPr/>
          <a:lstStyle/>
          <a:p>
            <a:fld id="{3A98EE3D-8CD1-4C3F-BD1C-C98C9596463C}" type="slidenum">
              <a:rPr lang="en-US" smtClean="0"/>
              <a:pPr/>
              <a:t>4</a:t>
            </a:fld>
            <a:endParaRPr lang="en-US" dirty="0"/>
          </a:p>
        </p:txBody>
      </p:sp>
      <p:grpSp>
        <p:nvGrpSpPr>
          <p:cNvPr id="21" name="群組 20">
            <a:extLst>
              <a:ext uri="{FF2B5EF4-FFF2-40B4-BE49-F238E27FC236}">
                <a16:creationId xmlns:a16="http://schemas.microsoft.com/office/drawing/2014/main" id="{B445BB1A-A70C-9D4B-DC4F-B07C75CEC7D2}"/>
              </a:ext>
            </a:extLst>
          </p:cNvPr>
          <p:cNvGrpSpPr/>
          <p:nvPr/>
        </p:nvGrpSpPr>
        <p:grpSpPr>
          <a:xfrm>
            <a:off x="1885782" y="4621877"/>
            <a:ext cx="4370930" cy="1629292"/>
            <a:chOff x="666583" y="4621877"/>
            <a:chExt cx="4370930" cy="1629292"/>
          </a:xfrm>
        </p:grpSpPr>
        <p:grpSp>
          <p:nvGrpSpPr>
            <p:cNvPr id="11" name="群組 10">
              <a:extLst>
                <a:ext uri="{FF2B5EF4-FFF2-40B4-BE49-F238E27FC236}">
                  <a16:creationId xmlns:a16="http://schemas.microsoft.com/office/drawing/2014/main" id="{5327F186-4EDD-9C38-56E0-994FA87C95EA}"/>
                </a:ext>
              </a:extLst>
            </p:cNvPr>
            <p:cNvGrpSpPr/>
            <p:nvPr/>
          </p:nvGrpSpPr>
          <p:grpSpPr>
            <a:xfrm>
              <a:off x="1097280" y="4621877"/>
              <a:ext cx="3940233" cy="1629292"/>
              <a:chOff x="1097280" y="4621877"/>
              <a:chExt cx="3940233" cy="1629292"/>
            </a:xfrm>
          </p:grpSpPr>
          <p:sp>
            <p:nvSpPr>
              <p:cNvPr id="8" name="矩形 7">
                <a:extLst>
                  <a:ext uri="{FF2B5EF4-FFF2-40B4-BE49-F238E27FC236}">
                    <a16:creationId xmlns:a16="http://schemas.microsoft.com/office/drawing/2014/main" id="{8D70B1FB-DD39-F405-9B43-5E460F181638}"/>
                  </a:ext>
                </a:extLst>
              </p:cNvPr>
              <p:cNvSpPr/>
              <p:nvPr/>
            </p:nvSpPr>
            <p:spPr>
              <a:xfrm>
                <a:off x="1097280" y="4621877"/>
                <a:ext cx="3940233" cy="45720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289668DD-7825-5A92-D86A-C62F5C516612}"/>
                  </a:ext>
                </a:extLst>
              </p:cNvPr>
              <p:cNvSpPr/>
              <p:nvPr/>
            </p:nvSpPr>
            <p:spPr>
              <a:xfrm>
                <a:off x="1097280" y="5793969"/>
                <a:ext cx="3940233" cy="45720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8" name="文字方塊 17">
              <a:extLst>
                <a:ext uri="{FF2B5EF4-FFF2-40B4-BE49-F238E27FC236}">
                  <a16:creationId xmlns:a16="http://schemas.microsoft.com/office/drawing/2014/main" id="{F19F2FE4-EAFD-65A8-3301-A4B1FAD05D6D}"/>
                </a:ext>
              </a:extLst>
            </p:cNvPr>
            <p:cNvSpPr txBox="1"/>
            <p:nvPr/>
          </p:nvSpPr>
          <p:spPr>
            <a:xfrm>
              <a:off x="705023" y="4670712"/>
              <a:ext cx="492529" cy="369332"/>
            </a:xfrm>
            <a:prstGeom prst="rect">
              <a:avLst/>
            </a:prstGeom>
            <a:noFill/>
          </p:spPr>
          <p:txBody>
            <a:bodyPr wrap="square">
              <a:spAutoFit/>
            </a:bodyPr>
            <a:lstStyle/>
            <a:p>
              <a:pPr indent="0" algn="ctr">
                <a:spcAft>
                  <a:spcPts val="1200"/>
                </a:spcAft>
              </a:pPr>
              <a:r>
                <a:rPr lang="en-US" altLang="zh-TW" sz="1800" dirty="0">
                  <a:solidFill>
                    <a:srgbClr val="00B050"/>
                  </a:solidFill>
                </a:rPr>
                <a:t>1</a:t>
              </a:r>
            </a:p>
          </p:txBody>
        </p:sp>
        <p:sp>
          <p:nvSpPr>
            <p:cNvPr id="19" name="文字方塊 18">
              <a:extLst>
                <a:ext uri="{FF2B5EF4-FFF2-40B4-BE49-F238E27FC236}">
                  <a16:creationId xmlns:a16="http://schemas.microsoft.com/office/drawing/2014/main" id="{5E663977-9DB0-6DE5-BBC3-40436EDD8D45}"/>
                </a:ext>
              </a:extLst>
            </p:cNvPr>
            <p:cNvSpPr txBox="1"/>
            <p:nvPr/>
          </p:nvSpPr>
          <p:spPr>
            <a:xfrm>
              <a:off x="666583" y="5837903"/>
              <a:ext cx="492529" cy="369332"/>
            </a:xfrm>
            <a:prstGeom prst="rect">
              <a:avLst/>
            </a:prstGeom>
            <a:noFill/>
          </p:spPr>
          <p:txBody>
            <a:bodyPr wrap="square">
              <a:spAutoFit/>
            </a:bodyPr>
            <a:lstStyle/>
            <a:p>
              <a:pPr indent="0" algn="ctr">
                <a:spcAft>
                  <a:spcPts val="1200"/>
                </a:spcAft>
              </a:pPr>
              <a:r>
                <a:rPr lang="en-US" altLang="zh-TW" dirty="0">
                  <a:solidFill>
                    <a:srgbClr val="00B050"/>
                  </a:solidFill>
                </a:rPr>
                <a:t>2</a:t>
              </a:r>
              <a:endParaRPr lang="en-US" altLang="zh-TW" sz="1800" dirty="0">
                <a:solidFill>
                  <a:srgbClr val="00B050"/>
                </a:solidFill>
              </a:endParaRPr>
            </a:p>
          </p:txBody>
        </p:sp>
      </p:grpSp>
    </p:spTree>
    <p:extLst>
      <p:ext uri="{BB962C8B-B14F-4D97-AF65-F5344CB8AC3E}">
        <p14:creationId xmlns:p14="http://schemas.microsoft.com/office/powerpoint/2010/main" val="105283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CEAB3667-D159-CC48-30F1-9A528928D487}"/>
              </a:ext>
            </a:extLst>
          </p:cNvPr>
          <p:cNvSpPr>
            <a:spLocks noGrp="1"/>
          </p:cNvSpPr>
          <p:nvPr>
            <p:ph type="sldNum" sz="quarter" idx="12"/>
          </p:nvPr>
        </p:nvSpPr>
        <p:spPr/>
        <p:txBody>
          <a:bodyPr/>
          <a:lstStyle/>
          <a:p>
            <a:pPr rtl="0"/>
            <a:fld id="{3A98EE3D-8CD1-4C3F-BD1C-C98C9596463C}" type="slidenum">
              <a:rPr lang="en-US" smtClean="0"/>
              <a:t>5</a:t>
            </a:fld>
            <a:endParaRPr lang="en-US" dirty="0"/>
          </a:p>
        </p:txBody>
      </p:sp>
      <p:sp>
        <p:nvSpPr>
          <p:cNvPr id="4" name="標題 1">
            <a:extLst>
              <a:ext uri="{FF2B5EF4-FFF2-40B4-BE49-F238E27FC236}">
                <a16:creationId xmlns:a16="http://schemas.microsoft.com/office/drawing/2014/main" id="{9C79F6B0-9F77-BB8D-69BD-C6BF360D52BF}"/>
              </a:ext>
            </a:extLst>
          </p:cNvPr>
          <p:cNvSpPr txBox="1">
            <a:spLocks/>
          </p:cNvSpPr>
          <p:nvPr/>
        </p:nvSpPr>
        <p:spPr>
          <a:xfrm>
            <a:off x="1066800" y="2703622"/>
            <a:ext cx="10058400" cy="1450757"/>
          </a:xfrm>
          <a:prstGeom prst="rect">
            <a:avLst/>
          </a:prstGeom>
        </p:spPr>
        <p:txBody>
          <a:bodyPr anchor="ct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ingLiu" panose="02020509000000000000" pitchFamily="49" charset="-120"/>
                <a:ea typeface="MingLiu" panose="02020509000000000000" pitchFamily="49" charset="-120"/>
                <a:cs typeface="+mj-cs"/>
              </a:defRPr>
            </a:lvl1pPr>
          </a:lstStyle>
          <a:p>
            <a:pPr algn="ctr"/>
            <a:r>
              <a:rPr lang="en-US" altLang="zh-TW" b="1" dirty="0">
                <a:latin typeface="微軟正黑體" panose="020B0604030504040204" pitchFamily="34" charset="-120"/>
                <a:ea typeface="微軟正黑體" panose="020B0604030504040204" pitchFamily="34" charset="-120"/>
              </a:rPr>
              <a:t>OpenSees analysis</a:t>
            </a:r>
            <a:endParaRPr lang="zh-TW" altLang="en-US"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766905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710D27-8DA9-CDC1-0775-527C4A165F50}"/>
              </a:ext>
            </a:extLst>
          </p:cNvPr>
          <p:cNvSpPr>
            <a:spLocks noGrp="1"/>
          </p:cNvSpPr>
          <p:nvPr>
            <p:ph type="title"/>
          </p:nvPr>
        </p:nvSpPr>
        <p:spPr/>
        <p:txBody>
          <a:bodyPr/>
          <a:lstStyle/>
          <a:p>
            <a:r>
              <a:rPr lang="en-US" altLang="zh-TW" dirty="0"/>
              <a:t>OpenSees analysis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0B733268-B28A-901A-3845-FD3EBB6FBABC}"/>
                  </a:ext>
                </a:extLst>
              </p:cNvPr>
              <p:cNvSpPr>
                <a:spLocks noGrp="1"/>
              </p:cNvSpPr>
              <p:nvPr>
                <p:ph idx="1"/>
              </p:nvPr>
            </p:nvSpPr>
            <p:spPr>
              <a:xfrm>
                <a:off x="1097280" y="2108201"/>
                <a:ext cx="10027920" cy="4229407"/>
              </a:xfrm>
            </p:spPr>
            <p:txBody>
              <a:bodyPr>
                <a:normAutofit/>
              </a:bodyPr>
              <a:lstStyle/>
              <a:p>
                <a:pPr>
                  <a:spcAft>
                    <a:spcPts val="1200"/>
                  </a:spcAft>
                </a:pPr>
                <a:r>
                  <a:rPr lang="en-US" altLang="zh-TW" dirty="0"/>
                  <a:t>Material properties</a:t>
                </a:r>
              </a:p>
              <a:p>
                <a:pPr>
                  <a:spcBef>
                    <a:spcPts val="600"/>
                  </a:spcBef>
                </a:pPr>
                <a:r>
                  <a:rPr lang="en-US" altLang="zh-TW" sz="2000" dirty="0"/>
                  <a:t>Concrete (28</a:t>
                </a:r>
                <a:r>
                  <a:rPr lang="zh-TW" altLang="en-US" sz="2000" dirty="0"/>
                  <a:t>、</a:t>
                </a:r>
                <a:r>
                  <a:rPr lang="en-US" altLang="zh-TW" sz="2000" dirty="0"/>
                  <a:t>35</a:t>
                </a:r>
                <a:r>
                  <a:rPr lang="zh-TW" altLang="en-US" sz="2000" dirty="0"/>
                  <a:t>、</a:t>
                </a:r>
                <a:r>
                  <a:rPr lang="en-US" altLang="zh-TW" sz="2000" dirty="0"/>
                  <a:t>42MPa)</a:t>
                </a:r>
              </a:p>
              <a:p>
                <a:pPr lvl="1">
                  <a:spcBef>
                    <a:spcPts val="600"/>
                  </a:spcBef>
                </a:pPr>
                <a14:m>
                  <m:oMathPara xmlns:m="http://schemas.openxmlformats.org/officeDocument/2006/math">
                    <m:oMathParaPr>
                      <m:jc m:val="left"/>
                    </m:oMathParaPr>
                    <m:oMath xmlns:m="http://schemas.openxmlformats.org/officeDocument/2006/math">
                      <m:sSubSup>
                        <m:sSubSupPr>
                          <m:ctrlPr>
                            <a:rPr lang="ar-AE" altLang="zh-TW" sz="2000" i="1">
                              <a:solidFill>
                                <a:srgbClr val="000000"/>
                              </a:solidFill>
                              <a:latin typeface="Cambria Math" panose="02040503050406030204" pitchFamily="18" charset="0"/>
                            </a:rPr>
                          </m:ctrlPr>
                        </m:sSubSupPr>
                        <m:e>
                          <m:r>
                            <a:rPr lang="zh-TW" altLang="ar-AE" sz="2000" i="1">
                              <a:solidFill>
                                <a:srgbClr val="000000"/>
                              </a:solidFill>
                              <a:latin typeface="Cambria Math" panose="02040503050406030204" pitchFamily="18" charset="0"/>
                            </a:rPr>
                            <m:t>𝑓</m:t>
                          </m:r>
                        </m:e>
                        <m:sub>
                          <m:r>
                            <a:rPr lang="zh-TW" altLang="ar-AE" sz="2000" i="1">
                              <a:solidFill>
                                <a:srgbClr val="000000"/>
                              </a:solidFill>
                              <a:latin typeface="Cambria Math" panose="02040503050406030204" pitchFamily="18" charset="0"/>
                            </a:rPr>
                            <m:t>𝑐</m:t>
                          </m:r>
                        </m:sub>
                        <m:sup>
                          <m:r>
                            <a:rPr lang="ar-AE" altLang="zh-TW" sz="2000" i="1">
                              <a:solidFill>
                                <a:srgbClr val="000000"/>
                              </a:solidFill>
                              <a:latin typeface="Cambria Math" panose="02040503050406030204" pitchFamily="18" charset="0"/>
                            </a:rPr>
                            <m:t>′</m:t>
                          </m:r>
                        </m:sup>
                      </m:sSubSup>
                      <m:r>
                        <a:rPr lang="ar-AE" altLang="zh-TW" sz="2000" i="1">
                          <a:solidFill>
                            <a:srgbClr val="000000"/>
                          </a:solidFill>
                          <a:latin typeface="Cambria Math" panose="02040503050406030204" pitchFamily="18" charset="0"/>
                        </a:rPr>
                        <m:t>=</m:t>
                      </m:r>
                      <m:r>
                        <a:rPr lang="ar-AE" altLang="zh-TW" sz="2000" i="1">
                          <a:solidFill>
                            <a:srgbClr val="000000"/>
                          </a:solidFill>
                          <a:latin typeface="Cambria Math" panose="02040503050406030204" pitchFamily="18" charset="0"/>
                        </a:rPr>
                        <m:t>28</m:t>
                      </m:r>
                      <m:r>
                        <a:rPr lang="zh-TW" altLang="en-US" sz="2000" i="1">
                          <a:solidFill>
                            <a:srgbClr val="000000"/>
                          </a:solidFill>
                          <a:latin typeface="Cambria Math" panose="02040503050406030204" pitchFamily="18" charset="0"/>
                        </a:rPr>
                        <m:t>、</m:t>
                      </m:r>
                      <m:r>
                        <a:rPr lang="en-US" altLang="zh-TW" sz="2000" i="1">
                          <a:solidFill>
                            <a:srgbClr val="000000"/>
                          </a:solidFill>
                          <a:latin typeface="Cambria Math" panose="02040503050406030204" pitchFamily="18" charset="0"/>
                        </a:rPr>
                        <m:t>35</m:t>
                      </m:r>
                      <m:r>
                        <a:rPr lang="zh-TW" altLang="en-US" sz="2000" i="1">
                          <a:solidFill>
                            <a:srgbClr val="000000"/>
                          </a:solidFill>
                          <a:latin typeface="Cambria Math" panose="02040503050406030204" pitchFamily="18" charset="0"/>
                        </a:rPr>
                        <m:t>、</m:t>
                      </m:r>
                      <m:r>
                        <a:rPr lang="en-US" altLang="zh-TW" sz="2000" i="1">
                          <a:solidFill>
                            <a:srgbClr val="000000"/>
                          </a:solidFill>
                          <a:latin typeface="Cambria Math" panose="02040503050406030204" pitchFamily="18" charset="0"/>
                        </a:rPr>
                        <m:t>42</m:t>
                      </m:r>
                      <m:r>
                        <m:rPr>
                          <m:nor/>
                        </m:rPr>
                        <a:rPr lang="en-US" altLang="zh-TW" sz="2000" b="0" i="0" smtClean="0">
                          <a:solidFill>
                            <a:srgbClr val="000000"/>
                          </a:solidFill>
                        </a:rPr>
                        <m:t> </m:t>
                      </m:r>
                      <m:r>
                        <m:rPr>
                          <m:nor/>
                        </m:rPr>
                        <a:rPr lang="en-US" altLang="zh-TW" sz="2000">
                          <a:solidFill>
                            <a:srgbClr val="000000"/>
                          </a:solidFill>
                        </a:rPr>
                        <m:t>MPa</m:t>
                      </m:r>
                    </m:oMath>
                  </m:oMathPara>
                </a14:m>
                <a:endParaRPr lang="en-US" altLang="zh-TW" sz="2000" dirty="0"/>
              </a:p>
              <a:p>
                <a:pPr lvl="1">
                  <a:spcBef>
                    <a:spcPts val="600"/>
                  </a:spcBef>
                </a:pPr>
                <a14:m>
                  <m:oMathPara xmlns:m="http://schemas.openxmlformats.org/officeDocument/2006/math">
                    <m:oMathParaPr>
                      <m:jc m:val="left"/>
                    </m:oMathParaPr>
                    <m:oMath xmlns:m="http://schemas.openxmlformats.org/officeDocument/2006/math">
                      <m:sSub>
                        <m:sSubPr>
                          <m:ctrlPr>
                            <a:rPr lang="ar-AE" altLang="zh-TW" sz="2000" i="1">
                              <a:solidFill>
                                <a:srgbClr val="000000"/>
                              </a:solidFill>
                              <a:latin typeface="Cambria Math" panose="02040503050406030204" pitchFamily="18" charset="0"/>
                            </a:rPr>
                          </m:ctrlPr>
                        </m:sSubPr>
                        <m:e>
                          <m:r>
                            <a:rPr lang="zh-TW" altLang="ar-AE" sz="2000" i="1">
                              <a:solidFill>
                                <a:srgbClr val="000000"/>
                              </a:solidFill>
                              <a:latin typeface="Cambria Math" panose="02040503050406030204" pitchFamily="18" charset="0"/>
                            </a:rPr>
                            <m:t>𝜀</m:t>
                          </m:r>
                        </m:e>
                        <m:sub>
                          <m:r>
                            <a:rPr lang="zh-TW" altLang="ar-AE" sz="2000" i="1">
                              <a:solidFill>
                                <a:srgbClr val="000000"/>
                              </a:solidFill>
                              <a:latin typeface="Cambria Math" panose="02040503050406030204" pitchFamily="18" charset="0"/>
                            </a:rPr>
                            <m:t>𝑐</m:t>
                          </m:r>
                          <m:r>
                            <a:rPr lang="ar-AE" altLang="zh-TW" sz="2000" i="1">
                              <a:solidFill>
                                <a:srgbClr val="000000"/>
                              </a:solidFill>
                              <a:latin typeface="Cambria Math" panose="02040503050406030204" pitchFamily="18" charset="0"/>
                            </a:rPr>
                            <m:t>0</m:t>
                          </m:r>
                        </m:sub>
                      </m:sSub>
                      <m:r>
                        <a:rPr lang="ar-AE" altLang="zh-TW" sz="2000" i="1">
                          <a:solidFill>
                            <a:srgbClr val="000000"/>
                          </a:solidFill>
                          <a:latin typeface="Cambria Math" panose="02040503050406030204" pitchFamily="18" charset="0"/>
                        </a:rPr>
                        <m:t>=</m:t>
                      </m:r>
                      <m:r>
                        <a:rPr lang="ar-AE" altLang="zh-TW" sz="2000" i="1">
                          <a:solidFill>
                            <a:srgbClr val="000000"/>
                          </a:solidFill>
                          <a:latin typeface="Cambria Math" panose="02040503050406030204" pitchFamily="18" charset="0"/>
                        </a:rPr>
                        <m:t>0</m:t>
                      </m:r>
                      <m:r>
                        <a:rPr lang="ar-AE" altLang="zh-TW" sz="2000" i="1">
                          <a:solidFill>
                            <a:srgbClr val="000000"/>
                          </a:solidFill>
                          <a:latin typeface="Cambria Math" panose="02040503050406030204" pitchFamily="18" charset="0"/>
                        </a:rPr>
                        <m:t>.</m:t>
                      </m:r>
                      <m:r>
                        <a:rPr lang="ar-AE" altLang="zh-TW" sz="2000" i="1">
                          <a:solidFill>
                            <a:srgbClr val="000000"/>
                          </a:solidFill>
                          <a:latin typeface="Cambria Math" panose="02040503050406030204" pitchFamily="18" charset="0"/>
                        </a:rPr>
                        <m:t>002</m:t>
                      </m:r>
                    </m:oMath>
                  </m:oMathPara>
                </a14:m>
                <a:endParaRPr lang="ar-AE" altLang="zh-TW" sz="2000" dirty="0"/>
              </a:p>
              <a:p>
                <a:pPr lvl="1">
                  <a:spcBef>
                    <a:spcPts val="600"/>
                  </a:spcBef>
                </a:pPr>
                <a14:m>
                  <m:oMathPara xmlns:m="http://schemas.openxmlformats.org/officeDocument/2006/math">
                    <m:oMathParaPr>
                      <m:jc m:val="left"/>
                    </m:oMathParaPr>
                    <m:oMath xmlns:m="http://schemas.openxmlformats.org/officeDocument/2006/math">
                      <m:sSub>
                        <m:sSubPr>
                          <m:ctrlPr>
                            <a:rPr lang="ar-AE" altLang="zh-TW" sz="2000" i="1">
                              <a:solidFill>
                                <a:srgbClr val="000000"/>
                              </a:solidFill>
                              <a:latin typeface="Cambria Math" panose="02040503050406030204" pitchFamily="18" charset="0"/>
                            </a:rPr>
                          </m:ctrlPr>
                        </m:sSubPr>
                        <m:e>
                          <m:r>
                            <a:rPr lang="zh-TW" altLang="ar-AE" sz="2000" i="1">
                              <a:solidFill>
                                <a:srgbClr val="000000"/>
                              </a:solidFill>
                              <a:latin typeface="Cambria Math" panose="02040503050406030204" pitchFamily="18" charset="0"/>
                            </a:rPr>
                            <m:t>𝑓</m:t>
                          </m:r>
                        </m:e>
                        <m:sub>
                          <m:r>
                            <a:rPr lang="zh-TW" altLang="ar-AE" sz="2000" i="1">
                              <a:solidFill>
                                <a:srgbClr val="000000"/>
                              </a:solidFill>
                              <a:latin typeface="Cambria Math" panose="02040503050406030204" pitchFamily="18" charset="0"/>
                            </a:rPr>
                            <m:t>𝑝𝑐𝑢</m:t>
                          </m:r>
                        </m:sub>
                      </m:sSub>
                      <m:r>
                        <a:rPr lang="ar-AE" altLang="zh-TW" sz="2000" i="1">
                          <a:solidFill>
                            <a:srgbClr val="000000"/>
                          </a:solidFill>
                          <a:latin typeface="Cambria Math" panose="02040503050406030204" pitchFamily="18" charset="0"/>
                        </a:rPr>
                        <m:t>=</m:t>
                      </m:r>
                      <m:r>
                        <a:rPr lang="ar-AE" altLang="zh-TW" sz="2000" i="1">
                          <a:solidFill>
                            <a:srgbClr val="000000"/>
                          </a:solidFill>
                          <a:latin typeface="Cambria Math" panose="02040503050406030204" pitchFamily="18" charset="0"/>
                        </a:rPr>
                        <m:t>0</m:t>
                      </m:r>
                      <m:r>
                        <m:rPr>
                          <m:nor/>
                        </m:rPr>
                        <a:rPr lang="en-US" altLang="zh-TW" sz="2000" b="0" i="0" smtClean="0">
                          <a:solidFill>
                            <a:srgbClr val="000000"/>
                          </a:solidFill>
                        </a:rPr>
                        <m:t> </m:t>
                      </m:r>
                      <m:r>
                        <m:rPr>
                          <m:nor/>
                        </m:rPr>
                        <a:rPr lang="en-US" altLang="zh-TW" sz="2000">
                          <a:solidFill>
                            <a:srgbClr val="000000"/>
                          </a:solidFill>
                        </a:rPr>
                        <m:t>MPa</m:t>
                      </m:r>
                    </m:oMath>
                  </m:oMathPara>
                </a14:m>
                <a:endParaRPr lang="en-US" altLang="zh-TW" sz="2000" dirty="0"/>
              </a:p>
              <a:p>
                <a:pPr lvl="1">
                  <a:spcBef>
                    <a:spcPts val="600"/>
                  </a:spcBef>
                </a:pPr>
                <a14:m>
                  <m:oMathPara xmlns:m="http://schemas.openxmlformats.org/officeDocument/2006/math">
                    <m:oMathParaPr>
                      <m:jc m:val="left"/>
                    </m:oMathParaPr>
                    <m:oMath xmlns:m="http://schemas.openxmlformats.org/officeDocument/2006/math">
                      <m:sSub>
                        <m:sSubPr>
                          <m:ctrlPr>
                            <a:rPr lang="ar-AE" altLang="zh-TW" sz="2000" i="1">
                              <a:solidFill>
                                <a:srgbClr val="000000"/>
                              </a:solidFill>
                              <a:latin typeface="Cambria Math" panose="02040503050406030204" pitchFamily="18" charset="0"/>
                            </a:rPr>
                          </m:ctrlPr>
                        </m:sSubPr>
                        <m:e>
                          <m:r>
                            <a:rPr lang="zh-TW" altLang="ar-AE" sz="2000" i="1">
                              <a:solidFill>
                                <a:srgbClr val="000000"/>
                              </a:solidFill>
                              <a:latin typeface="Cambria Math" panose="02040503050406030204" pitchFamily="18" charset="0"/>
                            </a:rPr>
                            <m:t>𝜀</m:t>
                          </m:r>
                        </m:e>
                        <m:sub>
                          <m:r>
                            <a:rPr lang="zh-TW" altLang="ar-AE" sz="2000" i="1">
                              <a:solidFill>
                                <a:srgbClr val="000000"/>
                              </a:solidFill>
                              <a:latin typeface="Cambria Math" panose="02040503050406030204" pitchFamily="18" charset="0"/>
                            </a:rPr>
                            <m:t>𝑐𝑢</m:t>
                          </m:r>
                        </m:sub>
                      </m:sSub>
                      <m:r>
                        <a:rPr lang="ar-AE" altLang="zh-TW" sz="2000" i="1">
                          <a:solidFill>
                            <a:srgbClr val="000000"/>
                          </a:solidFill>
                          <a:latin typeface="Cambria Math" panose="02040503050406030204" pitchFamily="18" charset="0"/>
                        </a:rPr>
                        <m:t>=</m:t>
                      </m:r>
                      <m:r>
                        <a:rPr lang="ar-AE" altLang="zh-TW" sz="2000" i="1">
                          <a:solidFill>
                            <a:srgbClr val="000000"/>
                          </a:solidFill>
                          <a:latin typeface="Cambria Math" panose="02040503050406030204" pitchFamily="18" charset="0"/>
                        </a:rPr>
                        <m:t>0</m:t>
                      </m:r>
                      <m:r>
                        <a:rPr lang="ar-AE" altLang="zh-TW" sz="2000" i="1">
                          <a:solidFill>
                            <a:srgbClr val="000000"/>
                          </a:solidFill>
                          <a:latin typeface="Cambria Math" panose="02040503050406030204" pitchFamily="18" charset="0"/>
                        </a:rPr>
                        <m:t>.</m:t>
                      </m:r>
                      <m:r>
                        <a:rPr lang="ar-AE" altLang="zh-TW" sz="2000" i="1">
                          <a:solidFill>
                            <a:srgbClr val="000000"/>
                          </a:solidFill>
                          <a:latin typeface="Cambria Math" panose="02040503050406030204" pitchFamily="18" charset="0"/>
                        </a:rPr>
                        <m:t>004</m:t>
                      </m:r>
                    </m:oMath>
                  </m:oMathPara>
                </a14:m>
                <a:endParaRPr lang="ar-AE" altLang="zh-TW" sz="2000" dirty="0"/>
              </a:p>
              <a:p>
                <a:pPr lvl="1">
                  <a:spcBef>
                    <a:spcPts val="600"/>
                  </a:spcBef>
                </a:pPr>
                <a:r>
                  <a:rPr lang="en-US" altLang="zh-TW" sz="2000" dirty="0"/>
                  <a:t>Type: </a:t>
                </a:r>
                <a:r>
                  <a:rPr lang="en-US" altLang="zh-TW" sz="2000" i="1" dirty="0"/>
                  <a:t>Concrete01</a:t>
                </a:r>
                <a:endParaRPr lang="en-US" altLang="zh-TW" sz="2000" dirty="0"/>
              </a:p>
              <a:p>
                <a:endParaRPr lang="zh-TW" altLang="en-US" dirty="0"/>
              </a:p>
            </p:txBody>
          </p:sp>
        </mc:Choice>
        <mc:Fallback xmlns="">
          <p:sp>
            <p:nvSpPr>
              <p:cNvPr id="3" name="內容版面配置區 2">
                <a:extLst>
                  <a:ext uri="{FF2B5EF4-FFF2-40B4-BE49-F238E27FC236}">
                    <a16:creationId xmlns:a16="http://schemas.microsoft.com/office/drawing/2014/main" id="{0B733268-B28A-901A-3845-FD3EBB6FBABC}"/>
                  </a:ext>
                </a:extLst>
              </p:cNvPr>
              <p:cNvSpPr>
                <a:spLocks noGrp="1" noRot="1" noChangeAspect="1" noMove="1" noResize="1" noEditPoints="1" noAdjustHandles="1" noChangeArrowheads="1" noChangeShapeType="1" noTextEdit="1"/>
              </p:cNvSpPr>
              <p:nvPr>
                <p:ph idx="1"/>
              </p:nvPr>
            </p:nvSpPr>
            <p:spPr>
              <a:xfrm>
                <a:off x="1097280" y="2108201"/>
                <a:ext cx="10027920" cy="4229407"/>
              </a:xfrm>
              <a:blipFill>
                <a:blip r:embed="rId3"/>
                <a:stretch>
                  <a:fillRect l="-1824"/>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38EC055F-E0FA-57FC-9F1C-CBAA8958B7CA}"/>
              </a:ext>
            </a:extLst>
          </p:cNvPr>
          <p:cNvSpPr>
            <a:spLocks noGrp="1"/>
          </p:cNvSpPr>
          <p:nvPr>
            <p:ph type="sldNum" sz="quarter" idx="12"/>
          </p:nvPr>
        </p:nvSpPr>
        <p:spPr/>
        <p:txBody>
          <a:bodyPr/>
          <a:lstStyle/>
          <a:p>
            <a:fld id="{3A98EE3D-8CD1-4C3F-BD1C-C98C9596463C}" type="slidenum">
              <a:rPr lang="en-US" smtClean="0"/>
              <a:pPr/>
              <a:t>6</a:t>
            </a:fld>
            <a:endParaRPr lang="en-US" dirty="0"/>
          </a:p>
        </p:txBody>
      </p:sp>
      <p:pic>
        <p:nvPicPr>
          <p:cNvPr id="5" name="Concrete01.gif" descr="Concrete01.gif">
            <a:extLst>
              <a:ext uri="{FF2B5EF4-FFF2-40B4-BE49-F238E27FC236}">
                <a16:creationId xmlns:a16="http://schemas.microsoft.com/office/drawing/2014/main" id="{8DED7435-AD25-914E-CA7D-7830F596361D}"/>
              </a:ext>
            </a:extLst>
          </p:cNvPr>
          <p:cNvPicPr>
            <a:picLocks noChangeAspect="1"/>
          </p:cNvPicPr>
          <p:nvPr/>
        </p:nvPicPr>
        <p:blipFill>
          <a:blip r:embed="rId4"/>
          <a:stretch>
            <a:fillRect/>
          </a:stretch>
        </p:blipFill>
        <p:spPr>
          <a:xfrm>
            <a:off x="6435148" y="2120836"/>
            <a:ext cx="4948439" cy="3942527"/>
          </a:xfrm>
          <a:prstGeom prst="rect">
            <a:avLst/>
          </a:prstGeom>
          <a:ln w="12700">
            <a:miter lim="400000"/>
          </a:ln>
        </p:spPr>
      </p:pic>
      <p:sp>
        <p:nvSpPr>
          <p:cNvPr id="8" name="文字方塊 7">
            <a:extLst>
              <a:ext uri="{FF2B5EF4-FFF2-40B4-BE49-F238E27FC236}">
                <a16:creationId xmlns:a16="http://schemas.microsoft.com/office/drawing/2014/main" id="{460B4117-01F5-CBC3-411B-849DF871E468}"/>
              </a:ext>
            </a:extLst>
          </p:cNvPr>
          <p:cNvSpPr txBox="1"/>
          <p:nvPr/>
        </p:nvSpPr>
        <p:spPr>
          <a:xfrm>
            <a:off x="8591608" y="6075998"/>
            <a:ext cx="2791979" cy="261610"/>
          </a:xfrm>
          <a:prstGeom prst="rect">
            <a:avLst/>
          </a:prstGeom>
          <a:noFill/>
        </p:spPr>
        <p:txBody>
          <a:bodyPr wrap="square">
            <a:spAutoFit/>
          </a:bodyPr>
          <a:lstStyle/>
          <a:p>
            <a:pPr algn="r"/>
            <a:r>
              <a:rPr lang="en-US" altLang="zh-TW" sz="1100" i="1" dirty="0"/>
              <a:t>Reference: OpenSees Wiki</a:t>
            </a:r>
          </a:p>
        </p:txBody>
      </p:sp>
    </p:spTree>
    <p:extLst>
      <p:ext uri="{BB962C8B-B14F-4D97-AF65-F5344CB8AC3E}">
        <p14:creationId xmlns:p14="http://schemas.microsoft.com/office/powerpoint/2010/main" val="2642228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C0900-14B9-6E2A-82FA-B8438B6C809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BAD1F1C-C785-A646-248D-A951ECF83B67}"/>
              </a:ext>
            </a:extLst>
          </p:cNvPr>
          <p:cNvSpPr>
            <a:spLocks noGrp="1"/>
          </p:cNvSpPr>
          <p:nvPr>
            <p:ph type="title"/>
          </p:nvPr>
        </p:nvSpPr>
        <p:spPr/>
        <p:txBody>
          <a:bodyPr/>
          <a:lstStyle/>
          <a:p>
            <a:r>
              <a:rPr lang="en-US" altLang="zh-TW" dirty="0"/>
              <a:t>OpenSees analysis</a:t>
            </a:r>
            <a:endParaRPr lang="zh-TW" altLang="en-US" dirty="0"/>
          </a:p>
        </p:txBody>
      </p:sp>
      <p:sp>
        <p:nvSpPr>
          <p:cNvPr id="4" name="投影片編號版面配置區 3">
            <a:extLst>
              <a:ext uri="{FF2B5EF4-FFF2-40B4-BE49-F238E27FC236}">
                <a16:creationId xmlns:a16="http://schemas.microsoft.com/office/drawing/2014/main" id="{07D59872-A5C9-B923-74E5-C608E5A234E1}"/>
              </a:ext>
            </a:extLst>
          </p:cNvPr>
          <p:cNvSpPr>
            <a:spLocks noGrp="1"/>
          </p:cNvSpPr>
          <p:nvPr>
            <p:ph type="sldNum" sz="quarter" idx="12"/>
          </p:nvPr>
        </p:nvSpPr>
        <p:spPr/>
        <p:txBody>
          <a:bodyPr/>
          <a:lstStyle/>
          <a:p>
            <a:fld id="{3A98EE3D-8CD1-4C3F-BD1C-C98C9596463C}" type="slidenum">
              <a:rPr lang="en-US" smtClean="0"/>
              <a:pPr/>
              <a:t>7</a:t>
            </a:fld>
            <a:endParaRPr lang="en-US" dirty="0"/>
          </a:p>
        </p:txBody>
      </p:sp>
      <p:pic>
        <p:nvPicPr>
          <p:cNvPr id="5" name="Concrete01.gif">
            <a:extLst>
              <a:ext uri="{FF2B5EF4-FFF2-40B4-BE49-F238E27FC236}">
                <a16:creationId xmlns:a16="http://schemas.microsoft.com/office/drawing/2014/main" id="{1FAFF925-C646-8E36-DFCC-776392BE46E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597774" y="2120836"/>
            <a:ext cx="4623187" cy="3942527"/>
          </a:xfrm>
          <a:prstGeom prst="rect">
            <a:avLst/>
          </a:prstGeom>
          <a:ln w="12700">
            <a:miter lim="400000"/>
          </a:ln>
        </p:spPr>
      </p:pic>
      <p:sp>
        <p:nvSpPr>
          <p:cNvPr id="6" name="文字方塊 5">
            <a:extLst>
              <a:ext uri="{FF2B5EF4-FFF2-40B4-BE49-F238E27FC236}">
                <a16:creationId xmlns:a16="http://schemas.microsoft.com/office/drawing/2014/main" id="{1F78B8DA-48B9-3ABA-A684-FC152FC6C90B}"/>
              </a:ext>
            </a:extLst>
          </p:cNvPr>
          <p:cNvSpPr txBox="1"/>
          <p:nvPr/>
        </p:nvSpPr>
        <p:spPr>
          <a:xfrm>
            <a:off x="8591608" y="6075998"/>
            <a:ext cx="2791979" cy="261610"/>
          </a:xfrm>
          <a:prstGeom prst="rect">
            <a:avLst/>
          </a:prstGeom>
          <a:noFill/>
        </p:spPr>
        <p:txBody>
          <a:bodyPr wrap="square">
            <a:spAutoFit/>
          </a:bodyPr>
          <a:lstStyle/>
          <a:p>
            <a:pPr algn="r"/>
            <a:r>
              <a:rPr lang="en-US" altLang="zh-TW" sz="1100" i="1" dirty="0"/>
              <a:t>Reference: OpenSees Wiki</a:t>
            </a:r>
          </a:p>
        </p:txBody>
      </p:sp>
      <mc:AlternateContent xmlns:mc="http://schemas.openxmlformats.org/markup-compatibility/2006" xmlns:a14="http://schemas.microsoft.com/office/drawing/2010/main">
        <mc:Choice Requires="a14">
          <p:sp>
            <p:nvSpPr>
              <p:cNvPr id="10" name="內容版面配置區 2">
                <a:extLst>
                  <a:ext uri="{FF2B5EF4-FFF2-40B4-BE49-F238E27FC236}">
                    <a16:creationId xmlns:a16="http://schemas.microsoft.com/office/drawing/2014/main" id="{781A00D6-8AFD-D8F7-C819-DA883D96D713}"/>
                  </a:ext>
                </a:extLst>
              </p:cNvPr>
              <p:cNvSpPr>
                <a:spLocks noGrp="1"/>
              </p:cNvSpPr>
              <p:nvPr>
                <p:ph idx="1"/>
              </p:nvPr>
            </p:nvSpPr>
            <p:spPr>
              <a:xfrm>
                <a:off x="1097280" y="2108201"/>
                <a:ext cx="10027920" cy="4229407"/>
              </a:xfrm>
            </p:spPr>
            <p:txBody>
              <a:bodyPr>
                <a:normAutofit/>
              </a:bodyPr>
              <a:lstStyle/>
              <a:p>
                <a:pPr>
                  <a:spcAft>
                    <a:spcPts val="1200"/>
                  </a:spcAft>
                </a:pPr>
                <a:r>
                  <a:rPr lang="en-US" altLang="zh-TW" dirty="0"/>
                  <a:t>Material properties</a:t>
                </a:r>
              </a:p>
              <a:p>
                <a:pPr>
                  <a:spcBef>
                    <a:spcPts val="600"/>
                  </a:spcBef>
                </a:pPr>
                <a:r>
                  <a:rPr lang="en-US" altLang="zh-TW" sz="2000" dirty="0"/>
                  <a:t>Reinforcement (420</a:t>
                </a:r>
                <a:r>
                  <a:rPr lang="zh-TW" altLang="en-US" sz="2000" dirty="0"/>
                  <a:t>、</a:t>
                </a:r>
                <a:r>
                  <a:rPr lang="en-US" altLang="zh-TW" sz="2000" dirty="0"/>
                  <a:t>550MPa)</a:t>
                </a:r>
              </a:p>
              <a:p>
                <a:pPr lvl="1">
                  <a:spcBef>
                    <a:spcPts val="600"/>
                  </a:spcBef>
                </a:pPr>
                <a14:m>
                  <m:oMathPara xmlns:m="http://schemas.openxmlformats.org/officeDocument/2006/math">
                    <m:oMathParaPr>
                      <m:jc m:val="left"/>
                    </m:oMathParaPr>
                    <m:oMath xmlns:m="http://schemas.openxmlformats.org/officeDocument/2006/math">
                      <m:sSub>
                        <m:sSubPr>
                          <m:ctrlPr>
                            <a:rPr lang="ar-AE" altLang="zh-TW" sz="2000" i="1">
                              <a:solidFill>
                                <a:srgbClr val="000000"/>
                              </a:solidFill>
                              <a:latin typeface="Cambria Math" panose="02040503050406030204" pitchFamily="18" charset="0"/>
                            </a:rPr>
                          </m:ctrlPr>
                        </m:sSubPr>
                        <m:e>
                          <m:r>
                            <a:rPr lang="zh-TW" altLang="ar-AE" sz="2000" i="1">
                              <a:solidFill>
                                <a:srgbClr val="000000"/>
                              </a:solidFill>
                              <a:latin typeface="Cambria Math" panose="02040503050406030204" pitchFamily="18" charset="0"/>
                            </a:rPr>
                            <m:t>𝑓</m:t>
                          </m:r>
                        </m:e>
                        <m:sub>
                          <m:r>
                            <a:rPr lang="en-US" altLang="zh-TW" sz="2000" b="0" i="1" smtClean="0">
                              <a:solidFill>
                                <a:srgbClr val="000000"/>
                              </a:solidFill>
                              <a:latin typeface="Cambria Math" panose="02040503050406030204" pitchFamily="18" charset="0"/>
                            </a:rPr>
                            <m:t>𝑦</m:t>
                          </m:r>
                        </m:sub>
                      </m:sSub>
                      <m:r>
                        <a:rPr lang="ar-AE" altLang="zh-TW" sz="2000" i="1">
                          <a:solidFill>
                            <a:srgbClr val="000000"/>
                          </a:solidFill>
                          <a:latin typeface="Cambria Math" panose="02040503050406030204" pitchFamily="18" charset="0"/>
                        </a:rPr>
                        <m:t>=</m:t>
                      </m:r>
                      <m:r>
                        <a:rPr lang="en-US" altLang="zh-TW" sz="2000" i="1" smtClean="0">
                          <a:solidFill>
                            <a:srgbClr val="000000"/>
                          </a:solidFill>
                          <a:latin typeface="Cambria Math" panose="02040503050406030204" pitchFamily="18" charset="0"/>
                        </a:rPr>
                        <m:t>4</m:t>
                      </m:r>
                      <m:r>
                        <a:rPr lang="en-US" altLang="zh-TW" sz="2000" b="0" i="1" smtClean="0">
                          <a:solidFill>
                            <a:srgbClr val="000000"/>
                          </a:solidFill>
                          <a:latin typeface="Cambria Math" panose="02040503050406030204" pitchFamily="18" charset="0"/>
                        </a:rPr>
                        <m:t>20</m:t>
                      </m:r>
                      <m:r>
                        <a:rPr lang="zh-TW" altLang="en-US" sz="2000" i="1">
                          <a:solidFill>
                            <a:srgbClr val="000000"/>
                          </a:solidFill>
                          <a:latin typeface="Cambria Math" panose="02040503050406030204" pitchFamily="18" charset="0"/>
                        </a:rPr>
                        <m:t>、</m:t>
                      </m:r>
                      <m:r>
                        <a:rPr lang="en-US" altLang="zh-TW" sz="2000" i="1">
                          <a:solidFill>
                            <a:srgbClr val="000000"/>
                          </a:solidFill>
                          <a:latin typeface="Cambria Math" panose="02040503050406030204" pitchFamily="18" charset="0"/>
                        </a:rPr>
                        <m:t>550</m:t>
                      </m:r>
                      <m:r>
                        <m:rPr>
                          <m:nor/>
                        </m:rPr>
                        <a:rPr lang="en-US" altLang="zh-TW" sz="2000">
                          <a:solidFill>
                            <a:srgbClr val="000000"/>
                          </a:solidFill>
                        </a:rPr>
                        <m:t>MPa</m:t>
                      </m:r>
                    </m:oMath>
                  </m:oMathPara>
                </a14:m>
                <a:endParaRPr lang="en-US" altLang="zh-TW" sz="2000" dirty="0"/>
              </a:p>
              <a:p>
                <a:pPr lvl="1">
                  <a:spcBef>
                    <a:spcPts val="600"/>
                  </a:spcBef>
                </a:pPr>
                <a:r>
                  <a:rPr lang="en-US" altLang="zh-TW" sz="2000" dirty="0"/>
                  <a:t>Type: </a:t>
                </a:r>
                <a:r>
                  <a:rPr lang="en-US" altLang="zh-TW" sz="2000" i="1" dirty="0"/>
                  <a:t>Reinforcingsteel</a:t>
                </a:r>
                <a:endParaRPr lang="en-US" altLang="zh-TW" sz="2000" dirty="0"/>
              </a:p>
              <a:p>
                <a:endParaRPr lang="zh-TW" altLang="en-US" dirty="0"/>
              </a:p>
            </p:txBody>
          </p:sp>
        </mc:Choice>
        <mc:Fallback xmlns="">
          <p:sp>
            <p:nvSpPr>
              <p:cNvPr id="10" name="內容版面配置區 2">
                <a:extLst>
                  <a:ext uri="{FF2B5EF4-FFF2-40B4-BE49-F238E27FC236}">
                    <a16:creationId xmlns:a16="http://schemas.microsoft.com/office/drawing/2014/main" id="{781A00D6-8AFD-D8F7-C819-DA883D96D713}"/>
                  </a:ext>
                </a:extLst>
              </p:cNvPr>
              <p:cNvSpPr>
                <a:spLocks noGrp="1" noRot="1" noChangeAspect="1" noMove="1" noResize="1" noEditPoints="1" noAdjustHandles="1" noChangeArrowheads="1" noChangeShapeType="1" noTextEdit="1"/>
              </p:cNvSpPr>
              <p:nvPr>
                <p:ph idx="1"/>
              </p:nvPr>
            </p:nvSpPr>
            <p:spPr>
              <a:xfrm>
                <a:off x="1097280" y="2108201"/>
                <a:ext cx="10027920" cy="4229407"/>
              </a:xfrm>
              <a:blipFill>
                <a:blip r:embed="rId4"/>
                <a:stretch>
                  <a:fillRect l="-1824"/>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24DF7417-A393-9AB9-DD65-600ADDD12DBC}"/>
              </a:ext>
            </a:extLst>
          </p:cNvPr>
          <p:cNvSpPr txBox="1"/>
          <p:nvPr/>
        </p:nvSpPr>
        <p:spPr>
          <a:xfrm>
            <a:off x="7964472" y="5065720"/>
            <a:ext cx="3419115" cy="276999"/>
          </a:xfrm>
          <a:prstGeom prst="rect">
            <a:avLst/>
          </a:prstGeom>
          <a:noFill/>
        </p:spPr>
        <p:txBody>
          <a:bodyPr wrap="square">
            <a:spAutoFit/>
          </a:bodyPr>
          <a:lstStyle/>
          <a:p>
            <a:r>
              <a:rPr lang="en-US" altLang="zh-TW" sz="1200" b="0" i="1" dirty="0">
                <a:solidFill>
                  <a:srgbClr val="202122"/>
                </a:solidFill>
                <a:effectLst/>
                <a:latin typeface="Arial" panose="020B0604020202020204" pitchFamily="34" charset="0"/>
              </a:rPr>
              <a:t>Chang and Mander(1994) uniaxial steel model</a:t>
            </a:r>
            <a:endParaRPr lang="zh-TW" altLang="en-US" sz="1200" i="1" dirty="0"/>
          </a:p>
        </p:txBody>
      </p:sp>
    </p:spTree>
    <p:extLst>
      <p:ext uri="{BB962C8B-B14F-4D97-AF65-F5344CB8AC3E}">
        <p14:creationId xmlns:p14="http://schemas.microsoft.com/office/powerpoint/2010/main" val="3893638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50A30-3E20-E2CC-CF73-43974CC4CD0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A199827-F7C0-98D6-DC9D-3A93741EF7D9}"/>
              </a:ext>
            </a:extLst>
          </p:cNvPr>
          <p:cNvSpPr>
            <a:spLocks noGrp="1"/>
          </p:cNvSpPr>
          <p:nvPr>
            <p:ph type="title"/>
          </p:nvPr>
        </p:nvSpPr>
        <p:spPr/>
        <p:txBody>
          <a:bodyPr/>
          <a:lstStyle/>
          <a:p>
            <a:r>
              <a:rPr lang="en-US" altLang="zh-TW" dirty="0"/>
              <a:t>OpenSees analysis</a:t>
            </a:r>
            <a:endParaRPr lang="zh-TW" altLang="en-US" dirty="0"/>
          </a:p>
        </p:txBody>
      </p:sp>
      <p:sp>
        <p:nvSpPr>
          <p:cNvPr id="4" name="投影片編號版面配置區 3">
            <a:extLst>
              <a:ext uri="{FF2B5EF4-FFF2-40B4-BE49-F238E27FC236}">
                <a16:creationId xmlns:a16="http://schemas.microsoft.com/office/drawing/2014/main" id="{78A961DC-2E97-E235-CD4D-548638EDA409}"/>
              </a:ext>
            </a:extLst>
          </p:cNvPr>
          <p:cNvSpPr>
            <a:spLocks noGrp="1"/>
          </p:cNvSpPr>
          <p:nvPr>
            <p:ph type="sldNum" sz="quarter" idx="12"/>
          </p:nvPr>
        </p:nvSpPr>
        <p:spPr/>
        <p:txBody>
          <a:bodyPr/>
          <a:lstStyle/>
          <a:p>
            <a:fld id="{3A98EE3D-8CD1-4C3F-BD1C-C98C9596463C}" type="slidenum">
              <a:rPr lang="en-US" smtClean="0"/>
              <a:pPr/>
              <a:t>8</a:t>
            </a:fld>
            <a:endParaRPr lang="en-US" dirty="0"/>
          </a:p>
        </p:txBody>
      </p:sp>
      <p:sp>
        <p:nvSpPr>
          <p:cNvPr id="10" name="內容版面配置區 2">
            <a:extLst>
              <a:ext uri="{FF2B5EF4-FFF2-40B4-BE49-F238E27FC236}">
                <a16:creationId xmlns:a16="http://schemas.microsoft.com/office/drawing/2014/main" id="{2C5716CA-DE6D-DDF1-F5CE-6AED2C4BE21C}"/>
              </a:ext>
            </a:extLst>
          </p:cNvPr>
          <p:cNvSpPr>
            <a:spLocks noGrp="1"/>
          </p:cNvSpPr>
          <p:nvPr>
            <p:ph idx="1"/>
          </p:nvPr>
        </p:nvSpPr>
        <p:spPr>
          <a:xfrm>
            <a:off x="1097280" y="1912822"/>
            <a:ext cx="10027920" cy="1971430"/>
          </a:xfrm>
        </p:spPr>
        <p:txBody>
          <a:bodyPr>
            <a:normAutofit/>
          </a:bodyPr>
          <a:lstStyle/>
          <a:p>
            <a:pPr>
              <a:spcAft>
                <a:spcPts val="1200"/>
              </a:spcAft>
            </a:pPr>
            <a:r>
              <a:rPr lang="en-US" altLang="zh-TW" dirty="0"/>
              <a:t>Loading pattern</a:t>
            </a:r>
          </a:p>
          <a:p>
            <a:r>
              <a:rPr lang="en-US" altLang="zh-TW" dirty="0"/>
              <a:t>Phase 1: Apply a constant axial load (</a:t>
            </a:r>
            <a:r>
              <a:rPr lang="en-US" altLang="zh-TW" sz="1800" i="1" dirty="0"/>
              <a:t>20% axial load ratio</a:t>
            </a:r>
            <a:r>
              <a:rPr lang="en-US" altLang="zh-TW" dirty="0"/>
              <a:t>)</a:t>
            </a:r>
          </a:p>
          <a:p>
            <a:r>
              <a:rPr lang="en-US" altLang="zh-TW" dirty="0"/>
              <a:t>Phase 2: Increment the curvature (</a:t>
            </a:r>
            <a:r>
              <a:rPr lang="en-US" altLang="zh-TW" sz="1800" i="1" dirty="0"/>
              <a:t>Displacement control, DOF 3</a:t>
            </a:r>
            <a:r>
              <a:rPr lang="en-US" altLang="zh-TW" dirty="0"/>
              <a:t>)</a:t>
            </a:r>
            <a:endParaRPr lang="zh-TW" altLang="en-US" dirty="0"/>
          </a:p>
        </p:txBody>
      </p:sp>
      <p:pic>
        <p:nvPicPr>
          <p:cNvPr id="13" name="圖片 12">
            <a:extLst>
              <a:ext uri="{FF2B5EF4-FFF2-40B4-BE49-F238E27FC236}">
                <a16:creationId xmlns:a16="http://schemas.microsoft.com/office/drawing/2014/main" id="{198C9F19-23FB-5921-DAE4-5A3EEC14F60C}"/>
              </a:ext>
            </a:extLst>
          </p:cNvPr>
          <p:cNvPicPr>
            <a:picLocks noChangeAspect="1"/>
          </p:cNvPicPr>
          <p:nvPr/>
        </p:nvPicPr>
        <p:blipFill>
          <a:blip r:embed="rId3"/>
          <a:srcRect l="16427" t="16570" r="6089" b="5195"/>
          <a:stretch>
            <a:fillRect/>
          </a:stretch>
        </p:blipFill>
        <p:spPr>
          <a:xfrm>
            <a:off x="3810566" y="3798278"/>
            <a:ext cx="4570868" cy="2519414"/>
          </a:xfrm>
          <a:prstGeom prst="rect">
            <a:avLst/>
          </a:prstGeom>
        </p:spPr>
      </p:pic>
    </p:spTree>
    <p:extLst>
      <p:ext uri="{BB962C8B-B14F-4D97-AF65-F5344CB8AC3E}">
        <p14:creationId xmlns:p14="http://schemas.microsoft.com/office/powerpoint/2010/main" val="64427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7C83D-A481-8980-87A7-6119D3E74B2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176EA84-71CE-E28A-3200-502E0CD7E179}"/>
              </a:ext>
            </a:extLst>
          </p:cNvPr>
          <p:cNvSpPr>
            <a:spLocks noGrp="1"/>
          </p:cNvSpPr>
          <p:nvPr>
            <p:ph type="title"/>
          </p:nvPr>
        </p:nvSpPr>
        <p:spPr/>
        <p:txBody>
          <a:bodyPr/>
          <a:lstStyle/>
          <a:p>
            <a:r>
              <a:rPr lang="en-US" altLang="zh-TW" dirty="0"/>
              <a:t>OpenSees analysis</a:t>
            </a:r>
            <a:endParaRPr lang="zh-TW" altLang="en-US" dirty="0"/>
          </a:p>
        </p:txBody>
      </p:sp>
      <p:sp>
        <p:nvSpPr>
          <p:cNvPr id="4" name="投影片編號版面配置區 3">
            <a:extLst>
              <a:ext uri="{FF2B5EF4-FFF2-40B4-BE49-F238E27FC236}">
                <a16:creationId xmlns:a16="http://schemas.microsoft.com/office/drawing/2014/main" id="{C220A1F8-6F45-6FC3-01BF-FE5AC6E3A668}"/>
              </a:ext>
            </a:extLst>
          </p:cNvPr>
          <p:cNvSpPr>
            <a:spLocks noGrp="1"/>
          </p:cNvSpPr>
          <p:nvPr>
            <p:ph type="sldNum" sz="quarter" idx="12"/>
          </p:nvPr>
        </p:nvSpPr>
        <p:spPr/>
        <p:txBody>
          <a:bodyPr/>
          <a:lstStyle/>
          <a:p>
            <a:fld id="{3A98EE3D-8CD1-4C3F-BD1C-C98C9596463C}" type="slidenum">
              <a:rPr lang="en-US" smtClean="0"/>
              <a:pPr/>
              <a:t>9</a:t>
            </a:fld>
            <a:endParaRPr lang="en-US" dirty="0"/>
          </a:p>
        </p:txBody>
      </p:sp>
      <p:sp>
        <p:nvSpPr>
          <p:cNvPr id="12" name="文字方塊 11">
            <a:extLst>
              <a:ext uri="{FF2B5EF4-FFF2-40B4-BE49-F238E27FC236}">
                <a16:creationId xmlns:a16="http://schemas.microsoft.com/office/drawing/2014/main" id="{060D9E02-2498-5DB5-9CA5-9794867D39B1}"/>
              </a:ext>
            </a:extLst>
          </p:cNvPr>
          <p:cNvSpPr txBox="1"/>
          <p:nvPr/>
        </p:nvSpPr>
        <p:spPr>
          <a:xfrm>
            <a:off x="419030" y="2223670"/>
            <a:ext cx="3712395" cy="1820883"/>
          </a:xfrm>
          <a:prstGeom prst="rect">
            <a:avLst/>
          </a:prstGeom>
          <a:noFill/>
        </p:spPr>
        <p:txBody>
          <a:bodyPr wrap="square">
            <a:spAutoFit/>
          </a:bodyPr>
          <a:lstStyle/>
          <a:p>
            <a:pPr marL="91440" marR="0" lvl="0" indent="-91440" algn="just" defTabSz="914400" rtl="0" eaLnBrk="1" fontAlgn="auto" latinLnBrk="0" hangingPunct="1">
              <a:lnSpc>
                <a:spcPct val="150000"/>
              </a:lnSpc>
              <a:spcBef>
                <a:spcPts val="0"/>
              </a:spcBef>
              <a:spcAft>
                <a:spcPts val="1200"/>
              </a:spcAft>
              <a:buClr>
                <a:srgbClr val="9BA8B7"/>
              </a:buClr>
              <a:buSzPct val="100000"/>
              <a:buFontTx/>
              <a:buNone/>
              <a:tabLst/>
              <a:defRPr/>
            </a:pPr>
            <a:r>
              <a:rPr kumimoji="0" lang="en-US" altLang="zh-TW" sz="24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mn-cs"/>
              </a:rPr>
              <a:t>Results</a:t>
            </a:r>
          </a:p>
          <a:p>
            <a:pPr marL="91440" marR="0" lvl="0" indent="-91440" algn="just" defTabSz="914400" rtl="0" eaLnBrk="1" fontAlgn="auto" latinLnBrk="0" hangingPunct="1">
              <a:lnSpc>
                <a:spcPct val="150000"/>
              </a:lnSpc>
              <a:spcBef>
                <a:spcPts val="0"/>
              </a:spcBef>
              <a:spcAft>
                <a:spcPts val="1200"/>
              </a:spcAft>
              <a:buClr>
                <a:srgbClr val="9BA8B7"/>
              </a:buClr>
              <a:buSzPct val="100000"/>
              <a:buFontTx/>
              <a:buNone/>
              <a:tabLst/>
              <a:defRPr/>
            </a:pPr>
            <a:r>
              <a:rPr lang="en-US" altLang="zh-TW" sz="2000" dirty="0">
                <a:solidFill>
                  <a:srgbClr val="000000"/>
                </a:solidFill>
                <a:latin typeface="微軟正黑體" panose="020B0604030504040204" pitchFamily="34" charset="-120"/>
                <a:ea typeface="微軟正黑體" panose="020B0604030504040204" pitchFamily="34" charset="-120"/>
              </a:rPr>
              <a:t>Different concrete </a:t>
            </a:r>
            <a:r>
              <a:rPr kumimoji="0" lang="en-US" altLang="zh-TW" sz="20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mn-cs"/>
              </a:rPr>
              <a:t>strength</a:t>
            </a:r>
          </a:p>
          <a:p>
            <a:pPr marL="91440" marR="0" lvl="0" indent="-91440" algn="just" defTabSz="914400" rtl="0" eaLnBrk="1" fontAlgn="auto" latinLnBrk="0" hangingPunct="1">
              <a:lnSpc>
                <a:spcPct val="150000"/>
              </a:lnSpc>
              <a:spcBef>
                <a:spcPts val="0"/>
              </a:spcBef>
              <a:spcAft>
                <a:spcPts val="1200"/>
              </a:spcAft>
              <a:buClr>
                <a:srgbClr val="9BA8B7"/>
              </a:buClr>
              <a:buSzPct val="100000"/>
              <a:buFontTx/>
              <a:buNone/>
              <a:tabLst/>
              <a:defRPr/>
            </a:pPr>
            <a:r>
              <a:rPr lang="en-US" altLang="zh-TW" sz="2000" dirty="0">
                <a:solidFill>
                  <a:srgbClr val="000000"/>
                </a:solidFill>
                <a:latin typeface="微軟正黑體" panose="020B0604030504040204" pitchFamily="34" charset="-120"/>
                <a:ea typeface="微軟正黑體" panose="020B0604030504040204" pitchFamily="34" charset="-120"/>
              </a:rPr>
              <a:t>W / SD420</a:t>
            </a:r>
            <a:endParaRPr kumimoji="0" lang="en-US" altLang="zh-TW" sz="20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mn-cs"/>
            </a:endParaRPr>
          </a:p>
        </p:txBody>
      </p:sp>
      <p:pic>
        <p:nvPicPr>
          <p:cNvPr id="16" name="圖片 15">
            <a:extLst>
              <a:ext uri="{FF2B5EF4-FFF2-40B4-BE49-F238E27FC236}">
                <a16:creationId xmlns:a16="http://schemas.microsoft.com/office/drawing/2014/main" id="{73AFEEFB-C818-B9AF-1191-A42419198D7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87518" y="1949919"/>
            <a:ext cx="6568162" cy="4417362"/>
          </a:xfrm>
          <a:prstGeom prst="rect">
            <a:avLst/>
          </a:prstGeom>
        </p:spPr>
      </p:pic>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36B0153C-6E06-7269-B56B-D485F0B76542}"/>
                  </a:ext>
                </a:extLst>
              </p:cNvPr>
              <p:cNvGraphicFramePr>
                <a:graphicFrameLocks noGrp="1"/>
              </p:cNvGraphicFramePr>
              <p:nvPr>
                <p:extLst>
                  <p:ext uri="{D42A27DB-BD31-4B8C-83A1-F6EECF244321}">
                    <p14:modId xmlns:p14="http://schemas.microsoft.com/office/powerpoint/2010/main" val="3104411402"/>
                  </p:ext>
                </p:extLst>
              </p:nvPr>
            </p:nvGraphicFramePr>
            <p:xfrm>
              <a:off x="808680" y="4158600"/>
              <a:ext cx="2597187" cy="1483360"/>
            </p:xfrm>
            <a:graphic>
              <a:graphicData uri="http://schemas.openxmlformats.org/drawingml/2006/table">
                <a:tbl>
                  <a:tblPr firstRow="1" bandRow="1">
                    <a:tableStyleId>{00A15C55-8517-42AA-B614-E9B94910E393}</a:tableStyleId>
                  </a:tblPr>
                  <a:tblGrid>
                    <a:gridCol w="828590">
                      <a:extLst>
                        <a:ext uri="{9D8B030D-6E8A-4147-A177-3AD203B41FA5}">
                          <a16:colId xmlns:a16="http://schemas.microsoft.com/office/drawing/2014/main" val="1587330249"/>
                        </a:ext>
                      </a:extLst>
                    </a:gridCol>
                    <a:gridCol w="1768597">
                      <a:extLst>
                        <a:ext uri="{9D8B030D-6E8A-4147-A177-3AD203B41FA5}">
                          <a16:colId xmlns:a16="http://schemas.microsoft.com/office/drawing/2014/main" val="1423022030"/>
                        </a:ext>
                      </a:extLst>
                    </a:gridCol>
                  </a:tblGrid>
                  <a:tr h="370840">
                    <a:tc>
                      <a:txBody>
                        <a:bodyPr/>
                        <a:lstStyle/>
                        <a:p>
                          <a:pPr algn="ctr"/>
                          <a:endParaRPr lang="zh-TW" altLang="en-US" dirty="0">
                            <a:solidFill>
                              <a:schemeClr val="tx1"/>
                            </a:solidFill>
                          </a:endParaRPr>
                        </a:p>
                      </a:txBody>
                      <a:tcPr anchor="ctr"/>
                    </a:tc>
                    <a:tc>
                      <a:txBody>
                        <a:bodyPr/>
                        <a:lstStyle/>
                        <a:p>
                          <a:pPr algn="ctr"/>
                          <a14:m>
                            <m:oMath xmlns:m="http://schemas.openxmlformats.org/officeDocument/2006/math">
                              <m:sSub>
                                <m:sSubPr>
                                  <m:ctrlPr>
                                    <a:rPr lang="en-US" altLang="zh-TW" b="1" i="1" smtClean="0">
                                      <a:solidFill>
                                        <a:schemeClr val="tx1"/>
                                      </a:solidFill>
                                      <a:latin typeface="Cambria Math" panose="02040503050406030204" pitchFamily="18" charset="0"/>
                                    </a:rPr>
                                  </m:ctrlPr>
                                </m:sSubPr>
                                <m:e>
                                  <m:r>
                                    <a:rPr lang="en-US" altLang="zh-TW" b="1" i="1" smtClean="0">
                                      <a:solidFill>
                                        <a:schemeClr val="tx1"/>
                                      </a:solidFill>
                                      <a:latin typeface="Cambria Math" panose="02040503050406030204" pitchFamily="18" charset="0"/>
                                    </a:rPr>
                                    <m:t>𝑴</m:t>
                                  </m:r>
                                </m:e>
                                <m:sub>
                                  <m:r>
                                    <a:rPr lang="en-US" altLang="zh-TW" b="1" i="1" smtClean="0">
                                      <a:solidFill>
                                        <a:schemeClr val="tx1"/>
                                      </a:solidFill>
                                      <a:latin typeface="Cambria Math" panose="02040503050406030204" pitchFamily="18" charset="0"/>
                                    </a:rPr>
                                    <m:t>𝒖</m:t>
                                  </m:r>
                                </m:sub>
                              </m:sSub>
                            </m:oMath>
                          </a14:m>
                          <a:r>
                            <a:rPr lang="zh-TW" altLang="en-US" dirty="0">
                              <a:solidFill>
                                <a:schemeClr val="tx1"/>
                              </a:solidFill>
                            </a:rPr>
                            <a:t> </a:t>
                          </a:r>
                          <a:r>
                            <a:rPr lang="en-US" altLang="zh-TW" dirty="0">
                              <a:solidFill>
                                <a:schemeClr val="tx1"/>
                              </a:solidFill>
                            </a:rPr>
                            <a:t>(kN-m)</a:t>
                          </a:r>
                          <a:endParaRPr lang="zh-TW" altLang="en-US" dirty="0">
                            <a:solidFill>
                              <a:schemeClr val="tx1"/>
                            </a:solidFill>
                          </a:endParaRPr>
                        </a:p>
                      </a:txBody>
                      <a:tcPr anchor="ctr"/>
                    </a:tc>
                    <a:extLst>
                      <a:ext uri="{0D108BD9-81ED-4DB2-BD59-A6C34878D82A}">
                        <a16:rowId xmlns:a16="http://schemas.microsoft.com/office/drawing/2014/main" val="466937652"/>
                      </a:ext>
                    </a:extLst>
                  </a:tr>
                  <a:tr h="370840">
                    <a:tc>
                      <a:txBody>
                        <a:bodyPr/>
                        <a:lstStyle/>
                        <a:p>
                          <a:pPr algn="ctr"/>
                          <a:r>
                            <a:rPr lang="en-US" altLang="zh-TW" dirty="0">
                              <a:solidFill>
                                <a:srgbClr val="0F6DAE"/>
                              </a:solidFill>
                            </a:rPr>
                            <a:t>case1</a:t>
                          </a:r>
                          <a:endParaRPr lang="zh-TW" altLang="en-US" dirty="0">
                            <a:solidFill>
                              <a:srgbClr val="0F6DAE"/>
                            </a:solidFill>
                          </a:endParaRPr>
                        </a:p>
                      </a:txBody>
                      <a:tcPr anchor="ctr"/>
                    </a:tc>
                    <a:tc>
                      <a:txBody>
                        <a:bodyPr/>
                        <a:lstStyle/>
                        <a:p>
                          <a:pPr algn="ctr"/>
                          <a:r>
                            <a:rPr lang="en-US" altLang="zh-TW" dirty="0">
                              <a:solidFill>
                                <a:srgbClr val="0F6DAE"/>
                              </a:solidFill>
                            </a:rPr>
                            <a:t>966.35</a:t>
                          </a:r>
                          <a:endParaRPr lang="zh-TW" altLang="en-US" dirty="0">
                            <a:solidFill>
                              <a:srgbClr val="0F6DAE"/>
                            </a:solidFill>
                          </a:endParaRPr>
                        </a:p>
                      </a:txBody>
                      <a:tcPr anchor="ctr"/>
                    </a:tc>
                    <a:extLst>
                      <a:ext uri="{0D108BD9-81ED-4DB2-BD59-A6C34878D82A}">
                        <a16:rowId xmlns:a16="http://schemas.microsoft.com/office/drawing/2014/main" val="1541838636"/>
                      </a:ext>
                    </a:extLst>
                  </a:tr>
                  <a:tr h="370840">
                    <a:tc>
                      <a:txBody>
                        <a:bodyPr/>
                        <a:lstStyle/>
                        <a:p>
                          <a:pPr algn="ctr"/>
                          <a:r>
                            <a:rPr lang="en-US" altLang="zh-TW" dirty="0">
                              <a:solidFill>
                                <a:srgbClr val="FF7C08"/>
                              </a:solidFill>
                            </a:rPr>
                            <a:t>case3</a:t>
                          </a:r>
                          <a:endParaRPr lang="zh-TW" altLang="en-US" dirty="0">
                            <a:solidFill>
                              <a:srgbClr val="FF7C08"/>
                            </a:solidFill>
                          </a:endParaRPr>
                        </a:p>
                      </a:txBody>
                      <a:tcPr anchor="ctr"/>
                    </a:tc>
                    <a:tc>
                      <a:txBody>
                        <a:bodyPr/>
                        <a:lstStyle/>
                        <a:p>
                          <a:pPr algn="ctr"/>
                          <a:r>
                            <a:rPr lang="en-US" altLang="zh-TW" dirty="0">
                              <a:solidFill>
                                <a:srgbClr val="FF7C08"/>
                              </a:solidFill>
                            </a:rPr>
                            <a:t>1014.49</a:t>
                          </a:r>
                          <a:endParaRPr lang="zh-TW" altLang="en-US" dirty="0">
                            <a:solidFill>
                              <a:srgbClr val="FF7C08"/>
                            </a:solidFill>
                          </a:endParaRPr>
                        </a:p>
                      </a:txBody>
                      <a:tcPr anchor="ctr"/>
                    </a:tc>
                    <a:extLst>
                      <a:ext uri="{0D108BD9-81ED-4DB2-BD59-A6C34878D82A}">
                        <a16:rowId xmlns:a16="http://schemas.microsoft.com/office/drawing/2014/main" val="4218713460"/>
                      </a:ext>
                    </a:extLst>
                  </a:tr>
                  <a:tr h="370840">
                    <a:tc>
                      <a:txBody>
                        <a:bodyPr/>
                        <a:lstStyle/>
                        <a:p>
                          <a:pPr algn="ctr"/>
                          <a:r>
                            <a:rPr lang="en-US" altLang="zh-TW" dirty="0">
                              <a:solidFill>
                                <a:srgbClr val="209A20"/>
                              </a:solidFill>
                            </a:rPr>
                            <a:t>case5</a:t>
                          </a:r>
                          <a:endParaRPr lang="zh-TW" altLang="en-US" dirty="0">
                            <a:solidFill>
                              <a:srgbClr val="209A20"/>
                            </a:solidFill>
                          </a:endParaRPr>
                        </a:p>
                      </a:txBody>
                      <a:tcPr anchor="ctr"/>
                    </a:tc>
                    <a:tc>
                      <a:txBody>
                        <a:bodyPr/>
                        <a:lstStyle/>
                        <a:p>
                          <a:pPr algn="ctr"/>
                          <a:r>
                            <a:rPr lang="en-US" altLang="zh-TW" dirty="0">
                              <a:solidFill>
                                <a:srgbClr val="209A20"/>
                              </a:solidFill>
                            </a:rPr>
                            <a:t>886.82</a:t>
                          </a:r>
                          <a:endParaRPr lang="zh-TW" altLang="en-US" dirty="0">
                            <a:solidFill>
                              <a:srgbClr val="209A20"/>
                            </a:solidFill>
                          </a:endParaRPr>
                        </a:p>
                      </a:txBody>
                      <a:tcPr anchor="ctr"/>
                    </a:tc>
                    <a:extLst>
                      <a:ext uri="{0D108BD9-81ED-4DB2-BD59-A6C34878D82A}">
                        <a16:rowId xmlns:a16="http://schemas.microsoft.com/office/drawing/2014/main" val="2200941733"/>
                      </a:ext>
                    </a:extLst>
                  </a:tr>
                </a:tbl>
              </a:graphicData>
            </a:graphic>
          </p:graphicFrame>
        </mc:Choice>
        <mc:Fallback xmlns="">
          <p:graphicFrame>
            <p:nvGraphicFramePr>
              <p:cNvPr id="3" name="表格 2">
                <a:extLst>
                  <a:ext uri="{FF2B5EF4-FFF2-40B4-BE49-F238E27FC236}">
                    <a16:creationId xmlns:a16="http://schemas.microsoft.com/office/drawing/2014/main" id="{36B0153C-6E06-7269-B56B-D485F0B76542}"/>
                  </a:ext>
                </a:extLst>
              </p:cNvPr>
              <p:cNvGraphicFramePr>
                <a:graphicFrameLocks noGrp="1"/>
              </p:cNvGraphicFramePr>
              <p:nvPr>
                <p:extLst>
                  <p:ext uri="{D42A27DB-BD31-4B8C-83A1-F6EECF244321}">
                    <p14:modId xmlns:p14="http://schemas.microsoft.com/office/powerpoint/2010/main" val="3104411402"/>
                  </p:ext>
                </p:extLst>
              </p:nvPr>
            </p:nvGraphicFramePr>
            <p:xfrm>
              <a:off x="808680" y="4158600"/>
              <a:ext cx="2597187" cy="1483360"/>
            </p:xfrm>
            <a:graphic>
              <a:graphicData uri="http://schemas.openxmlformats.org/drawingml/2006/table">
                <a:tbl>
                  <a:tblPr firstRow="1" bandRow="1">
                    <a:tableStyleId>{00A15C55-8517-42AA-B614-E9B94910E393}</a:tableStyleId>
                  </a:tblPr>
                  <a:tblGrid>
                    <a:gridCol w="828590">
                      <a:extLst>
                        <a:ext uri="{9D8B030D-6E8A-4147-A177-3AD203B41FA5}">
                          <a16:colId xmlns:a16="http://schemas.microsoft.com/office/drawing/2014/main" val="1587330249"/>
                        </a:ext>
                      </a:extLst>
                    </a:gridCol>
                    <a:gridCol w="1768597">
                      <a:extLst>
                        <a:ext uri="{9D8B030D-6E8A-4147-A177-3AD203B41FA5}">
                          <a16:colId xmlns:a16="http://schemas.microsoft.com/office/drawing/2014/main" val="1423022030"/>
                        </a:ext>
                      </a:extLst>
                    </a:gridCol>
                  </a:tblGrid>
                  <a:tr h="370840">
                    <a:tc>
                      <a:txBody>
                        <a:bodyPr/>
                        <a:lstStyle/>
                        <a:p>
                          <a:pPr algn="ctr"/>
                          <a:endParaRPr lang="zh-TW" altLang="en-US" dirty="0">
                            <a:solidFill>
                              <a:schemeClr val="tx1"/>
                            </a:solidFill>
                          </a:endParaRPr>
                        </a:p>
                      </a:txBody>
                      <a:tcPr anchor="ctr"/>
                    </a:tc>
                    <a:tc>
                      <a:txBody>
                        <a:bodyPr/>
                        <a:lstStyle/>
                        <a:p>
                          <a:endParaRPr lang="zh-TW"/>
                        </a:p>
                      </a:txBody>
                      <a:tcPr anchor="ctr">
                        <a:blipFill>
                          <a:blip r:embed="rId4"/>
                          <a:stretch>
                            <a:fillRect l="-47079" t="-8197" r="-1375" b="-324590"/>
                          </a:stretch>
                        </a:blipFill>
                      </a:tcPr>
                    </a:tc>
                    <a:extLst>
                      <a:ext uri="{0D108BD9-81ED-4DB2-BD59-A6C34878D82A}">
                        <a16:rowId xmlns:a16="http://schemas.microsoft.com/office/drawing/2014/main" val="466937652"/>
                      </a:ext>
                    </a:extLst>
                  </a:tr>
                  <a:tr h="370840">
                    <a:tc>
                      <a:txBody>
                        <a:bodyPr/>
                        <a:lstStyle/>
                        <a:p>
                          <a:pPr algn="ctr"/>
                          <a:r>
                            <a:rPr lang="en-US" altLang="zh-TW" dirty="0">
                              <a:solidFill>
                                <a:srgbClr val="0F6DAE"/>
                              </a:solidFill>
                            </a:rPr>
                            <a:t>case1</a:t>
                          </a:r>
                          <a:endParaRPr lang="zh-TW" altLang="en-US" dirty="0">
                            <a:solidFill>
                              <a:srgbClr val="0F6DAE"/>
                            </a:solidFill>
                          </a:endParaRPr>
                        </a:p>
                      </a:txBody>
                      <a:tcPr anchor="ctr"/>
                    </a:tc>
                    <a:tc>
                      <a:txBody>
                        <a:bodyPr/>
                        <a:lstStyle/>
                        <a:p>
                          <a:pPr algn="ctr"/>
                          <a:r>
                            <a:rPr lang="en-US" altLang="zh-TW" dirty="0">
                              <a:solidFill>
                                <a:srgbClr val="0F6DAE"/>
                              </a:solidFill>
                            </a:rPr>
                            <a:t>966.35</a:t>
                          </a:r>
                          <a:endParaRPr lang="zh-TW" altLang="en-US" dirty="0">
                            <a:solidFill>
                              <a:srgbClr val="0F6DAE"/>
                            </a:solidFill>
                          </a:endParaRPr>
                        </a:p>
                      </a:txBody>
                      <a:tcPr anchor="ctr"/>
                    </a:tc>
                    <a:extLst>
                      <a:ext uri="{0D108BD9-81ED-4DB2-BD59-A6C34878D82A}">
                        <a16:rowId xmlns:a16="http://schemas.microsoft.com/office/drawing/2014/main" val="1541838636"/>
                      </a:ext>
                    </a:extLst>
                  </a:tr>
                  <a:tr h="370840">
                    <a:tc>
                      <a:txBody>
                        <a:bodyPr/>
                        <a:lstStyle/>
                        <a:p>
                          <a:pPr algn="ctr"/>
                          <a:r>
                            <a:rPr lang="en-US" altLang="zh-TW" dirty="0">
                              <a:solidFill>
                                <a:srgbClr val="FF7C08"/>
                              </a:solidFill>
                            </a:rPr>
                            <a:t>case3</a:t>
                          </a:r>
                          <a:endParaRPr lang="zh-TW" altLang="en-US" dirty="0">
                            <a:solidFill>
                              <a:srgbClr val="FF7C08"/>
                            </a:solidFill>
                          </a:endParaRPr>
                        </a:p>
                      </a:txBody>
                      <a:tcPr anchor="ctr"/>
                    </a:tc>
                    <a:tc>
                      <a:txBody>
                        <a:bodyPr/>
                        <a:lstStyle/>
                        <a:p>
                          <a:pPr algn="ctr"/>
                          <a:r>
                            <a:rPr lang="en-US" altLang="zh-TW" dirty="0">
                              <a:solidFill>
                                <a:srgbClr val="FF7C08"/>
                              </a:solidFill>
                            </a:rPr>
                            <a:t>1014.49</a:t>
                          </a:r>
                          <a:endParaRPr lang="zh-TW" altLang="en-US" dirty="0">
                            <a:solidFill>
                              <a:srgbClr val="FF7C08"/>
                            </a:solidFill>
                          </a:endParaRPr>
                        </a:p>
                      </a:txBody>
                      <a:tcPr anchor="ctr"/>
                    </a:tc>
                    <a:extLst>
                      <a:ext uri="{0D108BD9-81ED-4DB2-BD59-A6C34878D82A}">
                        <a16:rowId xmlns:a16="http://schemas.microsoft.com/office/drawing/2014/main" val="4218713460"/>
                      </a:ext>
                    </a:extLst>
                  </a:tr>
                  <a:tr h="370840">
                    <a:tc>
                      <a:txBody>
                        <a:bodyPr/>
                        <a:lstStyle/>
                        <a:p>
                          <a:pPr algn="ctr"/>
                          <a:r>
                            <a:rPr lang="en-US" altLang="zh-TW" dirty="0">
                              <a:solidFill>
                                <a:srgbClr val="209A20"/>
                              </a:solidFill>
                            </a:rPr>
                            <a:t>case5</a:t>
                          </a:r>
                          <a:endParaRPr lang="zh-TW" altLang="en-US" dirty="0">
                            <a:solidFill>
                              <a:srgbClr val="209A20"/>
                            </a:solidFill>
                          </a:endParaRPr>
                        </a:p>
                      </a:txBody>
                      <a:tcPr anchor="ctr"/>
                    </a:tc>
                    <a:tc>
                      <a:txBody>
                        <a:bodyPr/>
                        <a:lstStyle/>
                        <a:p>
                          <a:pPr algn="ctr"/>
                          <a:r>
                            <a:rPr lang="en-US" altLang="zh-TW" dirty="0">
                              <a:solidFill>
                                <a:srgbClr val="209A20"/>
                              </a:solidFill>
                            </a:rPr>
                            <a:t>886.82</a:t>
                          </a:r>
                          <a:endParaRPr lang="zh-TW" altLang="en-US" dirty="0">
                            <a:solidFill>
                              <a:srgbClr val="209A20"/>
                            </a:solidFill>
                          </a:endParaRPr>
                        </a:p>
                      </a:txBody>
                      <a:tcPr anchor="ctr"/>
                    </a:tc>
                    <a:extLst>
                      <a:ext uri="{0D108BD9-81ED-4DB2-BD59-A6C34878D82A}">
                        <a16:rowId xmlns:a16="http://schemas.microsoft.com/office/drawing/2014/main" val="2200941733"/>
                      </a:ext>
                    </a:extLst>
                  </a:tr>
                </a:tbl>
              </a:graphicData>
            </a:graphic>
          </p:graphicFrame>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4A5E2166-9E00-20F8-D64E-A506BE690CD8}"/>
                  </a:ext>
                </a:extLst>
              </p:cNvPr>
              <p:cNvSpPr txBox="1"/>
              <p:nvPr/>
            </p:nvSpPr>
            <p:spPr>
              <a:xfrm>
                <a:off x="63328" y="5945394"/>
                <a:ext cx="5095618" cy="307777"/>
              </a:xfrm>
              <a:prstGeom prst="rect">
                <a:avLst/>
              </a:prstGeom>
              <a:noFill/>
            </p:spPr>
            <p:txBody>
              <a:bodyPr wrap="square">
                <a:spAutoFit/>
              </a:bodyPr>
              <a:lstStyle/>
              <a:p>
                <a:r>
                  <a:rPr lang="en-US" altLang="zh-TW" sz="1400" b="1" dirty="0">
                    <a:solidFill>
                      <a:schemeClr val="tx1"/>
                    </a:solidFill>
                  </a:rPr>
                  <a:t>*</a:t>
                </a:r>
                <a14:m>
                  <m:oMath xmlns:m="http://schemas.openxmlformats.org/officeDocument/2006/math">
                    <m:sSub>
                      <m:sSubPr>
                        <m:ctrlPr>
                          <a:rPr lang="en-US" altLang="zh-TW" sz="1400" b="1" i="1" smtClean="0">
                            <a:solidFill>
                              <a:schemeClr val="tx1"/>
                            </a:solidFill>
                            <a:latin typeface="Cambria Math" panose="02040503050406030204" pitchFamily="18" charset="0"/>
                          </a:rPr>
                        </m:ctrlPr>
                      </m:sSubPr>
                      <m:e>
                        <m:r>
                          <a:rPr lang="en-US" altLang="zh-TW" sz="1400" b="1" i="1" smtClean="0">
                            <a:solidFill>
                              <a:schemeClr val="tx1"/>
                            </a:solidFill>
                            <a:latin typeface="Cambria Math" panose="02040503050406030204" pitchFamily="18" charset="0"/>
                          </a:rPr>
                          <m:t>𝑴</m:t>
                        </m:r>
                      </m:e>
                      <m:sub>
                        <m:r>
                          <a:rPr lang="en-US" altLang="zh-TW" sz="1400" b="1" i="1" smtClean="0">
                            <a:solidFill>
                              <a:schemeClr val="tx1"/>
                            </a:solidFill>
                            <a:latin typeface="Cambria Math" panose="02040503050406030204" pitchFamily="18" charset="0"/>
                          </a:rPr>
                          <m:t>𝒎𝒂𝒙</m:t>
                        </m:r>
                      </m:sub>
                    </m:sSub>
                  </m:oMath>
                </a14:m>
                <a:r>
                  <a:rPr lang="zh-TW" altLang="en-US" sz="1400" dirty="0">
                    <a:solidFill>
                      <a:schemeClr val="tx1"/>
                    </a:solidFill>
                  </a:rPr>
                  <a:t> </a:t>
                </a:r>
                <a:r>
                  <a:rPr lang="en-US" altLang="zh-TW" sz="1400" dirty="0"/>
                  <a:t>is the moment corresponding to the maximum curvature</a:t>
                </a:r>
                <a:endParaRPr lang="zh-TW" altLang="en-US" sz="1400" dirty="0"/>
              </a:p>
            </p:txBody>
          </p:sp>
        </mc:Choice>
        <mc:Fallback xmlns="">
          <p:sp>
            <p:nvSpPr>
              <p:cNvPr id="6" name="文字方塊 5">
                <a:extLst>
                  <a:ext uri="{FF2B5EF4-FFF2-40B4-BE49-F238E27FC236}">
                    <a16:creationId xmlns:a16="http://schemas.microsoft.com/office/drawing/2014/main" id="{4A5E2166-9E00-20F8-D64E-A506BE690CD8}"/>
                  </a:ext>
                </a:extLst>
              </p:cNvPr>
              <p:cNvSpPr txBox="1">
                <a:spLocks noRot="1" noChangeAspect="1" noMove="1" noResize="1" noEditPoints="1" noAdjustHandles="1" noChangeArrowheads="1" noChangeShapeType="1" noTextEdit="1"/>
              </p:cNvSpPr>
              <p:nvPr/>
            </p:nvSpPr>
            <p:spPr>
              <a:xfrm>
                <a:off x="63328" y="5945394"/>
                <a:ext cx="5095618" cy="307777"/>
              </a:xfrm>
              <a:prstGeom prst="rect">
                <a:avLst/>
              </a:prstGeom>
              <a:blipFill>
                <a:blip r:embed="rId5"/>
                <a:stretch>
                  <a:fillRect l="-359" t="-3922" b="-17647"/>
                </a:stretch>
              </a:blipFill>
            </p:spPr>
            <p:txBody>
              <a:bodyPr/>
              <a:lstStyle/>
              <a:p>
                <a:r>
                  <a:rPr lang="zh-TW" altLang="en-US">
                    <a:noFill/>
                  </a:rPr>
                  <a:t> </a:t>
                </a:r>
              </a:p>
            </p:txBody>
          </p:sp>
        </mc:Fallback>
      </mc:AlternateContent>
      <p:cxnSp>
        <p:nvCxnSpPr>
          <p:cNvPr id="8" name="直線接點 7">
            <a:extLst>
              <a:ext uri="{FF2B5EF4-FFF2-40B4-BE49-F238E27FC236}">
                <a16:creationId xmlns:a16="http://schemas.microsoft.com/office/drawing/2014/main" id="{950B0957-D165-5BD0-8C39-126AF46E1959}"/>
              </a:ext>
            </a:extLst>
          </p:cNvPr>
          <p:cNvCxnSpPr/>
          <p:nvPr/>
        </p:nvCxnSpPr>
        <p:spPr>
          <a:xfrm flipH="1">
            <a:off x="5294870" y="3076832"/>
            <a:ext cx="5331941" cy="0"/>
          </a:xfrm>
          <a:prstGeom prst="line">
            <a:avLst/>
          </a:prstGeom>
          <a:ln>
            <a:solidFill>
              <a:srgbClr val="FF7C08"/>
            </a:solidFill>
            <a:prstDash val="dash"/>
          </a:ln>
        </p:spPr>
        <p:style>
          <a:lnRef idx="1">
            <a:schemeClr val="accent1"/>
          </a:lnRef>
          <a:fillRef idx="0">
            <a:schemeClr val="accent1"/>
          </a:fillRef>
          <a:effectRef idx="0">
            <a:schemeClr val="accent1"/>
          </a:effectRef>
          <a:fontRef idx="minor">
            <a:schemeClr val="tx1"/>
          </a:fontRef>
        </p:style>
      </p:cxnSp>
      <p:cxnSp>
        <p:nvCxnSpPr>
          <p:cNvPr id="9" name="直線接點 8">
            <a:extLst>
              <a:ext uri="{FF2B5EF4-FFF2-40B4-BE49-F238E27FC236}">
                <a16:creationId xmlns:a16="http://schemas.microsoft.com/office/drawing/2014/main" id="{EC115509-A06C-E77D-1C2E-976D3661A236}"/>
              </a:ext>
            </a:extLst>
          </p:cNvPr>
          <p:cNvCxnSpPr/>
          <p:nvPr/>
        </p:nvCxnSpPr>
        <p:spPr>
          <a:xfrm flipH="1">
            <a:off x="5294870" y="3223053"/>
            <a:ext cx="5331941" cy="0"/>
          </a:xfrm>
          <a:prstGeom prst="line">
            <a:avLst/>
          </a:prstGeom>
          <a:ln>
            <a:solidFill>
              <a:srgbClr val="0F6DAE"/>
            </a:solidFill>
            <a:prstDash val="dash"/>
          </a:ln>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66304D2D-012B-D414-99AB-966E07C82B4A}"/>
              </a:ext>
            </a:extLst>
          </p:cNvPr>
          <p:cNvCxnSpPr/>
          <p:nvPr/>
        </p:nvCxnSpPr>
        <p:spPr>
          <a:xfrm flipH="1">
            <a:off x="5294870" y="3429000"/>
            <a:ext cx="5331941" cy="0"/>
          </a:xfrm>
          <a:prstGeom prst="line">
            <a:avLst/>
          </a:prstGeom>
          <a:ln>
            <a:solidFill>
              <a:srgbClr val="209A2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6081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C028-955A-176F-6E74-C0D91B82B1F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B4135C9-B6A7-31B5-BEE0-0E189A7119B4}"/>
              </a:ext>
            </a:extLst>
          </p:cNvPr>
          <p:cNvSpPr>
            <a:spLocks noGrp="1"/>
          </p:cNvSpPr>
          <p:nvPr>
            <p:ph type="title"/>
          </p:nvPr>
        </p:nvSpPr>
        <p:spPr>
          <a:xfrm>
            <a:off x="1097280" y="286603"/>
            <a:ext cx="5904653" cy="1450757"/>
          </a:xfrm>
        </p:spPr>
        <p:txBody>
          <a:bodyPr/>
          <a:lstStyle/>
          <a:p>
            <a:r>
              <a:rPr lang="en-US" altLang="zh-TW" dirty="0"/>
              <a:t>OpenSees analysis</a:t>
            </a:r>
            <a:endParaRPr lang="zh-TW" altLang="en-US" dirty="0"/>
          </a:p>
        </p:txBody>
      </p:sp>
      <p:sp>
        <p:nvSpPr>
          <p:cNvPr id="4" name="投影片編號版面配置區 3">
            <a:extLst>
              <a:ext uri="{FF2B5EF4-FFF2-40B4-BE49-F238E27FC236}">
                <a16:creationId xmlns:a16="http://schemas.microsoft.com/office/drawing/2014/main" id="{F16C0D41-9E81-093D-4A7F-5C17A74FD415}"/>
              </a:ext>
            </a:extLst>
          </p:cNvPr>
          <p:cNvSpPr>
            <a:spLocks noGrp="1"/>
          </p:cNvSpPr>
          <p:nvPr>
            <p:ph type="sldNum" sz="quarter" idx="12"/>
          </p:nvPr>
        </p:nvSpPr>
        <p:spPr/>
        <p:txBody>
          <a:bodyPr/>
          <a:lstStyle/>
          <a:p>
            <a:fld id="{3A98EE3D-8CD1-4C3F-BD1C-C98C9596463C}" type="slidenum">
              <a:rPr lang="en-US" smtClean="0"/>
              <a:pPr/>
              <a:t>10</a:t>
            </a:fld>
            <a:endParaRPr lang="en-US" dirty="0"/>
          </a:p>
        </p:txBody>
      </p:sp>
      <p:pic>
        <p:nvPicPr>
          <p:cNvPr id="16" name="圖片 15">
            <a:extLst>
              <a:ext uri="{FF2B5EF4-FFF2-40B4-BE49-F238E27FC236}">
                <a16:creationId xmlns:a16="http://schemas.microsoft.com/office/drawing/2014/main" id="{DF03BCED-EA08-8630-9054-6F9577B85A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1845" y="1949919"/>
            <a:ext cx="6566563" cy="4417362"/>
          </a:xfrm>
          <a:prstGeom prst="rect">
            <a:avLst/>
          </a:prstGeom>
        </p:spPr>
      </p:pic>
      <p:cxnSp>
        <p:nvCxnSpPr>
          <p:cNvPr id="3" name="直線接點 2">
            <a:extLst>
              <a:ext uri="{FF2B5EF4-FFF2-40B4-BE49-F238E27FC236}">
                <a16:creationId xmlns:a16="http://schemas.microsoft.com/office/drawing/2014/main" id="{E7B634A6-8E15-71FC-C248-0A90CA2ECDAA}"/>
              </a:ext>
            </a:extLst>
          </p:cNvPr>
          <p:cNvCxnSpPr>
            <a:cxnSpLocks/>
          </p:cNvCxnSpPr>
          <p:nvPr/>
        </p:nvCxnSpPr>
        <p:spPr>
          <a:xfrm>
            <a:off x="5706083" y="2975095"/>
            <a:ext cx="0" cy="2894259"/>
          </a:xfrm>
          <a:prstGeom prst="line">
            <a:avLst/>
          </a:prstGeom>
          <a:ln>
            <a:solidFill>
              <a:srgbClr val="FF7C08"/>
            </a:solidFill>
            <a:prstDash val="dash"/>
          </a:ln>
        </p:spPr>
        <p:style>
          <a:lnRef idx="1">
            <a:schemeClr val="accent1"/>
          </a:lnRef>
          <a:fillRef idx="0">
            <a:schemeClr val="accent1"/>
          </a:fillRef>
          <a:effectRef idx="0">
            <a:schemeClr val="accent1"/>
          </a:effectRef>
          <a:fontRef idx="minor">
            <a:schemeClr val="tx1"/>
          </a:fontRef>
        </p:style>
      </p:cxnSp>
      <p:cxnSp>
        <p:nvCxnSpPr>
          <p:cNvPr id="5" name="直線接點 4">
            <a:extLst>
              <a:ext uri="{FF2B5EF4-FFF2-40B4-BE49-F238E27FC236}">
                <a16:creationId xmlns:a16="http://schemas.microsoft.com/office/drawing/2014/main" id="{BF970D5E-A8E9-F131-7296-4901E45421AA}"/>
              </a:ext>
            </a:extLst>
          </p:cNvPr>
          <p:cNvCxnSpPr>
            <a:cxnSpLocks/>
          </p:cNvCxnSpPr>
          <p:nvPr/>
        </p:nvCxnSpPr>
        <p:spPr>
          <a:xfrm>
            <a:off x="5468494" y="3305686"/>
            <a:ext cx="0" cy="2563668"/>
          </a:xfrm>
          <a:prstGeom prst="line">
            <a:avLst/>
          </a:prstGeom>
          <a:ln>
            <a:solidFill>
              <a:srgbClr val="0F6DAE"/>
            </a:solidFill>
            <a:prstDash val="dash"/>
          </a:ln>
        </p:spPr>
        <p:style>
          <a:lnRef idx="1">
            <a:schemeClr val="accent1"/>
          </a:lnRef>
          <a:fillRef idx="0">
            <a:schemeClr val="accent1"/>
          </a:fillRef>
          <a:effectRef idx="0">
            <a:schemeClr val="accent1"/>
          </a:effectRef>
          <a:fontRef idx="minor">
            <a:schemeClr val="tx1"/>
          </a:fontRef>
        </p:style>
      </p:cxnSp>
      <p:cxnSp>
        <p:nvCxnSpPr>
          <p:cNvPr id="6" name="直線接點 5">
            <a:extLst>
              <a:ext uri="{FF2B5EF4-FFF2-40B4-BE49-F238E27FC236}">
                <a16:creationId xmlns:a16="http://schemas.microsoft.com/office/drawing/2014/main" id="{8D9F52D2-1F32-0198-F606-94E917CE1701}"/>
              </a:ext>
            </a:extLst>
          </p:cNvPr>
          <p:cNvCxnSpPr>
            <a:cxnSpLocks/>
          </p:cNvCxnSpPr>
          <p:nvPr/>
        </p:nvCxnSpPr>
        <p:spPr>
          <a:xfrm>
            <a:off x="5816975" y="2676751"/>
            <a:ext cx="0" cy="3192603"/>
          </a:xfrm>
          <a:prstGeom prst="line">
            <a:avLst/>
          </a:prstGeom>
          <a:ln>
            <a:solidFill>
              <a:srgbClr val="209A2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8C99DC90-EA98-E70B-3CFB-AFAE7A674761}"/>
                  </a:ext>
                </a:extLst>
              </p:cNvPr>
              <p:cNvSpPr txBox="1"/>
              <p:nvPr/>
            </p:nvSpPr>
            <p:spPr>
              <a:xfrm>
                <a:off x="5432843" y="2308619"/>
                <a:ext cx="1221219" cy="307777"/>
              </a:xfrm>
              <a:prstGeom prst="rect">
                <a:avLst/>
              </a:prstGeom>
              <a:noFill/>
              <a:ln w="19050">
                <a:solidFill>
                  <a:srgbClr val="C00000"/>
                </a:solidFill>
                <a:prstDash val="dash"/>
              </a:ln>
            </p:spPr>
            <p:txBody>
              <a:bodyPr wrap="square">
                <a:spAutoFit/>
              </a:bodyPr>
              <a:lstStyle/>
              <a:p>
                <a:pPr algn="ctr"/>
                <a14:m>
                  <m:oMath xmlns:m="http://schemas.openxmlformats.org/officeDocument/2006/math">
                    <m:sSup>
                      <m:sSupPr>
                        <m:ctrlPr>
                          <a:rPr lang="en-US" altLang="zh-TW" sz="1400" b="1" i="1" smtClean="0">
                            <a:solidFill>
                              <a:schemeClr val="tx1"/>
                            </a:solidFill>
                            <a:latin typeface="Cambria Math" panose="02040503050406030204" pitchFamily="18" charset="0"/>
                          </a:rPr>
                        </m:ctrlPr>
                      </m:sSupPr>
                      <m:e>
                        <m:r>
                          <a:rPr lang="en-US" altLang="zh-TW" sz="1400" b="1" i="1" smtClean="0">
                            <a:solidFill>
                              <a:schemeClr val="tx1"/>
                            </a:solidFill>
                            <a:latin typeface="Cambria Math" panose="02040503050406030204" pitchFamily="18" charset="0"/>
                          </a:rPr>
                          <m:t>𝒇</m:t>
                        </m:r>
                      </m:e>
                      <m:sup>
                        <m:r>
                          <a:rPr lang="en-US" altLang="zh-TW" sz="1400" b="1" i="1" smtClean="0">
                            <a:solidFill>
                              <a:schemeClr val="tx1"/>
                            </a:solidFill>
                            <a:latin typeface="Cambria Math" panose="02040503050406030204" pitchFamily="18" charset="0"/>
                          </a:rPr>
                          <m:t>′</m:t>
                        </m:r>
                      </m:sup>
                    </m:sSup>
                    <m:r>
                      <a:rPr lang="en-US" altLang="zh-TW" sz="1400" b="1" i="1" smtClean="0">
                        <a:solidFill>
                          <a:schemeClr val="tx1"/>
                        </a:solidFill>
                        <a:latin typeface="Cambria Math" panose="02040503050406030204" pitchFamily="18" charset="0"/>
                      </a:rPr>
                      <m:t>𝒄</m:t>
                    </m:r>
                  </m:oMath>
                </a14:m>
                <a:r>
                  <a:rPr lang="zh-TW" altLang="en-US" sz="1400" b="1" dirty="0"/>
                  <a:t> ↑</a:t>
                </a:r>
                <a:r>
                  <a:rPr lang="en-US" altLang="zh-TW" sz="1400" b="1" dirty="0"/>
                  <a:t>,</a:t>
                </a:r>
                <a:r>
                  <a:rPr lang="zh-TW" altLang="en-US" sz="1400" b="1" dirty="0"/>
                  <a:t>　</a:t>
                </a:r>
                <a14:m>
                  <m:oMath xmlns:m="http://schemas.openxmlformats.org/officeDocument/2006/math">
                    <m:r>
                      <a:rPr lang="zh-TW" altLang="en-US" sz="1400" b="1" i="1" smtClean="0">
                        <a:latin typeface="Cambria Math" panose="02040503050406030204" pitchFamily="18" charset="0"/>
                      </a:rPr>
                      <m:t>𝝓</m:t>
                    </m:r>
                  </m:oMath>
                </a14:m>
                <a:r>
                  <a:rPr lang="zh-TW" altLang="en-US" sz="1400" b="1" dirty="0"/>
                  <a:t> ↑</a:t>
                </a:r>
              </a:p>
            </p:txBody>
          </p:sp>
        </mc:Choice>
        <mc:Fallback xmlns="">
          <p:sp>
            <p:nvSpPr>
              <p:cNvPr id="41" name="文字方塊 40">
                <a:extLst>
                  <a:ext uri="{FF2B5EF4-FFF2-40B4-BE49-F238E27FC236}">
                    <a16:creationId xmlns:a16="http://schemas.microsoft.com/office/drawing/2014/main" id="{8C99DC90-EA98-E70B-3CFB-AFAE7A674761}"/>
                  </a:ext>
                </a:extLst>
              </p:cNvPr>
              <p:cNvSpPr txBox="1">
                <a:spLocks noRot="1" noChangeAspect="1" noMove="1" noResize="1" noEditPoints="1" noAdjustHandles="1" noChangeArrowheads="1" noChangeShapeType="1" noTextEdit="1"/>
              </p:cNvSpPr>
              <p:nvPr/>
            </p:nvSpPr>
            <p:spPr>
              <a:xfrm>
                <a:off x="5432843" y="2308619"/>
                <a:ext cx="1221219" cy="307777"/>
              </a:xfrm>
              <a:prstGeom prst="rect">
                <a:avLst/>
              </a:prstGeom>
              <a:blipFill>
                <a:blip r:embed="rId4"/>
                <a:stretch>
                  <a:fillRect t="-3774" b="-13208"/>
                </a:stretch>
              </a:blipFill>
              <a:ln w="19050">
                <a:solidFill>
                  <a:srgbClr val="C00000"/>
                </a:solidFill>
                <a:prstDash val="dash"/>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3D5AF8F8-2284-D75A-A4E5-F8FF8B3D92F4}"/>
                  </a:ext>
                </a:extLst>
              </p:cNvPr>
              <p:cNvSpPr txBox="1"/>
              <p:nvPr/>
            </p:nvSpPr>
            <p:spPr>
              <a:xfrm>
                <a:off x="6558251" y="3657597"/>
                <a:ext cx="5633749" cy="896592"/>
              </a:xfrm>
              <a:prstGeom prst="rect">
                <a:avLst/>
              </a:prstGeom>
              <a:noFill/>
            </p:spPr>
            <p:txBody>
              <a:bodyPr wrap="square">
                <a:spAutoFit/>
              </a:bodyPr>
              <a:lstStyle/>
              <a:p>
                <a:pPr algn="ctr"/>
                <a:r>
                  <a:rPr lang="en-US" altLang="zh-TW" dirty="0"/>
                  <a:t>Curvature is equal to strain divided by neutral axis depth:</a:t>
                </a:r>
              </a:p>
              <a:p>
                <a:pPr algn="ctr"/>
                <a14:m>
                  <m:oMathPara xmlns:m="http://schemas.openxmlformats.org/officeDocument/2006/math">
                    <m:oMathParaPr>
                      <m:jc m:val="centerGroup"/>
                    </m:oMathParaPr>
                    <m:oMath xmlns:m="http://schemas.openxmlformats.org/officeDocument/2006/math">
                      <m:r>
                        <a:rPr lang="zh-TW" altLang="en-US" sz="2000" i="1" smtClean="0">
                          <a:latin typeface="Cambria Math" panose="02040503050406030204" pitchFamily="18" charset="0"/>
                        </a:rPr>
                        <m:t>𝜙</m:t>
                      </m:r>
                      <m:r>
                        <a:rPr lang="en-US" altLang="zh-TW" sz="2000" i="1">
                          <a:latin typeface="Cambria Math" panose="02040503050406030204" pitchFamily="18" charset="0"/>
                        </a:rPr>
                        <m:t>=</m:t>
                      </m:r>
                      <m:f>
                        <m:fPr>
                          <m:ctrlPr>
                            <a:rPr lang="en-US" altLang="zh-TW" sz="2000" i="1">
                              <a:latin typeface="Cambria Math" panose="02040503050406030204" pitchFamily="18" charset="0"/>
                            </a:rPr>
                          </m:ctrlPr>
                        </m:fPr>
                        <m:num>
                          <m:r>
                            <a:rPr lang="zh-TW" altLang="en-US" sz="2000" i="1">
                              <a:latin typeface="Cambria Math" panose="02040503050406030204" pitchFamily="18" charset="0"/>
                            </a:rPr>
                            <m:t>𝜀</m:t>
                          </m:r>
                        </m:num>
                        <m:den>
                          <m:r>
                            <a:rPr lang="en-US" altLang="zh-TW" sz="2000" i="1">
                              <a:latin typeface="Cambria Math" panose="02040503050406030204" pitchFamily="18" charset="0"/>
                            </a:rPr>
                            <m:t>𝑐</m:t>
                          </m:r>
                        </m:den>
                      </m:f>
                    </m:oMath>
                  </m:oMathPara>
                </a14:m>
                <a:endParaRPr lang="zh-TW" altLang="en-US" sz="2000" dirty="0"/>
              </a:p>
            </p:txBody>
          </p:sp>
        </mc:Choice>
        <mc:Fallback xmlns="">
          <p:sp>
            <p:nvSpPr>
              <p:cNvPr id="47" name="文字方塊 46">
                <a:extLst>
                  <a:ext uri="{FF2B5EF4-FFF2-40B4-BE49-F238E27FC236}">
                    <a16:creationId xmlns:a16="http://schemas.microsoft.com/office/drawing/2014/main" id="{3D5AF8F8-2284-D75A-A4E5-F8FF8B3D92F4}"/>
                  </a:ext>
                </a:extLst>
              </p:cNvPr>
              <p:cNvSpPr txBox="1">
                <a:spLocks noRot="1" noChangeAspect="1" noMove="1" noResize="1" noEditPoints="1" noAdjustHandles="1" noChangeArrowheads="1" noChangeShapeType="1" noTextEdit="1"/>
              </p:cNvSpPr>
              <p:nvPr/>
            </p:nvSpPr>
            <p:spPr>
              <a:xfrm>
                <a:off x="6558251" y="3657597"/>
                <a:ext cx="5633749" cy="896592"/>
              </a:xfrm>
              <a:prstGeom prst="rect">
                <a:avLst/>
              </a:prstGeom>
              <a:blipFill>
                <a:blip r:embed="rId5"/>
                <a:stretch>
                  <a:fillRect l="-1190" t="-3401" r="-108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27910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17E15-D36D-9BD7-D994-F4DDFBA573E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F584FB8-BDDA-44F6-2694-594FEFF77C3D}"/>
              </a:ext>
            </a:extLst>
          </p:cNvPr>
          <p:cNvSpPr>
            <a:spLocks noGrp="1"/>
          </p:cNvSpPr>
          <p:nvPr>
            <p:ph type="title"/>
          </p:nvPr>
        </p:nvSpPr>
        <p:spPr/>
        <p:txBody>
          <a:bodyPr/>
          <a:lstStyle/>
          <a:p>
            <a:r>
              <a:rPr lang="en-US" altLang="zh-TW" dirty="0"/>
              <a:t>OpenSees analysis</a:t>
            </a:r>
            <a:endParaRPr lang="zh-TW" altLang="en-US" dirty="0"/>
          </a:p>
        </p:txBody>
      </p:sp>
      <p:sp>
        <p:nvSpPr>
          <p:cNvPr id="4" name="投影片編號版面配置區 3">
            <a:extLst>
              <a:ext uri="{FF2B5EF4-FFF2-40B4-BE49-F238E27FC236}">
                <a16:creationId xmlns:a16="http://schemas.microsoft.com/office/drawing/2014/main" id="{2B86F631-E05A-8B6A-C564-211DCBD4A4D5}"/>
              </a:ext>
            </a:extLst>
          </p:cNvPr>
          <p:cNvSpPr>
            <a:spLocks noGrp="1"/>
          </p:cNvSpPr>
          <p:nvPr>
            <p:ph type="sldNum" sz="quarter" idx="12"/>
          </p:nvPr>
        </p:nvSpPr>
        <p:spPr/>
        <p:txBody>
          <a:bodyPr/>
          <a:lstStyle/>
          <a:p>
            <a:fld id="{3A98EE3D-8CD1-4C3F-BD1C-C98C9596463C}" type="slidenum">
              <a:rPr lang="en-US" smtClean="0"/>
              <a:pPr/>
              <a:t>11</a:t>
            </a:fld>
            <a:endParaRPr lang="en-US" dirty="0"/>
          </a:p>
        </p:txBody>
      </p:sp>
      <p:sp>
        <p:nvSpPr>
          <p:cNvPr id="12" name="文字方塊 11">
            <a:extLst>
              <a:ext uri="{FF2B5EF4-FFF2-40B4-BE49-F238E27FC236}">
                <a16:creationId xmlns:a16="http://schemas.microsoft.com/office/drawing/2014/main" id="{D6AF5AC0-6C84-995A-2A4D-167B86341205}"/>
              </a:ext>
            </a:extLst>
          </p:cNvPr>
          <p:cNvSpPr txBox="1"/>
          <p:nvPr/>
        </p:nvSpPr>
        <p:spPr>
          <a:xfrm>
            <a:off x="419030" y="2223670"/>
            <a:ext cx="3712395" cy="1820883"/>
          </a:xfrm>
          <a:prstGeom prst="rect">
            <a:avLst/>
          </a:prstGeom>
          <a:noFill/>
        </p:spPr>
        <p:txBody>
          <a:bodyPr wrap="square">
            <a:spAutoFit/>
          </a:bodyPr>
          <a:lstStyle/>
          <a:p>
            <a:pPr marL="91440" marR="0" lvl="0" indent="-91440" algn="just" defTabSz="914400" rtl="0" eaLnBrk="1" fontAlgn="auto" latinLnBrk="0" hangingPunct="1">
              <a:lnSpc>
                <a:spcPct val="150000"/>
              </a:lnSpc>
              <a:spcBef>
                <a:spcPts val="0"/>
              </a:spcBef>
              <a:spcAft>
                <a:spcPts val="1200"/>
              </a:spcAft>
              <a:buClr>
                <a:srgbClr val="9BA8B7"/>
              </a:buClr>
              <a:buSzPct val="100000"/>
              <a:buFontTx/>
              <a:buNone/>
              <a:tabLst/>
              <a:defRPr/>
            </a:pPr>
            <a:r>
              <a:rPr kumimoji="0" lang="en-US" altLang="zh-TW" sz="24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mn-cs"/>
              </a:rPr>
              <a:t>Results</a:t>
            </a:r>
          </a:p>
          <a:p>
            <a:pPr marL="91440" marR="0" lvl="0" indent="-91440" algn="just" defTabSz="914400" rtl="0" eaLnBrk="1" fontAlgn="auto" latinLnBrk="0" hangingPunct="1">
              <a:lnSpc>
                <a:spcPct val="150000"/>
              </a:lnSpc>
              <a:spcBef>
                <a:spcPts val="0"/>
              </a:spcBef>
              <a:spcAft>
                <a:spcPts val="1200"/>
              </a:spcAft>
              <a:buClr>
                <a:srgbClr val="9BA8B7"/>
              </a:buClr>
              <a:buSzPct val="100000"/>
              <a:buFontTx/>
              <a:buNone/>
              <a:tabLst/>
              <a:defRPr/>
            </a:pPr>
            <a:r>
              <a:rPr lang="en-US" altLang="zh-TW" sz="2000" dirty="0">
                <a:solidFill>
                  <a:srgbClr val="000000"/>
                </a:solidFill>
                <a:latin typeface="微軟正黑體" panose="020B0604030504040204" pitchFamily="34" charset="-120"/>
                <a:ea typeface="微軟正黑體" panose="020B0604030504040204" pitchFamily="34" charset="-120"/>
              </a:rPr>
              <a:t>Different concrete </a:t>
            </a:r>
            <a:r>
              <a:rPr kumimoji="0" lang="en-US" altLang="zh-TW" sz="20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mn-cs"/>
              </a:rPr>
              <a:t>strength</a:t>
            </a:r>
          </a:p>
          <a:p>
            <a:pPr marL="91440" marR="0" lvl="0" indent="-91440" algn="just" defTabSz="914400" rtl="0" eaLnBrk="1" fontAlgn="auto" latinLnBrk="0" hangingPunct="1">
              <a:lnSpc>
                <a:spcPct val="150000"/>
              </a:lnSpc>
              <a:spcBef>
                <a:spcPts val="0"/>
              </a:spcBef>
              <a:spcAft>
                <a:spcPts val="1200"/>
              </a:spcAft>
              <a:buClr>
                <a:srgbClr val="9BA8B7"/>
              </a:buClr>
              <a:buSzPct val="100000"/>
              <a:buFontTx/>
              <a:buNone/>
              <a:tabLst/>
              <a:defRPr/>
            </a:pPr>
            <a:r>
              <a:rPr lang="en-US" altLang="zh-TW" sz="2000" dirty="0">
                <a:solidFill>
                  <a:srgbClr val="000000"/>
                </a:solidFill>
                <a:latin typeface="微軟正黑體" panose="020B0604030504040204" pitchFamily="34" charset="-120"/>
                <a:ea typeface="微軟正黑體" panose="020B0604030504040204" pitchFamily="34" charset="-120"/>
              </a:rPr>
              <a:t>W / SD550</a:t>
            </a:r>
          </a:p>
        </p:txBody>
      </p:sp>
      <p:pic>
        <p:nvPicPr>
          <p:cNvPr id="16" name="圖片 15">
            <a:extLst>
              <a:ext uri="{FF2B5EF4-FFF2-40B4-BE49-F238E27FC236}">
                <a16:creationId xmlns:a16="http://schemas.microsoft.com/office/drawing/2014/main" id="{D7586348-AFA1-F7DB-0BD1-3B10EE49001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87518" y="1949382"/>
            <a:ext cx="6568162" cy="4418437"/>
          </a:xfrm>
          <a:prstGeom prst="rect">
            <a:avLst/>
          </a:prstGeom>
        </p:spPr>
      </p:pic>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2D3880FC-A1FE-3144-161D-24A7BB05309E}"/>
                  </a:ext>
                </a:extLst>
              </p:cNvPr>
              <p:cNvGraphicFramePr>
                <a:graphicFrameLocks noGrp="1"/>
              </p:cNvGraphicFramePr>
              <p:nvPr>
                <p:extLst>
                  <p:ext uri="{D42A27DB-BD31-4B8C-83A1-F6EECF244321}">
                    <p14:modId xmlns:p14="http://schemas.microsoft.com/office/powerpoint/2010/main" val="1434808530"/>
                  </p:ext>
                </p:extLst>
              </p:nvPr>
            </p:nvGraphicFramePr>
            <p:xfrm>
              <a:off x="808680" y="4158600"/>
              <a:ext cx="2597187" cy="1483360"/>
            </p:xfrm>
            <a:graphic>
              <a:graphicData uri="http://schemas.openxmlformats.org/drawingml/2006/table">
                <a:tbl>
                  <a:tblPr firstRow="1" bandRow="1">
                    <a:tableStyleId>{00A15C55-8517-42AA-B614-E9B94910E393}</a:tableStyleId>
                  </a:tblPr>
                  <a:tblGrid>
                    <a:gridCol w="828590">
                      <a:extLst>
                        <a:ext uri="{9D8B030D-6E8A-4147-A177-3AD203B41FA5}">
                          <a16:colId xmlns:a16="http://schemas.microsoft.com/office/drawing/2014/main" val="1587330249"/>
                        </a:ext>
                      </a:extLst>
                    </a:gridCol>
                    <a:gridCol w="1768597">
                      <a:extLst>
                        <a:ext uri="{9D8B030D-6E8A-4147-A177-3AD203B41FA5}">
                          <a16:colId xmlns:a16="http://schemas.microsoft.com/office/drawing/2014/main" val="1423022030"/>
                        </a:ext>
                      </a:extLst>
                    </a:gridCol>
                  </a:tblGrid>
                  <a:tr h="370840">
                    <a:tc>
                      <a:txBody>
                        <a:bodyPr/>
                        <a:lstStyle/>
                        <a:p>
                          <a:pPr algn="ctr"/>
                          <a:endParaRPr lang="zh-TW" altLang="en-US" dirty="0">
                            <a:solidFill>
                              <a:schemeClr val="tx1"/>
                            </a:solidFill>
                          </a:endParaRPr>
                        </a:p>
                      </a:txBody>
                      <a:tcPr anchor="ctr"/>
                    </a:tc>
                    <a:tc>
                      <a:txBody>
                        <a:bodyPr/>
                        <a:lstStyle/>
                        <a:p>
                          <a:pPr algn="ctr"/>
                          <a14:m>
                            <m:oMath xmlns:m="http://schemas.openxmlformats.org/officeDocument/2006/math">
                              <m:sSub>
                                <m:sSubPr>
                                  <m:ctrlPr>
                                    <a:rPr lang="en-US" altLang="zh-TW" b="1" i="1" smtClean="0">
                                      <a:solidFill>
                                        <a:schemeClr val="tx1"/>
                                      </a:solidFill>
                                      <a:latin typeface="Cambria Math" panose="02040503050406030204" pitchFamily="18" charset="0"/>
                                    </a:rPr>
                                  </m:ctrlPr>
                                </m:sSubPr>
                                <m:e>
                                  <m:r>
                                    <a:rPr lang="en-US" altLang="zh-TW" b="1" i="1" smtClean="0">
                                      <a:solidFill>
                                        <a:schemeClr val="tx1"/>
                                      </a:solidFill>
                                      <a:latin typeface="Cambria Math" panose="02040503050406030204" pitchFamily="18" charset="0"/>
                                    </a:rPr>
                                    <m:t>𝑴</m:t>
                                  </m:r>
                                </m:e>
                                <m:sub>
                                  <m:r>
                                    <a:rPr lang="en-US" altLang="zh-TW" b="1" i="1" smtClean="0">
                                      <a:solidFill>
                                        <a:schemeClr val="tx1"/>
                                      </a:solidFill>
                                      <a:latin typeface="Cambria Math" panose="02040503050406030204" pitchFamily="18" charset="0"/>
                                    </a:rPr>
                                    <m:t>𝒖</m:t>
                                  </m:r>
                                </m:sub>
                              </m:sSub>
                            </m:oMath>
                          </a14:m>
                          <a:r>
                            <a:rPr lang="zh-TW" altLang="en-US" dirty="0">
                              <a:solidFill>
                                <a:schemeClr val="tx1"/>
                              </a:solidFill>
                            </a:rPr>
                            <a:t> </a:t>
                          </a:r>
                          <a:r>
                            <a:rPr lang="en-US" altLang="zh-TW" dirty="0">
                              <a:solidFill>
                                <a:schemeClr val="tx1"/>
                              </a:solidFill>
                            </a:rPr>
                            <a:t>(kN-m)</a:t>
                          </a:r>
                          <a:endParaRPr lang="zh-TW" altLang="en-US" dirty="0">
                            <a:solidFill>
                              <a:schemeClr val="tx1"/>
                            </a:solidFill>
                          </a:endParaRPr>
                        </a:p>
                      </a:txBody>
                      <a:tcPr anchor="ctr"/>
                    </a:tc>
                    <a:extLst>
                      <a:ext uri="{0D108BD9-81ED-4DB2-BD59-A6C34878D82A}">
                        <a16:rowId xmlns:a16="http://schemas.microsoft.com/office/drawing/2014/main" val="466937652"/>
                      </a:ext>
                    </a:extLst>
                  </a:tr>
                  <a:tr h="370840">
                    <a:tc>
                      <a:txBody>
                        <a:bodyPr/>
                        <a:lstStyle/>
                        <a:p>
                          <a:pPr algn="ctr"/>
                          <a:r>
                            <a:rPr lang="en-US" altLang="zh-TW" dirty="0">
                              <a:solidFill>
                                <a:srgbClr val="0F6DAE"/>
                              </a:solidFill>
                            </a:rPr>
                            <a:t>case2</a:t>
                          </a:r>
                          <a:endParaRPr lang="zh-TW" altLang="en-US" dirty="0">
                            <a:solidFill>
                              <a:srgbClr val="0F6DAE"/>
                            </a:solidFill>
                          </a:endParaRPr>
                        </a:p>
                      </a:txBody>
                      <a:tcPr anchor="ctr"/>
                    </a:tc>
                    <a:tc>
                      <a:txBody>
                        <a:bodyPr/>
                        <a:lstStyle/>
                        <a:p>
                          <a:pPr algn="ctr"/>
                          <a:r>
                            <a:rPr lang="en-US" altLang="zh-TW" dirty="0">
                              <a:solidFill>
                                <a:srgbClr val="0F6DAE"/>
                              </a:solidFill>
                            </a:rPr>
                            <a:t>1063.07</a:t>
                          </a:r>
                          <a:endParaRPr lang="zh-TW" altLang="en-US" dirty="0">
                            <a:solidFill>
                              <a:srgbClr val="0F6DAE"/>
                            </a:solidFill>
                          </a:endParaRPr>
                        </a:p>
                      </a:txBody>
                      <a:tcPr anchor="ctr"/>
                    </a:tc>
                    <a:extLst>
                      <a:ext uri="{0D108BD9-81ED-4DB2-BD59-A6C34878D82A}">
                        <a16:rowId xmlns:a16="http://schemas.microsoft.com/office/drawing/2014/main" val="1541838636"/>
                      </a:ext>
                    </a:extLst>
                  </a:tr>
                  <a:tr h="370840">
                    <a:tc>
                      <a:txBody>
                        <a:bodyPr/>
                        <a:lstStyle/>
                        <a:p>
                          <a:pPr algn="ctr"/>
                          <a:r>
                            <a:rPr lang="en-US" altLang="zh-TW" dirty="0">
                              <a:solidFill>
                                <a:srgbClr val="FF7C08"/>
                              </a:solidFill>
                            </a:rPr>
                            <a:t>case4</a:t>
                          </a:r>
                          <a:endParaRPr lang="zh-TW" altLang="en-US" dirty="0">
                            <a:solidFill>
                              <a:srgbClr val="FF7C08"/>
                            </a:solidFill>
                          </a:endParaRPr>
                        </a:p>
                      </a:txBody>
                      <a:tcPr anchor="ctr"/>
                    </a:tc>
                    <a:tc>
                      <a:txBody>
                        <a:bodyPr/>
                        <a:lstStyle/>
                        <a:p>
                          <a:pPr algn="ctr"/>
                          <a:r>
                            <a:rPr lang="en-US" altLang="zh-TW" dirty="0">
                              <a:solidFill>
                                <a:srgbClr val="FF7C08"/>
                              </a:solidFill>
                            </a:rPr>
                            <a:t>1088.82</a:t>
                          </a:r>
                          <a:endParaRPr lang="zh-TW" altLang="en-US" dirty="0">
                            <a:solidFill>
                              <a:srgbClr val="FF7C08"/>
                            </a:solidFill>
                          </a:endParaRPr>
                        </a:p>
                      </a:txBody>
                      <a:tcPr anchor="ctr"/>
                    </a:tc>
                    <a:extLst>
                      <a:ext uri="{0D108BD9-81ED-4DB2-BD59-A6C34878D82A}">
                        <a16:rowId xmlns:a16="http://schemas.microsoft.com/office/drawing/2014/main" val="4218713460"/>
                      </a:ext>
                    </a:extLst>
                  </a:tr>
                  <a:tr h="370840">
                    <a:tc>
                      <a:txBody>
                        <a:bodyPr/>
                        <a:lstStyle/>
                        <a:p>
                          <a:pPr algn="ctr"/>
                          <a:r>
                            <a:rPr lang="en-US" altLang="zh-TW" dirty="0">
                              <a:solidFill>
                                <a:srgbClr val="209A20"/>
                              </a:solidFill>
                            </a:rPr>
                            <a:t>case6</a:t>
                          </a:r>
                          <a:endParaRPr lang="zh-TW" altLang="en-US" dirty="0">
                            <a:solidFill>
                              <a:srgbClr val="209A20"/>
                            </a:solidFill>
                          </a:endParaRPr>
                        </a:p>
                      </a:txBody>
                      <a:tcPr anchor="ctr"/>
                    </a:tc>
                    <a:tc>
                      <a:txBody>
                        <a:bodyPr/>
                        <a:lstStyle/>
                        <a:p>
                          <a:pPr algn="ctr"/>
                          <a:r>
                            <a:rPr lang="en-US" altLang="zh-TW" dirty="0">
                              <a:solidFill>
                                <a:srgbClr val="209A20"/>
                              </a:solidFill>
                            </a:rPr>
                            <a:t>989.92</a:t>
                          </a:r>
                          <a:endParaRPr lang="zh-TW" altLang="en-US" dirty="0">
                            <a:solidFill>
                              <a:srgbClr val="209A20"/>
                            </a:solidFill>
                          </a:endParaRPr>
                        </a:p>
                      </a:txBody>
                      <a:tcPr anchor="ctr"/>
                    </a:tc>
                    <a:extLst>
                      <a:ext uri="{0D108BD9-81ED-4DB2-BD59-A6C34878D82A}">
                        <a16:rowId xmlns:a16="http://schemas.microsoft.com/office/drawing/2014/main" val="2200941733"/>
                      </a:ext>
                    </a:extLst>
                  </a:tr>
                </a:tbl>
              </a:graphicData>
            </a:graphic>
          </p:graphicFrame>
        </mc:Choice>
        <mc:Fallback xmlns="">
          <p:graphicFrame>
            <p:nvGraphicFramePr>
              <p:cNvPr id="3" name="表格 2">
                <a:extLst>
                  <a:ext uri="{FF2B5EF4-FFF2-40B4-BE49-F238E27FC236}">
                    <a16:creationId xmlns:a16="http://schemas.microsoft.com/office/drawing/2014/main" id="{2D3880FC-A1FE-3144-161D-24A7BB05309E}"/>
                  </a:ext>
                </a:extLst>
              </p:cNvPr>
              <p:cNvGraphicFramePr>
                <a:graphicFrameLocks noGrp="1"/>
              </p:cNvGraphicFramePr>
              <p:nvPr>
                <p:extLst>
                  <p:ext uri="{D42A27DB-BD31-4B8C-83A1-F6EECF244321}">
                    <p14:modId xmlns:p14="http://schemas.microsoft.com/office/powerpoint/2010/main" val="1434808530"/>
                  </p:ext>
                </p:extLst>
              </p:nvPr>
            </p:nvGraphicFramePr>
            <p:xfrm>
              <a:off x="808680" y="4158600"/>
              <a:ext cx="2597187" cy="1483360"/>
            </p:xfrm>
            <a:graphic>
              <a:graphicData uri="http://schemas.openxmlformats.org/drawingml/2006/table">
                <a:tbl>
                  <a:tblPr firstRow="1" bandRow="1">
                    <a:tableStyleId>{00A15C55-8517-42AA-B614-E9B94910E393}</a:tableStyleId>
                  </a:tblPr>
                  <a:tblGrid>
                    <a:gridCol w="828590">
                      <a:extLst>
                        <a:ext uri="{9D8B030D-6E8A-4147-A177-3AD203B41FA5}">
                          <a16:colId xmlns:a16="http://schemas.microsoft.com/office/drawing/2014/main" val="1587330249"/>
                        </a:ext>
                      </a:extLst>
                    </a:gridCol>
                    <a:gridCol w="1768597">
                      <a:extLst>
                        <a:ext uri="{9D8B030D-6E8A-4147-A177-3AD203B41FA5}">
                          <a16:colId xmlns:a16="http://schemas.microsoft.com/office/drawing/2014/main" val="1423022030"/>
                        </a:ext>
                      </a:extLst>
                    </a:gridCol>
                  </a:tblGrid>
                  <a:tr h="370840">
                    <a:tc>
                      <a:txBody>
                        <a:bodyPr/>
                        <a:lstStyle/>
                        <a:p>
                          <a:pPr algn="ctr"/>
                          <a:endParaRPr lang="zh-TW" altLang="en-US" dirty="0">
                            <a:solidFill>
                              <a:schemeClr val="tx1"/>
                            </a:solidFill>
                          </a:endParaRPr>
                        </a:p>
                      </a:txBody>
                      <a:tcPr anchor="ctr"/>
                    </a:tc>
                    <a:tc>
                      <a:txBody>
                        <a:bodyPr/>
                        <a:lstStyle/>
                        <a:p>
                          <a:endParaRPr lang="zh-TW"/>
                        </a:p>
                      </a:txBody>
                      <a:tcPr anchor="ctr">
                        <a:blipFill>
                          <a:blip r:embed="rId4"/>
                          <a:stretch>
                            <a:fillRect l="-47079" t="-8197" r="-1375" b="-324590"/>
                          </a:stretch>
                        </a:blipFill>
                      </a:tcPr>
                    </a:tc>
                    <a:extLst>
                      <a:ext uri="{0D108BD9-81ED-4DB2-BD59-A6C34878D82A}">
                        <a16:rowId xmlns:a16="http://schemas.microsoft.com/office/drawing/2014/main" val="466937652"/>
                      </a:ext>
                    </a:extLst>
                  </a:tr>
                  <a:tr h="370840">
                    <a:tc>
                      <a:txBody>
                        <a:bodyPr/>
                        <a:lstStyle/>
                        <a:p>
                          <a:pPr algn="ctr"/>
                          <a:r>
                            <a:rPr lang="en-US" altLang="zh-TW" dirty="0">
                              <a:solidFill>
                                <a:srgbClr val="0F6DAE"/>
                              </a:solidFill>
                            </a:rPr>
                            <a:t>case2</a:t>
                          </a:r>
                          <a:endParaRPr lang="zh-TW" altLang="en-US" dirty="0">
                            <a:solidFill>
                              <a:srgbClr val="0F6DAE"/>
                            </a:solidFill>
                          </a:endParaRPr>
                        </a:p>
                      </a:txBody>
                      <a:tcPr anchor="ctr"/>
                    </a:tc>
                    <a:tc>
                      <a:txBody>
                        <a:bodyPr/>
                        <a:lstStyle/>
                        <a:p>
                          <a:pPr algn="ctr"/>
                          <a:r>
                            <a:rPr lang="en-US" altLang="zh-TW" dirty="0">
                              <a:solidFill>
                                <a:srgbClr val="0F6DAE"/>
                              </a:solidFill>
                            </a:rPr>
                            <a:t>1063.07</a:t>
                          </a:r>
                          <a:endParaRPr lang="zh-TW" altLang="en-US" dirty="0">
                            <a:solidFill>
                              <a:srgbClr val="0F6DAE"/>
                            </a:solidFill>
                          </a:endParaRPr>
                        </a:p>
                      </a:txBody>
                      <a:tcPr anchor="ctr"/>
                    </a:tc>
                    <a:extLst>
                      <a:ext uri="{0D108BD9-81ED-4DB2-BD59-A6C34878D82A}">
                        <a16:rowId xmlns:a16="http://schemas.microsoft.com/office/drawing/2014/main" val="1541838636"/>
                      </a:ext>
                    </a:extLst>
                  </a:tr>
                  <a:tr h="370840">
                    <a:tc>
                      <a:txBody>
                        <a:bodyPr/>
                        <a:lstStyle/>
                        <a:p>
                          <a:pPr algn="ctr"/>
                          <a:r>
                            <a:rPr lang="en-US" altLang="zh-TW" dirty="0">
                              <a:solidFill>
                                <a:srgbClr val="FF7C08"/>
                              </a:solidFill>
                            </a:rPr>
                            <a:t>case4</a:t>
                          </a:r>
                          <a:endParaRPr lang="zh-TW" altLang="en-US" dirty="0">
                            <a:solidFill>
                              <a:srgbClr val="FF7C08"/>
                            </a:solidFill>
                          </a:endParaRPr>
                        </a:p>
                      </a:txBody>
                      <a:tcPr anchor="ctr"/>
                    </a:tc>
                    <a:tc>
                      <a:txBody>
                        <a:bodyPr/>
                        <a:lstStyle/>
                        <a:p>
                          <a:pPr algn="ctr"/>
                          <a:r>
                            <a:rPr lang="en-US" altLang="zh-TW" dirty="0">
                              <a:solidFill>
                                <a:srgbClr val="FF7C08"/>
                              </a:solidFill>
                            </a:rPr>
                            <a:t>1088.82</a:t>
                          </a:r>
                          <a:endParaRPr lang="zh-TW" altLang="en-US" dirty="0">
                            <a:solidFill>
                              <a:srgbClr val="FF7C08"/>
                            </a:solidFill>
                          </a:endParaRPr>
                        </a:p>
                      </a:txBody>
                      <a:tcPr anchor="ctr"/>
                    </a:tc>
                    <a:extLst>
                      <a:ext uri="{0D108BD9-81ED-4DB2-BD59-A6C34878D82A}">
                        <a16:rowId xmlns:a16="http://schemas.microsoft.com/office/drawing/2014/main" val="4218713460"/>
                      </a:ext>
                    </a:extLst>
                  </a:tr>
                  <a:tr h="370840">
                    <a:tc>
                      <a:txBody>
                        <a:bodyPr/>
                        <a:lstStyle/>
                        <a:p>
                          <a:pPr algn="ctr"/>
                          <a:r>
                            <a:rPr lang="en-US" altLang="zh-TW" dirty="0">
                              <a:solidFill>
                                <a:srgbClr val="209A20"/>
                              </a:solidFill>
                            </a:rPr>
                            <a:t>case6</a:t>
                          </a:r>
                          <a:endParaRPr lang="zh-TW" altLang="en-US" dirty="0">
                            <a:solidFill>
                              <a:srgbClr val="209A20"/>
                            </a:solidFill>
                          </a:endParaRPr>
                        </a:p>
                      </a:txBody>
                      <a:tcPr anchor="ctr"/>
                    </a:tc>
                    <a:tc>
                      <a:txBody>
                        <a:bodyPr/>
                        <a:lstStyle/>
                        <a:p>
                          <a:pPr algn="ctr"/>
                          <a:r>
                            <a:rPr lang="en-US" altLang="zh-TW" dirty="0">
                              <a:solidFill>
                                <a:srgbClr val="209A20"/>
                              </a:solidFill>
                            </a:rPr>
                            <a:t>989.92</a:t>
                          </a:r>
                          <a:endParaRPr lang="zh-TW" altLang="en-US" dirty="0">
                            <a:solidFill>
                              <a:srgbClr val="209A20"/>
                            </a:solidFill>
                          </a:endParaRPr>
                        </a:p>
                      </a:txBody>
                      <a:tcPr anchor="ctr"/>
                    </a:tc>
                    <a:extLst>
                      <a:ext uri="{0D108BD9-81ED-4DB2-BD59-A6C34878D82A}">
                        <a16:rowId xmlns:a16="http://schemas.microsoft.com/office/drawing/2014/main" val="2200941733"/>
                      </a:ext>
                    </a:extLst>
                  </a:tr>
                </a:tbl>
              </a:graphicData>
            </a:graphic>
          </p:graphicFrame>
        </mc:Fallback>
      </mc:AlternateContent>
      <p:cxnSp>
        <p:nvCxnSpPr>
          <p:cNvPr id="5" name="直線接點 4">
            <a:extLst>
              <a:ext uri="{FF2B5EF4-FFF2-40B4-BE49-F238E27FC236}">
                <a16:creationId xmlns:a16="http://schemas.microsoft.com/office/drawing/2014/main" id="{EB9F1CAC-1237-3104-5712-23BB15D50643}"/>
              </a:ext>
            </a:extLst>
          </p:cNvPr>
          <p:cNvCxnSpPr>
            <a:cxnSpLocks/>
          </p:cNvCxnSpPr>
          <p:nvPr/>
        </p:nvCxnSpPr>
        <p:spPr>
          <a:xfrm flipH="1">
            <a:off x="5313405" y="3231292"/>
            <a:ext cx="5504935" cy="0"/>
          </a:xfrm>
          <a:prstGeom prst="line">
            <a:avLst/>
          </a:prstGeom>
          <a:ln>
            <a:solidFill>
              <a:srgbClr val="FF7C08"/>
            </a:solidFill>
            <a:prstDash val="dash"/>
          </a:ln>
        </p:spPr>
        <p:style>
          <a:lnRef idx="1">
            <a:schemeClr val="accent1"/>
          </a:lnRef>
          <a:fillRef idx="0">
            <a:schemeClr val="accent1"/>
          </a:fillRef>
          <a:effectRef idx="0">
            <a:schemeClr val="accent1"/>
          </a:effectRef>
          <a:fontRef idx="minor">
            <a:schemeClr val="tx1"/>
          </a:fontRef>
        </p:style>
      </p:cxnSp>
      <p:cxnSp>
        <p:nvCxnSpPr>
          <p:cNvPr id="6" name="直線接點 5">
            <a:extLst>
              <a:ext uri="{FF2B5EF4-FFF2-40B4-BE49-F238E27FC236}">
                <a16:creationId xmlns:a16="http://schemas.microsoft.com/office/drawing/2014/main" id="{E8736BB3-620B-BDEE-9AD8-C7F0B7DDEE45}"/>
              </a:ext>
            </a:extLst>
          </p:cNvPr>
          <p:cNvCxnSpPr>
            <a:cxnSpLocks/>
          </p:cNvCxnSpPr>
          <p:nvPr/>
        </p:nvCxnSpPr>
        <p:spPr>
          <a:xfrm flipH="1">
            <a:off x="5313405" y="3303372"/>
            <a:ext cx="5504935" cy="0"/>
          </a:xfrm>
          <a:prstGeom prst="line">
            <a:avLst/>
          </a:prstGeom>
          <a:ln>
            <a:solidFill>
              <a:srgbClr val="0F6DAE"/>
            </a:solidFill>
            <a:prstDash val="dash"/>
          </a:ln>
        </p:spPr>
        <p:style>
          <a:lnRef idx="1">
            <a:schemeClr val="accent1"/>
          </a:lnRef>
          <a:fillRef idx="0">
            <a:schemeClr val="accent1"/>
          </a:fillRef>
          <a:effectRef idx="0">
            <a:schemeClr val="accent1"/>
          </a:effectRef>
          <a:fontRef idx="minor">
            <a:schemeClr val="tx1"/>
          </a:fontRef>
        </p:style>
      </p:cxnSp>
      <p:cxnSp>
        <p:nvCxnSpPr>
          <p:cNvPr id="7" name="直線接點 6">
            <a:extLst>
              <a:ext uri="{FF2B5EF4-FFF2-40B4-BE49-F238E27FC236}">
                <a16:creationId xmlns:a16="http://schemas.microsoft.com/office/drawing/2014/main" id="{95399183-891E-CE07-FB76-E1C9E8BB126A}"/>
              </a:ext>
            </a:extLst>
          </p:cNvPr>
          <p:cNvCxnSpPr>
            <a:cxnSpLocks/>
          </p:cNvCxnSpPr>
          <p:nvPr/>
        </p:nvCxnSpPr>
        <p:spPr>
          <a:xfrm flipH="1">
            <a:off x="5338119" y="3447536"/>
            <a:ext cx="5480221" cy="0"/>
          </a:xfrm>
          <a:prstGeom prst="line">
            <a:avLst/>
          </a:prstGeom>
          <a:ln>
            <a:solidFill>
              <a:srgbClr val="209A20"/>
            </a:solidFill>
            <a:prstDash val="dash"/>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A699BD8D-8D7E-4CAD-9236-362E078F0E67}"/>
              </a:ext>
            </a:extLst>
          </p:cNvPr>
          <p:cNvSpPr txBox="1"/>
          <p:nvPr/>
        </p:nvSpPr>
        <p:spPr>
          <a:xfrm>
            <a:off x="5406786" y="2336798"/>
            <a:ext cx="858548" cy="307777"/>
          </a:xfrm>
          <a:prstGeom prst="rect">
            <a:avLst/>
          </a:prstGeom>
          <a:noFill/>
        </p:spPr>
        <p:txBody>
          <a:bodyPr wrap="square">
            <a:spAutoFit/>
          </a:bodyPr>
          <a:lstStyle/>
          <a:p>
            <a:r>
              <a:rPr lang="en-US" altLang="zh-TW" sz="1400" dirty="0">
                <a:solidFill>
                  <a:srgbClr val="C00000"/>
                </a:solidFill>
              </a:rPr>
              <a:t>Spalling</a:t>
            </a:r>
          </a:p>
        </p:txBody>
      </p:sp>
      <p:sp>
        <p:nvSpPr>
          <p:cNvPr id="9" name="橢圓 8">
            <a:extLst>
              <a:ext uri="{FF2B5EF4-FFF2-40B4-BE49-F238E27FC236}">
                <a16:creationId xmlns:a16="http://schemas.microsoft.com/office/drawing/2014/main" id="{DA10B98A-518F-5DDE-631D-50A1ED3C1536}"/>
              </a:ext>
            </a:extLst>
          </p:cNvPr>
          <p:cNvSpPr/>
          <p:nvPr/>
        </p:nvSpPr>
        <p:spPr>
          <a:xfrm>
            <a:off x="5892800" y="2607733"/>
            <a:ext cx="372534" cy="839803"/>
          </a:xfrm>
          <a:prstGeom prst="ellipse">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33779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7EF93-8F92-CAAC-2AEA-9267DB8780F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0EFE99F-5592-EE5F-8C33-BE2C99F00E71}"/>
              </a:ext>
            </a:extLst>
          </p:cNvPr>
          <p:cNvSpPr>
            <a:spLocks noGrp="1"/>
          </p:cNvSpPr>
          <p:nvPr>
            <p:ph type="title"/>
          </p:nvPr>
        </p:nvSpPr>
        <p:spPr/>
        <p:txBody>
          <a:bodyPr/>
          <a:lstStyle/>
          <a:p>
            <a:r>
              <a:rPr lang="en-US" altLang="zh-TW" dirty="0"/>
              <a:t>OpenSees analysis</a:t>
            </a:r>
            <a:endParaRPr lang="zh-TW" altLang="en-US" dirty="0"/>
          </a:p>
        </p:txBody>
      </p:sp>
      <p:sp>
        <p:nvSpPr>
          <p:cNvPr id="4" name="投影片編號版面配置區 3">
            <a:extLst>
              <a:ext uri="{FF2B5EF4-FFF2-40B4-BE49-F238E27FC236}">
                <a16:creationId xmlns:a16="http://schemas.microsoft.com/office/drawing/2014/main" id="{C6DDEDDB-EFDE-2641-2E80-50195DC110AB}"/>
              </a:ext>
            </a:extLst>
          </p:cNvPr>
          <p:cNvSpPr>
            <a:spLocks noGrp="1"/>
          </p:cNvSpPr>
          <p:nvPr>
            <p:ph type="sldNum" sz="quarter" idx="12"/>
          </p:nvPr>
        </p:nvSpPr>
        <p:spPr/>
        <p:txBody>
          <a:bodyPr/>
          <a:lstStyle/>
          <a:p>
            <a:fld id="{3A98EE3D-8CD1-4C3F-BD1C-C98C9596463C}" type="slidenum">
              <a:rPr lang="en-US" smtClean="0"/>
              <a:pPr/>
              <a:t>12</a:t>
            </a:fld>
            <a:endParaRPr lang="en-US" dirty="0"/>
          </a:p>
        </p:txBody>
      </p:sp>
      <p:sp>
        <p:nvSpPr>
          <p:cNvPr id="12" name="文字方塊 11">
            <a:extLst>
              <a:ext uri="{FF2B5EF4-FFF2-40B4-BE49-F238E27FC236}">
                <a16:creationId xmlns:a16="http://schemas.microsoft.com/office/drawing/2014/main" id="{CBB008E9-0E17-EE4C-8826-DC8044A1FD44}"/>
              </a:ext>
            </a:extLst>
          </p:cNvPr>
          <p:cNvSpPr txBox="1"/>
          <p:nvPr/>
        </p:nvSpPr>
        <p:spPr>
          <a:xfrm>
            <a:off x="419031" y="2223670"/>
            <a:ext cx="2679770" cy="1820883"/>
          </a:xfrm>
          <a:prstGeom prst="rect">
            <a:avLst/>
          </a:prstGeom>
          <a:noFill/>
        </p:spPr>
        <p:txBody>
          <a:bodyPr wrap="square">
            <a:spAutoFit/>
          </a:bodyPr>
          <a:lstStyle/>
          <a:p>
            <a:pPr marL="91440" marR="0" lvl="0" indent="-91440" algn="just" defTabSz="914400" rtl="0" eaLnBrk="1" fontAlgn="auto" latinLnBrk="0" hangingPunct="1">
              <a:lnSpc>
                <a:spcPct val="150000"/>
              </a:lnSpc>
              <a:spcBef>
                <a:spcPts val="0"/>
              </a:spcBef>
              <a:spcAft>
                <a:spcPts val="1200"/>
              </a:spcAft>
              <a:buClr>
                <a:srgbClr val="9BA8B7"/>
              </a:buClr>
              <a:buSzPct val="100000"/>
              <a:buFontTx/>
              <a:buNone/>
              <a:tabLst/>
              <a:defRPr/>
            </a:pPr>
            <a:r>
              <a:rPr kumimoji="0" lang="en-US" altLang="zh-TW" sz="24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mn-cs"/>
              </a:rPr>
              <a:t>Results</a:t>
            </a:r>
          </a:p>
          <a:p>
            <a:pPr marL="91440" marR="0" lvl="0" indent="-91440" algn="just" defTabSz="914400" rtl="0" eaLnBrk="1" fontAlgn="auto" latinLnBrk="0" hangingPunct="1">
              <a:lnSpc>
                <a:spcPct val="150000"/>
              </a:lnSpc>
              <a:spcBef>
                <a:spcPts val="0"/>
              </a:spcBef>
              <a:spcAft>
                <a:spcPts val="1200"/>
              </a:spcAft>
              <a:buClr>
                <a:srgbClr val="9BA8B7"/>
              </a:buClr>
              <a:buSzPct val="100000"/>
              <a:buFontTx/>
              <a:buNone/>
              <a:tabLst/>
              <a:defRPr/>
            </a:pPr>
            <a:r>
              <a:rPr lang="en-US" altLang="zh-TW" sz="2000" dirty="0">
                <a:solidFill>
                  <a:srgbClr val="000000"/>
                </a:solidFill>
                <a:latin typeface="微軟正黑體" panose="020B0604030504040204" pitchFamily="34" charset="-120"/>
                <a:ea typeface="微軟正黑體" panose="020B0604030504040204" pitchFamily="34" charset="-120"/>
              </a:rPr>
              <a:t>Different steel grade</a:t>
            </a:r>
            <a:endParaRPr kumimoji="0" lang="en-US" altLang="zh-TW" sz="20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mn-cs"/>
            </a:endParaRPr>
          </a:p>
          <a:p>
            <a:pPr marL="91440" marR="0" lvl="0" indent="-91440" algn="just" defTabSz="914400" rtl="0" eaLnBrk="1" fontAlgn="auto" latinLnBrk="0" hangingPunct="1">
              <a:lnSpc>
                <a:spcPct val="150000"/>
              </a:lnSpc>
              <a:spcBef>
                <a:spcPts val="0"/>
              </a:spcBef>
              <a:spcAft>
                <a:spcPts val="1200"/>
              </a:spcAft>
              <a:buClr>
                <a:srgbClr val="9BA8B7"/>
              </a:buClr>
              <a:buSzPct val="100000"/>
              <a:buFontTx/>
              <a:buNone/>
              <a:tabLst/>
              <a:defRPr/>
            </a:pPr>
            <a:r>
              <a:rPr lang="en-US" altLang="zh-TW" sz="2000" dirty="0">
                <a:solidFill>
                  <a:srgbClr val="000000"/>
                </a:solidFill>
                <a:latin typeface="微軟正黑體" panose="020B0604030504040204" pitchFamily="34" charset="-120"/>
                <a:ea typeface="微軟正黑體" panose="020B0604030504040204" pitchFamily="34" charset="-120"/>
              </a:rPr>
              <a:t>W / 28MPa concrete</a:t>
            </a:r>
            <a:endParaRPr kumimoji="0" lang="en-US" altLang="zh-TW" sz="20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mn-cs"/>
            </a:endParaRPr>
          </a:p>
        </p:txBody>
      </p:sp>
      <p:pic>
        <p:nvPicPr>
          <p:cNvPr id="16" name="圖片 15">
            <a:extLst>
              <a:ext uri="{FF2B5EF4-FFF2-40B4-BE49-F238E27FC236}">
                <a16:creationId xmlns:a16="http://schemas.microsoft.com/office/drawing/2014/main" id="{82B15E2C-FB78-B10B-77B0-2FAC4D4D53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87519" y="1949382"/>
            <a:ext cx="6568160" cy="4418437"/>
          </a:xfrm>
          <a:prstGeom prst="rect">
            <a:avLst/>
          </a:prstGeom>
        </p:spPr>
      </p:pic>
    </p:spTree>
    <p:extLst>
      <p:ext uri="{BB962C8B-B14F-4D97-AF65-F5344CB8AC3E}">
        <p14:creationId xmlns:p14="http://schemas.microsoft.com/office/powerpoint/2010/main" val="176914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2EE35-5402-A865-A5F7-998D2AFDF87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AD285BB-5039-33EC-0447-8D79FF116480}"/>
              </a:ext>
            </a:extLst>
          </p:cNvPr>
          <p:cNvSpPr>
            <a:spLocks noGrp="1"/>
          </p:cNvSpPr>
          <p:nvPr>
            <p:ph type="title"/>
          </p:nvPr>
        </p:nvSpPr>
        <p:spPr/>
        <p:txBody>
          <a:bodyPr/>
          <a:lstStyle/>
          <a:p>
            <a:r>
              <a:rPr lang="en-US" altLang="zh-TW" dirty="0"/>
              <a:t>OpenSees analysis</a:t>
            </a:r>
            <a:endParaRPr lang="zh-TW" altLang="en-US" dirty="0"/>
          </a:p>
        </p:txBody>
      </p:sp>
      <p:sp>
        <p:nvSpPr>
          <p:cNvPr id="4" name="投影片編號版面配置區 3">
            <a:extLst>
              <a:ext uri="{FF2B5EF4-FFF2-40B4-BE49-F238E27FC236}">
                <a16:creationId xmlns:a16="http://schemas.microsoft.com/office/drawing/2014/main" id="{FABF9CC5-4314-3631-C022-61DB42EE7C9A}"/>
              </a:ext>
            </a:extLst>
          </p:cNvPr>
          <p:cNvSpPr>
            <a:spLocks noGrp="1"/>
          </p:cNvSpPr>
          <p:nvPr>
            <p:ph type="sldNum" sz="quarter" idx="12"/>
          </p:nvPr>
        </p:nvSpPr>
        <p:spPr/>
        <p:txBody>
          <a:bodyPr/>
          <a:lstStyle/>
          <a:p>
            <a:fld id="{3A98EE3D-8CD1-4C3F-BD1C-C98C9596463C}" type="slidenum">
              <a:rPr lang="en-US" smtClean="0"/>
              <a:pPr/>
              <a:t>13</a:t>
            </a:fld>
            <a:endParaRPr lang="en-US" dirty="0"/>
          </a:p>
        </p:txBody>
      </p:sp>
      <p:sp>
        <p:nvSpPr>
          <p:cNvPr id="12" name="文字方塊 11">
            <a:extLst>
              <a:ext uri="{FF2B5EF4-FFF2-40B4-BE49-F238E27FC236}">
                <a16:creationId xmlns:a16="http://schemas.microsoft.com/office/drawing/2014/main" id="{1D952388-477B-652F-304E-855F423C7A45}"/>
              </a:ext>
            </a:extLst>
          </p:cNvPr>
          <p:cNvSpPr txBox="1"/>
          <p:nvPr/>
        </p:nvSpPr>
        <p:spPr>
          <a:xfrm>
            <a:off x="419030" y="2223670"/>
            <a:ext cx="2789837" cy="1820883"/>
          </a:xfrm>
          <a:prstGeom prst="rect">
            <a:avLst/>
          </a:prstGeom>
          <a:noFill/>
        </p:spPr>
        <p:txBody>
          <a:bodyPr wrap="square">
            <a:spAutoFit/>
          </a:bodyPr>
          <a:lstStyle/>
          <a:p>
            <a:pPr marL="91440" marR="0" lvl="0" indent="-91440" algn="just" defTabSz="914400" rtl="0" eaLnBrk="1" fontAlgn="auto" latinLnBrk="0" hangingPunct="1">
              <a:lnSpc>
                <a:spcPct val="150000"/>
              </a:lnSpc>
              <a:spcBef>
                <a:spcPts val="0"/>
              </a:spcBef>
              <a:spcAft>
                <a:spcPts val="1200"/>
              </a:spcAft>
              <a:buClr>
                <a:srgbClr val="9BA8B7"/>
              </a:buClr>
              <a:buSzPct val="100000"/>
              <a:buFontTx/>
              <a:buNone/>
              <a:tabLst/>
              <a:defRPr/>
            </a:pPr>
            <a:r>
              <a:rPr kumimoji="0" lang="en-US" altLang="zh-TW" sz="24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mn-cs"/>
              </a:rPr>
              <a:t>Results</a:t>
            </a:r>
          </a:p>
          <a:p>
            <a:pPr marL="91440" marR="0" lvl="0" indent="-91440" algn="just" defTabSz="914400" rtl="0" eaLnBrk="1" fontAlgn="auto" latinLnBrk="0" hangingPunct="1">
              <a:lnSpc>
                <a:spcPct val="150000"/>
              </a:lnSpc>
              <a:spcBef>
                <a:spcPts val="0"/>
              </a:spcBef>
              <a:spcAft>
                <a:spcPts val="1200"/>
              </a:spcAft>
              <a:buClr>
                <a:srgbClr val="9BA8B7"/>
              </a:buClr>
              <a:buSzPct val="100000"/>
              <a:buFontTx/>
              <a:buNone/>
              <a:tabLst/>
              <a:defRPr/>
            </a:pPr>
            <a:r>
              <a:rPr lang="en-US" altLang="zh-TW" sz="2000" dirty="0">
                <a:solidFill>
                  <a:srgbClr val="000000"/>
                </a:solidFill>
                <a:latin typeface="微軟正黑體" panose="020B0604030504040204" pitchFamily="34" charset="-120"/>
                <a:ea typeface="微軟正黑體" panose="020B0604030504040204" pitchFamily="34" charset="-120"/>
              </a:rPr>
              <a:t>Different steel grade</a:t>
            </a:r>
            <a:endParaRPr kumimoji="0" lang="en-US" altLang="zh-TW" sz="20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mn-cs"/>
            </a:endParaRPr>
          </a:p>
          <a:p>
            <a:pPr marL="91440" marR="0" lvl="0" indent="-91440" algn="just" defTabSz="914400" rtl="0" eaLnBrk="1" fontAlgn="auto" latinLnBrk="0" hangingPunct="1">
              <a:lnSpc>
                <a:spcPct val="150000"/>
              </a:lnSpc>
              <a:spcBef>
                <a:spcPts val="0"/>
              </a:spcBef>
              <a:spcAft>
                <a:spcPts val="1200"/>
              </a:spcAft>
              <a:buClr>
                <a:srgbClr val="9BA8B7"/>
              </a:buClr>
              <a:buSzPct val="100000"/>
              <a:buFontTx/>
              <a:buNone/>
              <a:tabLst/>
              <a:defRPr/>
            </a:pPr>
            <a:r>
              <a:rPr lang="en-US" altLang="zh-TW" sz="2000" dirty="0">
                <a:solidFill>
                  <a:srgbClr val="000000"/>
                </a:solidFill>
                <a:latin typeface="微軟正黑體" panose="020B0604030504040204" pitchFamily="34" charset="-120"/>
                <a:ea typeface="微軟正黑體" panose="020B0604030504040204" pitchFamily="34" charset="-120"/>
              </a:rPr>
              <a:t>W / 42MPa concrete</a:t>
            </a:r>
            <a:endParaRPr kumimoji="0" lang="en-US" altLang="zh-TW" sz="20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mn-cs"/>
            </a:endParaRPr>
          </a:p>
        </p:txBody>
      </p:sp>
      <p:pic>
        <p:nvPicPr>
          <p:cNvPr id="16" name="圖片 15">
            <a:extLst>
              <a:ext uri="{FF2B5EF4-FFF2-40B4-BE49-F238E27FC236}">
                <a16:creationId xmlns:a16="http://schemas.microsoft.com/office/drawing/2014/main" id="{3631A2E0-98EB-F85E-ED33-797161BABAE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87519" y="1949382"/>
            <a:ext cx="6568159" cy="4418436"/>
          </a:xfrm>
          <a:prstGeom prst="rect">
            <a:avLst/>
          </a:prstGeom>
        </p:spPr>
      </p:pic>
    </p:spTree>
    <p:extLst>
      <p:ext uri="{BB962C8B-B14F-4D97-AF65-F5344CB8AC3E}">
        <p14:creationId xmlns:p14="http://schemas.microsoft.com/office/powerpoint/2010/main" val="3124322507"/>
      </p:ext>
    </p:extLst>
  </p:cSld>
  <p:clrMapOvr>
    <a:masterClrMapping/>
  </p:clrMapOvr>
</p:sld>
</file>

<file path=ppt/theme/theme1.xml><?xml version="1.0" encoding="utf-8"?>
<a:theme xmlns:a="http://schemas.openxmlformats.org/drawingml/2006/main"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_41798665_TF56160789.potx" id="{C03BE16E-05B7-438C-85CB-7604B66C50C5}" vid="{E3EA7662-8E7E-4B1D-9203-FBA998A86136}"/>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{92576DF9-2BA6-4602-89E7-8674600F5ECE}TFf0a5ceae-4542-492d-822e-d65a94fb0e1eb1361072_win32-aaceef65831a</Template>
  <TotalTime>1902</TotalTime>
  <Words>1473</Words>
  <Application>Microsoft Office PowerPoint</Application>
  <PresentationFormat>寬螢幕</PresentationFormat>
  <Paragraphs>177</Paragraphs>
  <Slides>13</Slides>
  <Notes>9</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13</vt:i4>
      </vt:variant>
    </vt:vector>
  </HeadingPairs>
  <TitlesOfParts>
    <vt:vector size="21" baseType="lpstr">
      <vt:lpstr>Microsoft JhengHei UI</vt:lpstr>
      <vt:lpstr>MingLiu</vt:lpstr>
      <vt:lpstr>微軟正黑體</vt:lpstr>
      <vt:lpstr>Arial</vt:lpstr>
      <vt:lpstr>Calibri</vt:lpstr>
      <vt:lpstr>Cambria Math</vt:lpstr>
      <vt:lpstr>Franklin Gothic Book</vt:lpstr>
      <vt:lpstr>1_RetrospectVTI</vt:lpstr>
      <vt:lpstr>Moment-Curvature Behavior</vt:lpstr>
      <vt:lpstr>Table of content</vt:lpstr>
      <vt:lpstr>Section properties</vt:lpstr>
      <vt:lpstr>Parameter selection</vt:lpstr>
      <vt:lpstr>PowerPoint 簡報</vt:lpstr>
      <vt:lpstr>OpenSees analysis</vt:lpstr>
      <vt:lpstr>OpenSees analysis</vt:lpstr>
      <vt:lpstr>OpenSees analysis</vt:lpstr>
      <vt:lpstr>OpenSees analysis</vt:lpstr>
      <vt:lpstr>OpenSees analysis</vt:lpstr>
      <vt:lpstr>OpenSees analysis</vt:lpstr>
      <vt:lpstr>OpenSees analysis</vt:lpstr>
      <vt:lpstr>OpenSees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林平旭</dc:creator>
  <cp:lastModifiedBy>林平旭</cp:lastModifiedBy>
  <cp:revision>145</cp:revision>
  <dcterms:created xsi:type="dcterms:W3CDTF">2026-04-16T13:22:01Z</dcterms:created>
  <dcterms:modified xsi:type="dcterms:W3CDTF">2026-04-18T13:27:02Z</dcterms:modified>
</cp:coreProperties>
</file>