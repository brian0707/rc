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66" d="100"/>
          <a:sy n="66" d="100"/>
        </p:scale>
        <p:origin x="3053" y="1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D35B4C-BBF4-3153-D544-00A8A68D06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CC5780C-A4AE-A971-7B0E-9D2BF7823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FE850A-474E-FF6F-7C5E-3CC65AD3A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7E3D6-04DC-4E59-9C7D-1479EAB4EE1C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6321689-B6F5-6822-223F-4F905EE4A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BF3814F-732A-D22E-378D-3C093DFAE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77A03-726D-4B69-A738-D16D3CA459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944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83B421-78C5-F3F7-88EA-857509253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6F93FD-65F2-31AD-0136-EF7AD1EF1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5806E0-89BD-F0F9-5A23-9DC460E5A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7E3D6-04DC-4E59-9C7D-1479EAB4EE1C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454526F-4722-A25A-B3C0-C1A15D6E8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B83AB90-FD4C-0CEF-4554-DF26689E7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77A03-726D-4B69-A738-D16D3CA459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1537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56E215-C612-4421-EE49-3C0F0414E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E641D95-92D4-1D42-00E1-5BEF4029E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CBBE14A-2CEE-C8DD-5C45-8162713E2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7E3D6-04DC-4E59-9C7D-1479EAB4EE1C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BF2D8B2-783D-A6A6-B7F8-796DE3223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E7403A4-AD73-F049-58BF-11694B1FD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77A03-726D-4B69-A738-D16D3CA459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8611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4A4244-145E-0845-F6D4-ED4C4EB43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D25EEF-E287-30E0-0B9D-1753BCE07A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953C417-EAB1-D2DA-3121-36B3D0EBA7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D84FF9E-2760-774D-083D-D43F43CDE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7E3D6-04DC-4E59-9C7D-1479EAB4EE1C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FFA9EFF-7408-F33D-15CA-D8132A3E8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14A35ED-263C-DDD4-B516-BA7F1E390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77A03-726D-4B69-A738-D16D3CA459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9567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167932-47E2-E2D8-42C7-598BFB6A8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8BB36DD-669A-3D50-FE5D-B43211944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BDCD59A-F978-8D05-C88A-040373290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2DCAD56-927F-CA91-30CA-34A04C5F48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2B41A7A-9C30-E73D-388B-93BB6B6100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F27A676-AD48-FC6B-2B8A-B61E2A048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7E3D6-04DC-4E59-9C7D-1479EAB4EE1C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2B0A9FD-A52A-D090-F92A-2E15AB034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83A425F-A550-13CE-F13D-2D8E29E58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77A03-726D-4B69-A738-D16D3CA459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7522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CF49D6-9F05-7AE2-FFDD-1D454F154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C6AC271-68C6-6739-538F-0C3EFAA24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7E3D6-04DC-4E59-9C7D-1479EAB4EE1C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C8FD84D-A2E3-4DC0-02DF-B271343C6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AF02231-FC59-82AF-99BB-AE5683D6E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77A03-726D-4B69-A738-D16D3CA459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999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16F576B-A5F7-B8D0-EC73-96C481070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7E3D6-04DC-4E59-9C7D-1479EAB4EE1C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5A2BBFC-5F31-E851-C293-64036A35F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D8F706A-5F64-AF6A-16BE-F66DEA22C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77A03-726D-4B69-A738-D16D3CA459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7081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328FBE-38C9-0E75-1644-293790251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DAB854E-94A4-64B8-0F53-FEC013673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F971868-D5E5-99C9-BDE2-E9A3A8EEDB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C7741A2-1CE6-19BF-583E-4D646E477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7E3D6-04DC-4E59-9C7D-1479EAB4EE1C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300F1FD-BCCB-0559-27EA-FBAA07B23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2D2E709-EA64-7C3C-C53D-FD364E9A1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77A03-726D-4B69-A738-D16D3CA459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622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38C551-3CD6-5BF4-4674-4C6CABAB7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D0AF462-DE19-E1B6-4BF1-4B568C7F84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5CF3D1D-4FBE-FD9C-5426-BC69A0A24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57B882C-11DA-DCCB-8C43-E06B0DE7C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7E3D6-04DC-4E59-9C7D-1479EAB4EE1C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BD46030-864A-2721-B42D-DED617F33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8D3A96B-0F26-5964-4662-7C1E88F88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77A03-726D-4B69-A738-D16D3CA459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7121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B2AEEF-2DD3-EE6B-D448-0CCA43745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DE3C42D-7DF1-97BC-F9AF-57F4B58CB9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EACB46F-6E68-57F7-62A6-90064DDB5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7E3D6-04DC-4E59-9C7D-1479EAB4EE1C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451ED87-AAAF-A37E-8289-68CA5D019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832EAA5-256B-2342-C379-F60520678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77A03-726D-4B69-A738-D16D3CA459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0835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E65A9DB-2CCC-23F3-22A2-A917EDC6A5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27845CD-51E0-5AAE-E436-792E89582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BC01B8E-A02B-EF3B-4192-44B312CD9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7E3D6-04DC-4E59-9C7D-1479EAB4EE1C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9F9F70A-38C1-00F0-3576-F5135DD71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5DEEEF3-EE17-AF40-F17D-2FBB46EA9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77A03-726D-4B69-A738-D16D3CA459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4502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893EF7C-7CF0-0103-349B-E52CFC7E4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099B1B6-148D-446D-155A-850DCD1B1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FC9178E-67A7-A3CC-42F7-8B6D54966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7E3D6-04DC-4E59-9C7D-1479EAB4EE1C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55B25C9-BCDB-0498-91F7-480BB19B4E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3103DBC-B43B-9E9B-D524-F1D054D86B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D77A03-726D-4B69-A738-D16D3CA459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378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E4CD8637-3399-CDC7-278F-D89300B18A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01" y="1267742"/>
            <a:ext cx="7837664" cy="4952947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4826382-79E2-B89A-E14C-2B34C07FB837}"/>
              </a:ext>
            </a:extLst>
          </p:cNvPr>
          <p:cNvSpPr txBox="1"/>
          <p:nvPr/>
        </p:nvSpPr>
        <p:spPr>
          <a:xfrm>
            <a:off x="281100" y="256309"/>
            <a:ext cx="134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case1</a:t>
            </a:r>
            <a:r>
              <a:rPr lang="en-US" altLang="zh-TW" dirty="0"/>
              <a:t> </a:t>
            </a:r>
            <a:endParaRPr lang="zh-TW" altLang="en-US" dirty="0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85110D23-B2D9-85BA-98B3-E03749D18ED5}"/>
              </a:ext>
            </a:extLst>
          </p:cNvPr>
          <p:cNvCxnSpPr>
            <a:cxnSpLocks/>
          </p:cNvCxnSpPr>
          <p:nvPr/>
        </p:nvCxnSpPr>
        <p:spPr>
          <a:xfrm flipV="1">
            <a:off x="1447800" y="1717766"/>
            <a:ext cx="1243149" cy="4004161"/>
          </a:xfrm>
          <a:prstGeom prst="line">
            <a:avLst/>
          </a:prstGeom>
          <a:ln>
            <a:solidFill>
              <a:schemeClr val="accent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021F7AC0-58F1-4BA8-5EA9-2163CA2B3679}"/>
              </a:ext>
            </a:extLst>
          </p:cNvPr>
          <p:cNvCxnSpPr>
            <a:cxnSpLocks/>
          </p:cNvCxnSpPr>
          <p:nvPr/>
        </p:nvCxnSpPr>
        <p:spPr>
          <a:xfrm flipV="1">
            <a:off x="1447800" y="1619794"/>
            <a:ext cx="1699952" cy="4126501"/>
          </a:xfrm>
          <a:prstGeom prst="line">
            <a:avLst/>
          </a:prstGeom>
          <a:ln>
            <a:solidFill>
              <a:schemeClr val="accent5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0F4D684E-F4FF-AC21-C858-E3C156807C9A}"/>
                  </a:ext>
                </a:extLst>
              </p:cNvPr>
              <p:cNvSpPr txBox="1"/>
              <p:nvPr/>
            </p:nvSpPr>
            <p:spPr>
              <a:xfrm>
                <a:off x="1628726" y="1967457"/>
                <a:ext cx="8688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𝑋𝑡𝑟𝑎𝑐𝑡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0F4D684E-F4FF-AC21-C858-E3C156807C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8726" y="1967457"/>
                <a:ext cx="86882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976A47D9-84DD-5D2F-2290-9B266E891777}"/>
                  </a:ext>
                </a:extLst>
              </p:cNvPr>
              <p:cNvSpPr txBox="1"/>
              <p:nvPr/>
            </p:nvSpPr>
            <p:spPr>
              <a:xfrm>
                <a:off x="3048275" y="1717766"/>
                <a:ext cx="1084613" cy="39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𝑂𝑝𝑒𝑛𝑆𝑒𝑒𝑠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976A47D9-84DD-5D2F-2290-9B266E891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275" y="1717766"/>
                <a:ext cx="1084613" cy="390748"/>
              </a:xfrm>
              <a:prstGeom prst="rect">
                <a:avLst/>
              </a:prstGeom>
              <a:blipFill>
                <a:blip r:embed="rId4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720AC6A9-9650-61CD-BAB8-5503A8B43EEE}"/>
                  </a:ext>
                </a:extLst>
              </p:cNvPr>
              <p:cNvSpPr txBox="1"/>
              <p:nvPr/>
            </p:nvSpPr>
            <p:spPr>
              <a:xfrm>
                <a:off x="8637795" y="3744215"/>
                <a:ext cx="1699952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=0.002</m:t>
                      </m:r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=28 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𝑀𝑃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720AC6A9-9650-61CD-BAB8-5503A8B43E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7795" y="3744215"/>
                <a:ext cx="1699952" cy="9233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B297FB8D-E4C6-2B63-7053-D4F2A7A95F24}"/>
                  </a:ext>
                </a:extLst>
              </p:cNvPr>
              <p:cNvSpPr txBox="1"/>
              <p:nvPr/>
            </p:nvSpPr>
            <p:spPr>
              <a:xfrm>
                <a:off x="8637795" y="1988393"/>
                <a:ext cx="3008336" cy="149592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TW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,  </m:t>
                          </m:r>
                          <m:r>
                            <m:rPr>
                              <m:sty m:val="p"/>
                            </m:rPr>
                            <a:rPr lang="en-US" altLang="zh-TW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a:rPr lang="en-US" altLang="zh-TW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𝑝𝑒𝑛𝑆𝑒𝑒𝑠</m:t>
                          </m:r>
                        </m:sub>
                      </m:sSub>
                      <m:r>
                        <a:rPr lang="en-US" altLang="zh-TW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altLang="zh-TW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TW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TW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TW" dirty="0">
                  <a:solidFill>
                    <a:schemeClr val="accent5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TW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𝑋𝑡𝑟𝑎𝑐𝑡</m:t>
                          </m:r>
                        </m:sub>
                      </m:sSub>
                      <m:r>
                        <a:rPr lang="en-US" altLang="zh-TW" b="0" i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=4700</m:t>
                      </m:r>
                      <m:rad>
                        <m:radPr>
                          <m:degHide m:val="on"/>
                          <m:ctrlPr>
                            <a:rPr lang="en-US" altLang="zh-TW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altLang="zh-TW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TW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zh-TW" altLang="en-US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B297FB8D-E4C6-2B63-7053-D4F2A7A95F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7795" y="1988393"/>
                <a:ext cx="3008336" cy="149592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3437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C4A69-5B69-F4AF-334E-A0E1A6C15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>
            <a:extLst>
              <a:ext uri="{FF2B5EF4-FFF2-40B4-BE49-F238E27FC236}">
                <a16:creationId xmlns:a16="http://schemas.microsoft.com/office/drawing/2014/main" id="{C43F97E7-480B-EE0A-2369-5CD04E5B0715}"/>
              </a:ext>
            </a:extLst>
          </p:cNvPr>
          <p:cNvGrpSpPr>
            <a:grpSpLocks noChangeAspect="1"/>
          </p:cNvGrpSpPr>
          <p:nvPr/>
        </p:nvGrpSpPr>
        <p:grpSpPr>
          <a:xfrm>
            <a:off x="114846" y="1814503"/>
            <a:ext cx="6073583" cy="3838151"/>
            <a:chOff x="357301" y="1267742"/>
            <a:chExt cx="7837664" cy="4952947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860CC031-2DCE-34F2-FE41-166FF3A3D2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301" y="1267742"/>
              <a:ext cx="7837664" cy="4952947"/>
            </a:xfrm>
            <a:prstGeom prst="rect">
              <a:avLst/>
            </a:prstGeom>
          </p:spPr>
        </p:pic>
        <p:sp>
          <p:nvSpPr>
            <p:cNvPr id="2" name="手繪多邊形: 圖案 1">
              <a:extLst>
                <a:ext uri="{FF2B5EF4-FFF2-40B4-BE49-F238E27FC236}">
                  <a16:creationId xmlns:a16="http://schemas.microsoft.com/office/drawing/2014/main" id="{FE2B7C9E-7D7D-A3A3-1D87-372048115FCE}"/>
                </a:ext>
              </a:extLst>
            </p:cNvPr>
            <p:cNvSpPr/>
            <p:nvPr/>
          </p:nvSpPr>
          <p:spPr>
            <a:xfrm>
              <a:off x="2449285" y="3383279"/>
              <a:ext cx="1038497" cy="750554"/>
            </a:xfrm>
            <a:custGeom>
              <a:avLst/>
              <a:gdLst>
                <a:gd name="csX0" fmla="*/ 0 w 2044337"/>
                <a:gd name="csY0" fmla="*/ 274320 h 711926"/>
                <a:gd name="csX1" fmla="*/ 293914 w 2044337"/>
                <a:gd name="csY1" fmla="*/ 117566 h 711926"/>
                <a:gd name="csX2" fmla="*/ 718457 w 2044337"/>
                <a:gd name="csY2" fmla="*/ 13063 h 711926"/>
                <a:gd name="csX3" fmla="*/ 986245 w 2044337"/>
                <a:gd name="csY3" fmla="*/ 0 h 711926"/>
                <a:gd name="csX4" fmla="*/ 1521823 w 2044337"/>
                <a:gd name="csY4" fmla="*/ 97971 h 711926"/>
                <a:gd name="csX5" fmla="*/ 2031274 w 2044337"/>
                <a:gd name="csY5" fmla="*/ 189411 h 711926"/>
                <a:gd name="csX6" fmla="*/ 2044337 w 2044337"/>
                <a:gd name="csY6" fmla="*/ 418011 h 711926"/>
                <a:gd name="csX7" fmla="*/ 1038497 w 2044337"/>
                <a:gd name="csY7" fmla="*/ 711926 h 711926"/>
                <a:gd name="csX8" fmla="*/ 13063 w 2044337"/>
                <a:gd name="csY8" fmla="*/ 659674 h 711926"/>
                <a:gd name="csX9" fmla="*/ 0 w 2044337"/>
                <a:gd name="csY9" fmla="*/ 274320 h 711926"/>
                <a:gd name="csX0" fmla="*/ 0 w 2044337"/>
                <a:gd name="csY0" fmla="*/ 274320 h 711926"/>
                <a:gd name="csX1" fmla="*/ 293914 w 2044337"/>
                <a:gd name="csY1" fmla="*/ 117566 h 711926"/>
                <a:gd name="csX2" fmla="*/ 718457 w 2044337"/>
                <a:gd name="csY2" fmla="*/ 13063 h 711926"/>
                <a:gd name="csX3" fmla="*/ 986245 w 2044337"/>
                <a:gd name="csY3" fmla="*/ 0 h 711926"/>
                <a:gd name="csX4" fmla="*/ 1521823 w 2044337"/>
                <a:gd name="csY4" fmla="*/ 97971 h 711926"/>
                <a:gd name="csX5" fmla="*/ 937103 w 2044337"/>
                <a:gd name="csY5" fmla="*/ 17776 h 711926"/>
                <a:gd name="csX6" fmla="*/ 2044337 w 2044337"/>
                <a:gd name="csY6" fmla="*/ 418011 h 711926"/>
                <a:gd name="csX7" fmla="*/ 1038497 w 2044337"/>
                <a:gd name="csY7" fmla="*/ 711926 h 711926"/>
                <a:gd name="csX8" fmla="*/ 13063 w 2044337"/>
                <a:gd name="csY8" fmla="*/ 659674 h 711926"/>
                <a:gd name="csX9" fmla="*/ 0 w 2044337"/>
                <a:gd name="csY9" fmla="*/ 274320 h 711926"/>
                <a:gd name="csX0" fmla="*/ 0 w 1521823"/>
                <a:gd name="csY0" fmla="*/ 274320 h 750553"/>
                <a:gd name="csX1" fmla="*/ 293914 w 1521823"/>
                <a:gd name="csY1" fmla="*/ 117566 h 750553"/>
                <a:gd name="csX2" fmla="*/ 718457 w 1521823"/>
                <a:gd name="csY2" fmla="*/ 13063 h 750553"/>
                <a:gd name="csX3" fmla="*/ 986245 w 1521823"/>
                <a:gd name="csY3" fmla="*/ 0 h 750553"/>
                <a:gd name="csX4" fmla="*/ 1521823 w 1521823"/>
                <a:gd name="csY4" fmla="*/ 97971 h 750553"/>
                <a:gd name="csX5" fmla="*/ 937103 w 1521823"/>
                <a:gd name="csY5" fmla="*/ 17776 h 750553"/>
                <a:gd name="csX6" fmla="*/ 1035983 w 1521823"/>
                <a:gd name="csY6" fmla="*/ 750553 h 750553"/>
                <a:gd name="csX7" fmla="*/ 1038497 w 1521823"/>
                <a:gd name="csY7" fmla="*/ 711926 h 750553"/>
                <a:gd name="csX8" fmla="*/ 13063 w 1521823"/>
                <a:gd name="csY8" fmla="*/ 659674 h 750553"/>
                <a:gd name="csX9" fmla="*/ 0 w 1521823"/>
                <a:gd name="csY9" fmla="*/ 274320 h 750553"/>
                <a:gd name="csX0" fmla="*/ 0 w 1521823"/>
                <a:gd name="csY0" fmla="*/ 274320 h 750553"/>
                <a:gd name="csX1" fmla="*/ 293914 w 1521823"/>
                <a:gd name="csY1" fmla="*/ 117566 h 750553"/>
                <a:gd name="csX2" fmla="*/ 718457 w 1521823"/>
                <a:gd name="csY2" fmla="*/ 13063 h 750553"/>
                <a:gd name="csX3" fmla="*/ 986245 w 1521823"/>
                <a:gd name="csY3" fmla="*/ 0 h 750553"/>
                <a:gd name="csX4" fmla="*/ 1521823 w 1521823"/>
                <a:gd name="csY4" fmla="*/ 97971 h 750553"/>
                <a:gd name="csX5" fmla="*/ 990739 w 1521823"/>
                <a:gd name="csY5" fmla="*/ 7048 h 750553"/>
                <a:gd name="csX6" fmla="*/ 1035983 w 1521823"/>
                <a:gd name="csY6" fmla="*/ 750553 h 750553"/>
                <a:gd name="csX7" fmla="*/ 1038497 w 1521823"/>
                <a:gd name="csY7" fmla="*/ 711926 h 750553"/>
                <a:gd name="csX8" fmla="*/ 13063 w 1521823"/>
                <a:gd name="csY8" fmla="*/ 659674 h 750553"/>
                <a:gd name="csX9" fmla="*/ 0 w 1521823"/>
                <a:gd name="csY9" fmla="*/ 274320 h 750553"/>
                <a:gd name="csX0" fmla="*/ 0 w 1038497"/>
                <a:gd name="csY0" fmla="*/ 274320 h 750553"/>
                <a:gd name="csX1" fmla="*/ 293914 w 1038497"/>
                <a:gd name="csY1" fmla="*/ 117566 h 750553"/>
                <a:gd name="csX2" fmla="*/ 718457 w 1038497"/>
                <a:gd name="csY2" fmla="*/ 13063 h 750553"/>
                <a:gd name="csX3" fmla="*/ 986245 w 1038497"/>
                <a:gd name="csY3" fmla="*/ 0 h 750553"/>
                <a:gd name="csX4" fmla="*/ 1004237 w 1038497"/>
                <a:gd name="csY4" fmla="*/ 6790 h 750553"/>
                <a:gd name="csX5" fmla="*/ 990739 w 1038497"/>
                <a:gd name="csY5" fmla="*/ 7048 h 750553"/>
                <a:gd name="csX6" fmla="*/ 1035983 w 1038497"/>
                <a:gd name="csY6" fmla="*/ 750553 h 750553"/>
                <a:gd name="csX7" fmla="*/ 1038497 w 1038497"/>
                <a:gd name="csY7" fmla="*/ 711926 h 750553"/>
                <a:gd name="csX8" fmla="*/ 13063 w 1038497"/>
                <a:gd name="csY8" fmla="*/ 659674 h 750553"/>
                <a:gd name="csX9" fmla="*/ 0 w 1038497"/>
                <a:gd name="csY9" fmla="*/ 274320 h 750553"/>
                <a:gd name="csX0" fmla="*/ 0 w 1038497"/>
                <a:gd name="csY0" fmla="*/ 274320 h 750553"/>
                <a:gd name="csX1" fmla="*/ 293914 w 1038497"/>
                <a:gd name="csY1" fmla="*/ 117566 h 750553"/>
                <a:gd name="csX2" fmla="*/ 718457 w 1038497"/>
                <a:gd name="csY2" fmla="*/ 13063 h 750553"/>
                <a:gd name="csX3" fmla="*/ 986245 w 1038497"/>
                <a:gd name="csY3" fmla="*/ 0 h 750553"/>
                <a:gd name="csX4" fmla="*/ 1004237 w 1038497"/>
                <a:gd name="csY4" fmla="*/ 6790 h 750553"/>
                <a:gd name="csX5" fmla="*/ 1017557 w 1038497"/>
                <a:gd name="csY5" fmla="*/ 7048 h 750553"/>
                <a:gd name="csX6" fmla="*/ 1035983 w 1038497"/>
                <a:gd name="csY6" fmla="*/ 750553 h 750553"/>
                <a:gd name="csX7" fmla="*/ 1038497 w 1038497"/>
                <a:gd name="csY7" fmla="*/ 711926 h 750553"/>
                <a:gd name="csX8" fmla="*/ 13063 w 1038497"/>
                <a:gd name="csY8" fmla="*/ 659674 h 750553"/>
                <a:gd name="csX9" fmla="*/ 0 w 1038497"/>
                <a:gd name="csY9" fmla="*/ 274320 h 750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038497" h="750553">
                  <a:moveTo>
                    <a:pt x="0" y="274320"/>
                  </a:moveTo>
                  <a:lnTo>
                    <a:pt x="293914" y="117566"/>
                  </a:lnTo>
                  <a:lnTo>
                    <a:pt x="718457" y="13063"/>
                  </a:lnTo>
                  <a:lnTo>
                    <a:pt x="986245" y="0"/>
                  </a:lnTo>
                  <a:lnTo>
                    <a:pt x="1004237" y="6790"/>
                  </a:lnTo>
                  <a:lnTo>
                    <a:pt x="1017557" y="7048"/>
                  </a:lnTo>
                  <a:lnTo>
                    <a:pt x="1035983" y="750553"/>
                  </a:lnTo>
                  <a:lnTo>
                    <a:pt x="1038497" y="711926"/>
                  </a:lnTo>
                  <a:lnTo>
                    <a:pt x="13063" y="659674"/>
                  </a:lnTo>
                  <a:lnTo>
                    <a:pt x="0" y="274320"/>
                  </a:lnTo>
                  <a:close/>
                </a:path>
              </a:pathLst>
            </a:custGeom>
            <a:solidFill>
              <a:srgbClr val="FFC000">
                <a:alpha val="3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3" name="Rectangle 1">
            <a:extLst>
              <a:ext uri="{FF2B5EF4-FFF2-40B4-BE49-F238E27FC236}">
                <a16:creationId xmlns:a16="http://schemas.microsoft.com/office/drawing/2014/main" id="{2A1B1B35-11BE-C0F5-9872-D7C218821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6071" y="2153942"/>
            <a:ext cx="5965929" cy="3151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OpenSees: Explicit Fiber Model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Detailed Discretization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: Explicitly models </a:t>
            </a:r>
            <a:r>
              <a:rPr kumimoji="0" lang="zh-TW" altLang="zh-TW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Core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vs. </a:t>
            </a:r>
            <a:r>
              <a:rPr kumimoji="0" lang="zh-TW" altLang="zh-TW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Cover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fibers.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Cover Spalling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: Cover strength </a:t>
            </a:r>
            <a:r>
              <a:rPr kumimoji="0" lang="en-US" altLang="zh-TW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f’cu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drops to </a:t>
            </a:r>
            <a:r>
              <a:rPr kumimoji="0" lang="zh-TW" altLang="zh-TW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at </a:t>
            </a:r>
            <a:r>
              <a:rPr kumimoji="0" lang="zh-TW" altLang="zh-TW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0.004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strain.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Realistic Response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: Successfully captures the physical "dip" in axial capacity.</a:t>
            </a:r>
            <a:endParaRPr kumimoji="0" lang="en-US" altLang="zh-TW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zh-TW" altLang="zh-TW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XTRACT: Algorithmic Smoothing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Numerical Smoothing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: Employs integration smoothing for numerical stability.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Uniform Loss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: Distributes cover strength degradation across the section.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Stable Curve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: Produces a continuous, idealized result without local fluctuations.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BBC317E-5D9E-1737-039E-11BA5701E651}"/>
              </a:ext>
            </a:extLst>
          </p:cNvPr>
          <p:cNvSpPr txBox="1"/>
          <p:nvPr/>
        </p:nvSpPr>
        <p:spPr>
          <a:xfrm>
            <a:off x="281100" y="256309"/>
            <a:ext cx="134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case1</a:t>
            </a:r>
            <a:r>
              <a:rPr lang="en-US" altLang="zh-TW" dirty="0"/>
              <a:t>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19958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E1AD6-AA26-5FF0-46BF-8ABDDC743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圖片 21">
            <a:extLst>
              <a:ext uri="{FF2B5EF4-FFF2-40B4-BE49-F238E27FC236}">
                <a16:creationId xmlns:a16="http://schemas.microsoft.com/office/drawing/2014/main" id="{09DE10CF-C788-1A22-27C4-82CF1581FE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46" y="1814503"/>
            <a:ext cx="6073583" cy="3838151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D02C1DE9-C81C-6CE7-A49A-65BB85F4A3EF}"/>
              </a:ext>
            </a:extLst>
          </p:cNvPr>
          <p:cNvSpPr txBox="1"/>
          <p:nvPr/>
        </p:nvSpPr>
        <p:spPr>
          <a:xfrm>
            <a:off x="281100" y="256309"/>
            <a:ext cx="134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case1</a:t>
            </a:r>
            <a:r>
              <a:rPr lang="en-US" altLang="zh-TW" dirty="0"/>
              <a:t> </a:t>
            </a:r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A3D79C7D-DAE9-0C87-3369-47F09BBB4CBD}"/>
              </a:ext>
            </a:extLst>
          </p:cNvPr>
          <p:cNvCxnSpPr>
            <a:cxnSpLocks/>
          </p:cNvCxnSpPr>
          <p:nvPr/>
        </p:nvCxnSpPr>
        <p:spPr>
          <a:xfrm>
            <a:off x="1140230" y="3429000"/>
            <a:ext cx="3697778" cy="0"/>
          </a:xfrm>
          <a:prstGeom prst="line">
            <a:avLst/>
          </a:prstGeom>
          <a:ln>
            <a:solidFill>
              <a:schemeClr val="accent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CEADB541-8BD4-B436-4F57-E6EF04E3A727}"/>
              </a:ext>
            </a:extLst>
          </p:cNvPr>
          <p:cNvCxnSpPr>
            <a:cxnSpLocks/>
          </p:cNvCxnSpPr>
          <p:nvPr/>
        </p:nvCxnSpPr>
        <p:spPr>
          <a:xfrm>
            <a:off x="1788622" y="3676426"/>
            <a:ext cx="3049386" cy="0"/>
          </a:xfrm>
          <a:prstGeom prst="line">
            <a:avLst/>
          </a:prstGeom>
          <a:ln>
            <a:solidFill>
              <a:schemeClr val="accent5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C30BDBBA-5577-9365-6D72-D0D958643BFE}"/>
                  </a:ext>
                </a:extLst>
              </p:cNvPr>
              <p:cNvSpPr txBox="1"/>
              <p:nvPr/>
            </p:nvSpPr>
            <p:spPr>
              <a:xfrm>
                <a:off x="685937" y="3514396"/>
                <a:ext cx="1523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14000</m:t>
                      </m:r>
                      <m:r>
                        <a:rPr lang="en-US" altLang="zh-TW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𝑘𝑁</m:t>
                      </m:r>
                    </m:oMath>
                  </m:oMathPara>
                </a14:m>
                <a:endParaRPr lang="zh-TW" altLang="en-US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C30BDBBA-5577-9365-6D72-D0D958643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937" y="3514396"/>
                <a:ext cx="152372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E4C55BB1-8FA6-83DC-AF5B-DD19BCEDAAAC}"/>
                  </a:ext>
                </a:extLst>
              </p:cNvPr>
              <p:cNvSpPr txBox="1"/>
              <p:nvPr/>
            </p:nvSpPr>
            <p:spPr>
              <a:xfrm>
                <a:off x="872839" y="2974273"/>
                <a:ext cx="1523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16000</m:t>
                      </m:r>
                      <m:r>
                        <a:rPr lang="en-US" altLang="zh-TW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𝑘𝑁</m:t>
                      </m:r>
                    </m:oMath>
                  </m:oMathPara>
                </a14:m>
                <a:endParaRPr lang="zh-TW" altLang="en-US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E4C55BB1-8FA6-83DC-AF5B-DD19BCEDA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839" y="2974273"/>
                <a:ext cx="152372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字方塊 20">
            <a:extLst>
              <a:ext uri="{FF2B5EF4-FFF2-40B4-BE49-F238E27FC236}">
                <a16:creationId xmlns:a16="http://schemas.microsoft.com/office/drawing/2014/main" id="{C679C1EA-CE7F-64E6-28FE-E3E1591F8C9B}"/>
              </a:ext>
            </a:extLst>
          </p:cNvPr>
          <p:cNvSpPr txBox="1"/>
          <p:nvPr/>
        </p:nvSpPr>
        <p:spPr>
          <a:xfrm>
            <a:off x="6140829" y="1205346"/>
            <a:ext cx="5936326" cy="4900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 Capacity Comparison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XTRACT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16,000 kN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OpenSees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14,000 kN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Discrepancy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Approximately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12% difference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in peak capacity.</a:t>
            </a:r>
          </a:p>
          <a:p>
            <a:pPr>
              <a:lnSpc>
                <a:spcPct val="150000"/>
              </a:lnSpc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 Technical Justification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Confinement Implementation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Both models utilize Mander’s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OpenSees Modeling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Uses Concrete01, which follows a linear softening path after the peak.</a:t>
            </a:r>
          </a:p>
          <a:p>
            <a:pPr>
              <a:lnSpc>
                <a:spcPct val="150000"/>
              </a:lnSpc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Discrepancy Origin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XTRACT’s internal confinement algorithm is more aggressive in predicting strength gain.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Concrete01 in OpenSees tends to be more conservative due to its simplified post-peak mathematical definition.</a:t>
            </a:r>
          </a:p>
        </p:txBody>
      </p:sp>
    </p:spTree>
    <p:extLst>
      <p:ext uri="{BB962C8B-B14F-4D97-AF65-F5344CB8AC3E}">
        <p14:creationId xmlns:p14="http://schemas.microsoft.com/office/powerpoint/2010/main" val="2956891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09220-3141-7EAD-9A19-0D5CE4333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7AF86BAA-871B-CF5B-54FF-1E9844E933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301" y="1267742"/>
            <a:ext cx="7837663" cy="4952947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B5E06E1B-BCFC-61DB-A26B-9AFC1498D2DA}"/>
              </a:ext>
            </a:extLst>
          </p:cNvPr>
          <p:cNvSpPr txBox="1"/>
          <p:nvPr/>
        </p:nvSpPr>
        <p:spPr>
          <a:xfrm>
            <a:off x="281100" y="256309"/>
            <a:ext cx="134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case2</a:t>
            </a:r>
            <a:endParaRPr lang="zh-TW" altLang="en-US" dirty="0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36334342-DC42-8F6C-9B57-C31523BA61D5}"/>
              </a:ext>
            </a:extLst>
          </p:cNvPr>
          <p:cNvCxnSpPr>
            <a:cxnSpLocks/>
          </p:cNvCxnSpPr>
          <p:nvPr/>
        </p:nvCxnSpPr>
        <p:spPr>
          <a:xfrm flipV="1">
            <a:off x="1447800" y="1717766"/>
            <a:ext cx="1243149" cy="4004161"/>
          </a:xfrm>
          <a:prstGeom prst="line">
            <a:avLst/>
          </a:prstGeom>
          <a:ln>
            <a:solidFill>
              <a:schemeClr val="accent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B60E9609-0790-541C-006E-83E5FDE2814F}"/>
              </a:ext>
            </a:extLst>
          </p:cNvPr>
          <p:cNvCxnSpPr>
            <a:cxnSpLocks/>
          </p:cNvCxnSpPr>
          <p:nvPr/>
        </p:nvCxnSpPr>
        <p:spPr>
          <a:xfrm flipV="1">
            <a:off x="1447800" y="1619794"/>
            <a:ext cx="1699952" cy="4126501"/>
          </a:xfrm>
          <a:prstGeom prst="line">
            <a:avLst/>
          </a:prstGeom>
          <a:ln>
            <a:solidFill>
              <a:schemeClr val="accent5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698F35A0-CCAA-FAFB-291B-6882639A0240}"/>
                  </a:ext>
                </a:extLst>
              </p:cNvPr>
              <p:cNvSpPr txBox="1"/>
              <p:nvPr/>
            </p:nvSpPr>
            <p:spPr>
              <a:xfrm>
                <a:off x="1628726" y="1967457"/>
                <a:ext cx="8688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𝑋𝑡𝑟𝑎𝑐𝑡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698F35A0-CCAA-FAFB-291B-6882639A0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8726" y="1967457"/>
                <a:ext cx="86882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4A9ED145-B9AE-186C-0BD3-290B5DE96F9E}"/>
                  </a:ext>
                </a:extLst>
              </p:cNvPr>
              <p:cNvSpPr txBox="1"/>
              <p:nvPr/>
            </p:nvSpPr>
            <p:spPr>
              <a:xfrm>
                <a:off x="3048275" y="1717766"/>
                <a:ext cx="1084613" cy="39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𝑂𝑝𝑒𝑛𝑆𝑒𝑒𝑠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4A9ED145-B9AE-186C-0BD3-290B5DE96F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275" y="1717766"/>
                <a:ext cx="1084613" cy="390748"/>
              </a:xfrm>
              <a:prstGeom prst="rect">
                <a:avLst/>
              </a:prstGeom>
              <a:blipFill>
                <a:blip r:embed="rId4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DA5740EE-364F-3551-805A-9E560F734F77}"/>
                  </a:ext>
                </a:extLst>
              </p:cNvPr>
              <p:cNvSpPr txBox="1"/>
              <p:nvPr/>
            </p:nvSpPr>
            <p:spPr>
              <a:xfrm>
                <a:off x="8637795" y="3744215"/>
                <a:ext cx="1699952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=0.002</m:t>
                      </m:r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=28 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𝑀𝑃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DA5740EE-364F-3551-805A-9E560F734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7795" y="3744215"/>
                <a:ext cx="1699952" cy="9233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F38ED8F3-865C-D86A-8809-53FC4A3A98ED}"/>
                  </a:ext>
                </a:extLst>
              </p:cNvPr>
              <p:cNvSpPr txBox="1"/>
              <p:nvPr/>
            </p:nvSpPr>
            <p:spPr>
              <a:xfrm>
                <a:off x="8637795" y="1988393"/>
                <a:ext cx="3008336" cy="149592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TW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,  </m:t>
                          </m:r>
                          <m:r>
                            <m:rPr>
                              <m:sty m:val="p"/>
                            </m:rPr>
                            <a:rPr lang="en-US" altLang="zh-TW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a:rPr lang="en-US" altLang="zh-TW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𝑝𝑒𝑛𝑆𝑒𝑒𝑠</m:t>
                          </m:r>
                        </m:sub>
                      </m:sSub>
                      <m:r>
                        <a:rPr lang="en-US" altLang="zh-TW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altLang="zh-TW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TW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TW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TW" dirty="0">
                  <a:solidFill>
                    <a:schemeClr val="accent5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TW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𝑋𝑡𝑟𝑎𝑐𝑡</m:t>
                          </m:r>
                        </m:sub>
                      </m:sSub>
                      <m:r>
                        <a:rPr lang="en-US" altLang="zh-TW" b="0" i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=4700</m:t>
                      </m:r>
                      <m:rad>
                        <m:radPr>
                          <m:degHide m:val="on"/>
                          <m:ctrlPr>
                            <a:rPr lang="en-US" altLang="zh-TW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altLang="zh-TW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TW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zh-TW" altLang="en-US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F38ED8F3-865C-D86A-8809-53FC4A3A9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7795" y="1988393"/>
                <a:ext cx="3008336" cy="149592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4162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46F63-0367-957B-32BD-089F46249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>
            <a:extLst>
              <a:ext uri="{FF2B5EF4-FFF2-40B4-BE49-F238E27FC236}">
                <a16:creationId xmlns:a16="http://schemas.microsoft.com/office/drawing/2014/main" id="{31C53748-EBC4-B01D-7E58-9B517637B6F8}"/>
              </a:ext>
            </a:extLst>
          </p:cNvPr>
          <p:cNvGrpSpPr>
            <a:grpSpLocks noChangeAspect="1"/>
          </p:cNvGrpSpPr>
          <p:nvPr/>
        </p:nvGrpSpPr>
        <p:grpSpPr>
          <a:xfrm>
            <a:off x="114846" y="1814503"/>
            <a:ext cx="6073582" cy="3838151"/>
            <a:chOff x="357301" y="1267742"/>
            <a:chExt cx="7837663" cy="4952947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B142F0F9-4E9F-0E47-0B0D-D1494765E1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57301" y="1267742"/>
              <a:ext cx="7837663" cy="4952947"/>
            </a:xfrm>
            <a:prstGeom prst="rect">
              <a:avLst/>
            </a:prstGeom>
          </p:spPr>
        </p:pic>
        <p:sp>
          <p:nvSpPr>
            <p:cNvPr id="2" name="手繪多邊形: 圖案 1">
              <a:extLst>
                <a:ext uri="{FF2B5EF4-FFF2-40B4-BE49-F238E27FC236}">
                  <a16:creationId xmlns:a16="http://schemas.microsoft.com/office/drawing/2014/main" id="{EC324E83-EA94-8229-1297-3EE283E7F040}"/>
                </a:ext>
              </a:extLst>
            </p:cNvPr>
            <p:cNvSpPr/>
            <p:nvPr/>
          </p:nvSpPr>
          <p:spPr>
            <a:xfrm>
              <a:off x="2462347" y="3233098"/>
              <a:ext cx="1540942" cy="788401"/>
            </a:xfrm>
            <a:custGeom>
              <a:avLst/>
              <a:gdLst>
                <a:gd name="csX0" fmla="*/ 0 w 2044337"/>
                <a:gd name="csY0" fmla="*/ 274320 h 711926"/>
                <a:gd name="csX1" fmla="*/ 293914 w 2044337"/>
                <a:gd name="csY1" fmla="*/ 117566 h 711926"/>
                <a:gd name="csX2" fmla="*/ 718457 w 2044337"/>
                <a:gd name="csY2" fmla="*/ 13063 h 711926"/>
                <a:gd name="csX3" fmla="*/ 986245 w 2044337"/>
                <a:gd name="csY3" fmla="*/ 0 h 711926"/>
                <a:gd name="csX4" fmla="*/ 1521823 w 2044337"/>
                <a:gd name="csY4" fmla="*/ 97971 h 711926"/>
                <a:gd name="csX5" fmla="*/ 2031274 w 2044337"/>
                <a:gd name="csY5" fmla="*/ 189411 h 711926"/>
                <a:gd name="csX6" fmla="*/ 2044337 w 2044337"/>
                <a:gd name="csY6" fmla="*/ 418011 h 711926"/>
                <a:gd name="csX7" fmla="*/ 1038497 w 2044337"/>
                <a:gd name="csY7" fmla="*/ 711926 h 711926"/>
                <a:gd name="csX8" fmla="*/ 13063 w 2044337"/>
                <a:gd name="csY8" fmla="*/ 659674 h 711926"/>
                <a:gd name="csX9" fmla="*/ 0 w 2044337"/>
                <a:gd name="csY9" fmla="*/ 274320 h 711926"/>
                <a:gd name="csX0" fmla="*/ 19119 w 2063456"/>
                <a:gd name="csY0" fmla="*/ 274320 h 788401"/>
                <a:gd name="csX1" fmla="*/ 313033 w 2063456"/>
                <a:gd name="csY1" fmla="*/ 117566 h 788401"/>
                <a:gd name="csX2" fmla="*/ 737576 w 2063456"/>
                <a:gd name="csY2" fmla="*/ 13063 h 788401"/>
                <a:gd name="csX3" fmla="*/ 1005364 w 2063456"/>
                <a:gd name="csY3" fmla="*/ 0 h 788401"/>
                <a:gd name="csX4" fmla="*/ 1540942 w 2063456"/>
                <a:gd name="csY4" fmla="*/ 97971 h 788401"/>
                <a:gd name="csX5" fmla="*/ 2050393 w 2063456"/>
                <a:gd name="csY5" fmla="*/ 189411 h 788401"/>
                <a:gd name="csX6" fmla="*/ 2063456 w 2063456"/>
                <a:gd name="csY6" fmla="*/ 418011 h 788401"/>
                <a:gd name="csX7" fmla="*/ 1057616 w 2063456"/>
                <a:gd name="csY7" fmla="*/ 711926 h 788401"/>
                <a:gd name="csX8" fmla="*/ 0 w 2063456"/>
                <a:gd name="csY8" fmla="*/ 788401 h 788401"/>
                <a:gd name="csX9" fmla="*/ 19119 w 2063456"/>
                <a:gd name="csY9" fmla="*/ 274320 h 788401"/>
                <a:gd name="csX0" fmla="*/ 19119 w 2063456"/>
                <a:gd name="csY0" fmla="*/ 274320 h 788401"/>
                <a:gd name="csX1" fmla="*/ 313033 w 2063456"/>
                <a:gd name="csY1" fmla="*/ 117566 h 788401"/>
                <a:gd name="csX2" fmla="*/ 737576 w 2063456"/>
                <a:gd name="csY2" fmla="*/ 13063 h 788401"/>
                <a:gd name="csX3" fmla="*/ 1005364 w 2063456"/>
                <a:gd name="csY3" fmla="*/ 0 h 788401"/>
                <a:gd name="csX4" fmla="*/ 1540942 w 2063456"/>
                <a:gd name="csY4" fmla="*/ 97971 h 788401"/>
                <a:gd name="csX5" fmla="*/ 2050393 w 2063456"/>
                <a:gd name="csY5" fmla="*/ 189411 h 788401"/>
                <a:gd name="csX6" fmla="*/ 2063456 w 2063456"/>
                <a:gd name="csY6" fmla="*/ 418011 h 788401"/>
                <a:gd name="csX7" fmla="*/ 1057616 w 2063456"/>
                <a:gd name="csY7" fmla="*/ 711926 h 788401"/>
                <a:gd name="csX8" fmla="*/ 0 w 2063456"/>
                <a:gd name="csY8" fmla="*/ 788401 h 788401"/>
                <a:gd name="csX9" fmla="*/ 19119 w 2063456"/>
                <a:gd name="csY9" fmla="*/ 274320 h 788401"/>
                <a:gd name="csX0" fmla="*/ 19119 w 2063456"/>
                <a:gd name="csY0" fmla="*/ 274320 h 788401"/>
                <a:gd name="csX1" fmla="*/ 313033 w 2063456"/>
                <a:gd name="csY1" fmla="*/ 117566 h 788401"/>
                <a:gd name="csX2" fmla="*/ 737576 w 2063456"/>
                <a:gd name="csY2" fmla="*/ 13063 h 788401"/>
                <a:gd name="csX3" fmla="*/ 1005364 w 2063456"/>
                <a:gd name="csY3" fmla="*/ 0 h 788401"/>
                <a:gd name="csX4" fmla="*/ 1540942 w 2063456"/>
                <a:gd name="csY4" fmla="*/ 97971 h 788401"/>
                <a:gd name="csX5" fmla="*/ 2050393 w 2063456"/>
                <a:gd name="csY5" fmla="*/ 189411 h 788401"/>
                <a:gd name="csX6" fmla="*/ 2063456 w 2063456"/>
                <a:gd name="csY6" fmla="*/ 418011 h 788401"/>
                <a:gd name="csX7" fmla="*/ 1057616 w 2063456"/>
                <a:gd name="csY7" fmla="*/ 711926 h 788401"/>
                <a:gd name="csX8" fmla="*/ 0 w 2063456"/>
                <a:gd name="csY8" fmla="*/ 788401 h 788401"/>
                <a:gd name="csX9" fmla="*/ 19119 w 2063456"/>
                <a:gd name="csY9" fmla="*/ 274320 h 788401"/>
                <a:gd name="csX0" fmla="*/ 40574 w 2063456"/>
                <a:gd name="csY0" fmla="*/ 370864 h 788401"/>
                <a:gd name="csX1" fmla="*/ 313033 w 2063456"/>
                <a:gd name="csY1" fmla="*/ 117566 h 788401"/>
                <a:gd name="csX2" fmla="*/ 737576 w 2063456"/>
                <a:gd name="csY2" fmla="*/ 13063 h 788401"/>
                <a:gd name="csX3" fmla="*/ 1005364 w 2063456"/>
                <a:gd name="csY3" fmla="*/ 0 h 788401"/>
                <a:gd name="csX4" fmla="*/ 1540942 w 2063456"/>
                <a:gd name="csY4" fmla="*/ 97971 h 788401"/>
                <a:gd name="csX5" fmla="*/ 2050393 w 2063456"/>
                <a:gd name="csY5" fmla="*/ 189411 h 788401"/>
                <a:gd name="csX6" fmla="*/ 2063456 w 2063456"/>
                <a:gd name="csY6" fmla="*/ 418011 h 788401"/>
                <a:gd name="csX7" fmla="*/ 1057616 w 2063456"/>
                <a:gd name="csY7" fmla="*/ 711926 h 788401"/>
                <a:gd name="csX8" fmla="*/ 0 w 2063456"/>
                <a:gd name="csY8" fmla="*/ 788401 h 788401"/>
                <a:gd name="csX9" fmla="*/ 40574 w 2063456"/>
                <a:gd name="csY9" fmla="*/ 370864 h 788401"/>
                <a:gd name="csX0" fmla="*/ 40574 w 2063456"/>
                <a:gd name="csY0" fmla="*/ 371860 h 789397"/>
                <a:gd name="csX1" fmla="*/ 313033 w 2063456"/>
                <a:gd name="csY1" fmla="*/ 118562 h 789397"/>
                <a:gd name="csX2" fmla="*/ 737576 w 2063456"/>
                <a:gd name="csY2" fmla="*/ 14059 h 789397"/>
                <a:gd name="csX3" fmla="*/ 1005364 w 2063456"/>
                <a:gd name="csY3" fmla="*/ 996 h 789397"/>
                <a:gd name="csX4" fmla="*/ 1540942 w 2063456"/>
                <a:gd name="csY4" fmla="*/ 98967 h 789397"/>
                <a:gd name="csX5" fmla="*/ 996448 w 2063456"/>
                <a:gd name="csY5" fmla="*/ 0 h 789397"/>
                <a:gd name="csX6" fmla="*/ 2063456 w 2063456"/>
                <a:gd name="csY6" fmla="*/ 419007 h 789397"/>
                <a:gd name="csX7" fmla="*/ 1057616 w 2063456"/>
                <a:gd name="csY7" fmla="*/ 712922 h 789397"/>
                <a:gd name="csX8" fmla="*/ 0 w 2063456"/>
                <a:gd name="csY8" fmla="*/ 789397 h 789397"/>
                <a:gd name="csX9" fmla="*/ 40574 w 2063456"/>
                <a:gd name="csY9" fmla="*/ 371860 h 789397"/>
                <a:gd name="csX0" fmla="*/ 40574 w 1540942"/>
                <a:gd name="csY0" fmla="*/ 371860 h 789397"/>
                <a:gd name="csX1" fmla="*/ 313033 w 1540942"/>
                <a:gd name="csY1" fmla="*/ 118562 h 789397"/>
                <a:gd name="csX2" fmla="*/ 737576 w 1540942"/>
                <a:gd name="csY2" fmla="*/ 14059 h 789397"/>
                <a:gd name="csX3" fmla="*/ 1005364 w 1540942"/>
                <a:gd name="csY3" fmla="*/ 996 h 789397"/>
                <a:gd name="csX4" fmla="*/ 1540942 w 1540942"/>
                <a:gd name="csY4" fmla="*/ 98967 h 789397"/>
                <a:gd name="csX5" fmla="*/ 996448 w 1540942"/>
                <a:gd name="csY5" fmla="*/ 0 h 789397"/>
                <a:gd name="csX6" fmla="*/ 1001466 w 1540942"/>
                <a:gd name="csY6" fmla="*/ 705958 h 789397"/>
                <a:gd name="csX7" fmla="*/ 1057616 w 1540942"/>
                <a:gd name="csY7" fmla="*/ 712922 h 789397"/>
                <a:gd name="csX8" fmla="*/ 0 w 1540942"/>
                <a:gd name="csY8" fmla="*/ 789397 h 789397"/>
                <a:gd name="csX9" fmla="*/ 40574 w 1540942"/>
                <a:gd name="csY9" fmla="*/ 371860 h 789397"/>
                <a:gd name="csX0" fmla="*/ 40574 w 1540942"/>
                <a:gd name="csY0" fmla="*/ 371860 h 789397"/>
                <a:gd name="csX1" fmla="*/ 313033 w 1540942"/>
                <a:gd name="csY1" fmla="*/ 118562 h 789397"/>
                <a:gd name="csX2" fmla="*/ 737576 w 1540942"/>
                <a:gd name="csY2" fmla="*/ 14059 h 789397"/>
                <a:gd name="csX3" fmla="*/ 1005364 w 1540942"/>
                <a:gd name="csY3" fmla="*/ 996 h 789397"/>
                <a:gd name="csX4" fmla="*/ 1540942 w 1540942"/>
                <a:gd name="csY4" fmla="*/ 98967 h 789397"/>
                <a:gd name="csX5" fmla="*/ 996448 w 1540942"/>
                <a:gd name="csY5" fmla="*/ 0 h 789397"/>
                <a:gd name="csX6" fmla="*/ 1001466 w 1540942"/>
                <a:gd name="csY6" fmla="*/ 705958 h 789397"/>
                <a:gd name="csX7" fmla="*/ 1020071 w 1540942"/>
                <a:gd name="csY7" fmla="*/ 710241 h 789397"/>
                <a:gd name="csX8" fmla="*/ 0 w 1540942"/>
                <a:gd name="csY8" fmla="*/ 789397 h 789397"/>
                <a:gd name="csX9" fmla="*/ 40574 w 1540942"/>
                <a:gd name="csY9" fmla="*/ 371860 h 789397"/>
                <a:gd name="csX0" fmla="*/ 40574 w 1540942"/>
                <a:gd name="csY0" fmla="*/ 371860 h 789397"/>
                <a:gd name="csX1" fmla="*/ 313033 w 1540942"/>
                <a:gd name="csY1" fmla="*/ 118562 h 789397"/>
                <a:gd name="csX2" fmla="*/ 737576 w 1540942"/>
                <a:gd name="csY2" fmla="*/ 14059 h 789397"/>
                <a:gd name="csX3" fmla="*/ 1005364 w 1540942"/>
                <a:gd name="csY3" fmla="*/ 996 h 789397"/>
                <a:gd name="csX4" fmla="*/ 1540942 w 1540942"/>
                <a:gd name="csY4" fmla="*/ 98967 h 789397"/>
                <a:gd name="csX5" fmla="*/ 996448 w 1540942"/>
                <a:gd name="csY5" fmla="*/ 0 h 789397"/>
                <a:gd name="csX6" fmla="*/ 1001466 w 1540942"/>
                <a:gd name="csY6" fmla="*/ 705958 h 789397"/>
                <a:gd name="csX7" fmla="*/ 1020071 w 1540942"/>
                <a:gd name="csY7" fmla="*/ 710241 h 789397"/>
                <a:gd name="csX8" fmla="*/ 0 w 1540942"/>
                <a:gd name="csY8" fmla="*/ 789397 h 789397"/>
                <a:gd name="csX9" fmla="*/ 40574 w 1540942"/>
                <a:gd name="csY9" fmla="*/ 371860 h 789397"/>
                <a:gd name="csX0" fmla="*/ 40574 w 1540942"/>
                <a:gd name="csY0" fmla="*/ 370864 h 788401"/>
                <a:gd name="csX1" fmla="*/ 313033 w 1540942"/>
                <a:gd name="csY1" fmla="*/ 117566 h 788401"/>
                <a:gd name="csX2" fmla="*/ 737576 w 1540942"/>
                <a:gd name="csY2" fmla="*/ 13063 h 788401"/>
                <a:gd name="csX3" fmla="*/ 1005364 w 1540942"/>
                <a:gd name="csY3" fmla="*/ 0 h 788401"/>
                <a:gd name="csX4" fmla="*/ 1540942 w 1540942"/>
                <a:gd name="csY4" fmla="*/ 97971 h 788401"/>
                <a:gd name="csX5" fmla="*/ 1009857 w 1540942"/>
                <a:gd name="csY5" fmla="*/ 1686 h 788401"/>
                <a:gd name="csX6" fmla="*/ 1001466 w 1540942"/>
                <a:gd name="csY6" fmla="*/ 704962 h 788401"/>
                <a:gd name="csX7" fmla="*/ 1020071 w 1540942"/>
                <a:gd name="csY7" fmla="*/ 709245 h 788401"/>
                <a:gd name="csX8" fmla="*/ 0 w 1540942"/>
                <a:gd name="csY8" fmla="*/ 788401 h 788401"/>
                <a:gd name="csX9" fmla="*/ 40574 w 1540942"/>
                <a:gd name="csY9" fmla="*/ 370864 h 788401"/>
                <a:gd name="csX0" fmla="*/ 3029 w 1540942"/>
                <a:gd name="csY0" fmla="*/ 400364 h 788401"/>
                <a:gd name="csX1" fmla="*/ 313033 w 1540942"/>
                <a:gd name="csY1" fmla="*/ 117566 h 788401"/>
                <a:gd name="csX2" fmla="*/ 737576 w 1540942"/>
                <a:gd name="csY2" fmla="*/ 13063 h 788401"/>
                <a:gd name="csX3" fmla="*/ 1005364 w 1540942"/>
                <a:gd name="csY3" fmla="*/ 0 h 788401"/>
                <a:gd name="csX4" fmla="*/ 1540942 w 1540942"/>
                <a:gd name="csY4" fmla="*/ 97971 h 788401"/>
                <a:gd name="csX5" fmla="*/ 1009857 w 1540942"/>
                <a:gd name="csY5" fmla="*/ 1686 h 788401"/>
                <a:gd name="csX6" fmla="*/ 1001466 w 1540942"/>
                <a:gd name="csY6" fmla="*/ 704962 h 788401"/>
                <a:gd name="csX7" fmla="*/ 1020071 w 1540942"/>
                <a:gd name="csY7" fmla="*/ 709245 h 788401"/>
                <a:gd name="csX8" fmla="*/ 0 w 1540942"/>
                <a:gd name="csY8" fmla="*/ 788401 h 788401"/>
                <a:gd name="csX9" fmla="*/ 3029 w 1540942"/>
                <a:gd name="csY9" fmla="*/ 400364 h 7884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540942" h="788401">
                  <a:moveTo>
                    <a:pt x="3029" y="400364"/>
                  </a:moveTo>
                  <a:lnTo>
                    <a:pt x="313033" y="117566"/>
                  </a:lnTo>
                  <a:lnTo>
                    <a:pt x="737576" y="13063"/>
                  </a:lnTo>
                  <a:lnTo>
                    <a:pt x="1005364" y="0"/>
                  </a:lnTo>
                  <a:lnTo>
                    <a:pt x="1540942" y="97971"/>
                  </a:lnTo>
                  <a:lnTo>
                    <a:pt x="1009857" y="1686"/>
                  </a:lnTo>
                  <a:cubicBezTo>
                    <a:pt x="1011530" y="237005"/>
                    <a:pt x="999793" y="469643"/>
                    <a:pt x="1001466" y="704962"/>
                  </a:cubicBezTo>
                  <a:lnTo>
                    <a:pt x="1020071" y="709245"/>
                  </a:lnTo>
                  <a:cubicBezTo>
                    <a:pt x="713124" y="691829"/>
                    <a:pt x="470540" y="569821"/>
                    <a:pt x="0" y="788401"/>
                  </a:cubicBezTo>
                  <a:cubicBezTo>
                    <a:pt x="1010" y="659055"/>
                    <a:pt x="2019" y="529710"/>
                    <a:pt x="3029" y="400364"/>
                  </a:cubicBezTo>
                  <a:close/>
                </a:path>
              </a:pathLst>
            </a:custGeom>
            <a:solidFill>
              <a:srgbClr val="FFC000">
                <a:alpha val="3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6" name="文字方塊 5">
            <a:extLst>
              <a:ext uri="{FF2B5EF4-FFF2-40B4-BE49-F238E27FC236}">
                <a16:creationId xmlns:a16="http://schemas.microsoft.com/office/drawing/2014/main" id="{A8E8443C-46A6-665A-6814-600ACE5C6935}"/>
              </a:ext>
            </a:extLst>
          </p:cNvPr>
          <p:cNvSpPr txBox="1"/>
          <p:nvPr/>
        </p:nvSpPr>
        <p:spPr>
          <a:xfrm>
            <a:off x="281100" y="256309"/>
            <a:ext cx="134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case2</a:t>
            </a:r>
            <a:endParaRPr lang="zh-TW" altLang="en-US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37B0F64-FBC6-0111-EA35-D29267D57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8428" y="2002463"/>
            <a:ext cx="5888726" cy="3462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Aft>
                <a:spcPts val="600"/>
              </a:spcAft>
            </a:pPr>
            <a:r>
              <a:rPr lang="zh-TW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Software Logic Contrast</a:t>
            </a:r>
          </a:p>
          <a:p>
            <a:pPr algn="just" eaLnBrk="0" fontAlgn="base" hangingPunct="0">
              <a:lnSpc>
                <a:spcPct val="150000"/>
              </a:lnSpc>
              <a:spcAft>
                <a:spcPts val="600"/>
              </a:spcAft>
            </a:pPr>
            <a:r>
              <a:rPr lang="zh-TW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OpenSees (Physical Reality):</a:t>
            </a:r>
          </a:p>
          <a:p>
            <a:pPr lvl="1" algn="just">
              <a:lnSpc>
                <a:spcPct val="150000"/>
              </a:lnSpc>
              <a:spcAft>
                <a:spcPts val="600"/>
              </a:spcAft>
            </a:pPr>
            <a:r>
              <a:rPr lang="zh-TW" altLang="zh-TW" sz="1400" dirty="0"/>
              <a:t>Captures the explicit failure of the concrete shell.</a:t>
            </a:r>
          </a:p>
          <a:p>
            <a:pPr lvl="1" algn="just">
              <a:lnSpc>
                <a:spcPct val="150000"/>
              </a:lnSpc>
              <a:spcAft>
                <a:spcPts val="600"/>
              </a:spcAft>
            </a:pPr>
            <a:r>
              <a:rPr lang="zh-TW" altLang="zh-TW" sz="1400" dirty="0"/>
              <a:t>Fiber-based sensitivity reflects the sudden loss of cover capacity.</a:t>
            </a:r>
            <a:endParaRPr lang="en-US" altLang="zh-TW" sz="1400" dirty="0"/>
          </a:p>
          <a:p>
            <a:pPr lvl="1" algn="just">
              <a:lnSpc>
                <a:spcPct val="150000"/>
              </a:lnSpc>
              <a:spcAft>
                <a:spcPts val="600"/>
              </a:spcAft>
            </a:pPr>
            <a:endParaRPr lang="zh-TW" altLang="zh-TW" sz="1400" dirty="0"/>
          </a:p>
          <a:p>
            <a:pPr algn="just" eaLnBrk="0" fontAlgn="base" hangingPunct="0">
              <a:lnSpc>
                <a:spcPct val="150000"/>
              </a:lnSpc>
              <a:spcAft>
                <a:spcPts val="600"/>
              </a:spcAft>
            </a:pPr>
            <a:r>
              <a:rPr lang="zh-TW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XTRACT (Idealized Model):</a:t>
            </a:r>
          </a:p>
          <a:p>
            <a:pPr lvl="1" algn="just">
              <a:lnSpc>
                <a:spcPct val="150000"/>
              </a:lnSpc>
              <a:spcAft>
                <a:spcPts val="600"/>
              </a:spcAft>
            </a:pPr>
            <a:r>
              <a:rPr lang="zh-TW" altLang="zh-TW" sz="1400" dirty="0"/>
              <a:t>Employs numerical smoothing during integration.</a:t>
            </a:r>
          </a:p>
          <a:p>
            <a:pPr lvl="1" algn="just">
              <a:lnSpc>
                <a:spcPct val="150000"/>
              </a:lnSpc>
              <a:spcAft>
                <a:spcPts val="600"/>
              </a:spcAft>
            </a:pPr>
            <a:r>
              <a:rPr lang="zh-TW" altLang="zh-TW" sz="1400" dirty="0"/>
              <a:t>Results in a continuous, "stable" curve that masks localized physical failure.</a:t>
            </a:r>
          </a:p>
        </p:txBody>
      </p:sp>
    </p:spTree>
    <p:extLst>
      <p:ext uri="{BB962C8B-B14F-4D97-AF65-F5344CB8AC3E}">
        <p14:creationId xmlns:p14="http://schemas.microsoft.com/office/powerpoint/2010/main" val="690469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6AA35-746E-25F9-331C-B601857E9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圖片 21">
            <a:extLst>
              <a:ext uri="{FF2B5EF4-FFF2-40B4-BE49-F238E27FC236}">
                <a16:creationId xmlns:a16="http://schemas.microsoft.com/office/drawing/2014/main" id="{0B52B594-0A05-4055-ABAB-9DC1478403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846" y="1815765"/>
            <a:ext cx="6073583" cy="3835626"/>
          </a:xfrm>
          <a:prstGeom prst="rect">
            <a:avLst/>
          </a:prstGeom>
        </p:spPr>
      </p:pic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A82E4284-E3D6-D04F-E434-A2D0BBA07CC6}"/>
              </a:ext>
            </a:extLst>
          </p:cNvPr>
          <p:cNvCxnSpPr>
            <a:cxnSpLocks/>
          </p:cNvCxnSpPr>
          <p:nvPr/>
        </p:nvCxnSpPr>
        <p:spPr>
          <a:xfrm>
            <a:off x="1093509" y="3343605"/>
            <a:ext cx="3697778" cy="0"/>
          </a:xfrm>
          <a:prstGeom prst="line">
            <a:avLst/>
          </a:prstGeom>
          <a:ln>
            <a:solidFill>
              <a:schemeClr val="accent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D732B877-A3E9-3935-9158-7E6F7A0DE856}"/>
              </a:ext>
            </a:extLst>
          </p:cNvPr>
          <p:cNvCxnSpPr>
            <a:cxnSpLocks/>
          </p:cNvCxnSpPr>
          <p:nvPr/>
        </p:nvCxnSpPr>
        <p:spPr>
          <a:xfrm>
            <a:off x="1741901" y="3538712"/>
            <a:ext cx="3049386" cy="0"/>
          </a:xfrm>
          <a:prstGeom prst="line">
            <a:avLst/>
          </a:prstGeom>
          <a:ln>
            <a:solidFill>
              <a:schemeClr val="accent5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3C6644FD-FBD1-A372-788F-0D373951FC6C}"/>
                  </a:ext>
                </a:extLst>
              </p:cNvPr>
              <p:cNvSpPr txBox="1"/>
              <p:nvPr/>
            </p:nvSpPr>
            <p:spPr>
              <a:xfrm>
                <a:off x="699286" y="3364246"/>
                <a:ext cx="1523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14900</m:t>
                      </m:r>
                      <m:r>
                        <a:rPr lang="en-US" altLang="zh-TW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𝑘𝑁</m:t>
                      </m:r>
                    </m:oMath>
                  </m:oMathPara>
                </a14:m>
                <a:endParaRPr lang="zh-TW" altLang="en-US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3C6644FD-FBD1-A372-788F-0D373951FC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286" y="3364246"/>
                <a:ext cx="152372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CE337AFF-D5F9-0D15-48F9-987879BB97EC}"/>
                  </a:ext>
                </a:extLst>
              </p:cNvPr>
              <p:cNvSpPr txBox="1"/>
              <p:nvPr/>
            </p:nvSpPr>
            <p:spPr>
              <a:xfrm>
                <a:off x="872839" y="2974273"/>
                <a:ext cx="1523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16800</m:t>
                      </m:r>
                      <m:r>
                        <a:rPr lang="en-US" altLang="zh-TW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𝑘𝑁</m:t>
                      </m:r>
                    </m:oMath>
                  </m:oMathPara>
                </a14:m>
                <a:endParaRPr lang="zh-TW" altLang="en-US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CE337AFF-D5F9-0D15-48F9-987879BB97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839" y="2974273"/>
                <a:ext cx="152372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字方塊 1">
            <a:extLst>
              <a:ext uri="{FF2B5EF4-FFF2-40B4-BE49-F238E27FC236}">
                <a16:creationId xmlns:a16="http://schemas.microsoft.com/office/drawing/2014/main" id="{6B426739-46F0-AC06-F0D9-2561FA84FE61}"/>
              </a:ext>
            </a:extLst>
          </p:cNvPr>
          <p:cNvSpPr txBox="1"/>
          <p:nvPr/>
        </p:nvSpPr>
        <p:spPr>
          <a:xfrm>
            <a:off x="281100" y="256309"/>
            <a:ext cx="134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case2</a:t>
            </a:r>
            <a:endParaRPr lang="zh-TW" alt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75C1A20-9427-E18F-2A4C-87004B8C9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3181" y="1791315"/>
            <a:ext cx="5883973" cy="388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. Evolution: Impact of SD550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Second Peak Recovery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: Higher steel grade (</a:t>
            </a:r>
            <a:r>
              <a:rPr kumimoji="0" lang="en-US" altLang="zh-TW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f</a:t>
            </a:r>
            <a:r>
              <a:rPr kumimoji="0" lang="en-US" altLang="zh-TW" sz="1400" b="0" i="0" u="none" strike="noStrike" cap="none" normalizeH="0" baseline="-25000" dirty="0" err="1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y</a:t>
            </a:r>
            <a:r>
              <a:rPr kumimoji="0" lang="en-US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= 550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MPa) enables a stronger strength recovery after spalling.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Hardening Sensitivity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: Unlike XTRACT's idealized curve, OpenSees captures significant strength gains as the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16</a:t>
            </a:r>
            <a:r>
              <a:rPr kumimoji="0" lang="zh-TW" altLang="zh-TW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-D25 bars 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enter the hardening region.</a:t>
            </a:r>
            <a:endParaRPr kumimoji="0" lang="en-US" altLang="zh-TW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zh-TW" altLang="zh-TW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. Software Comparison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XTRACT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: Remains "Aggressive" on peak strength but masks local failure.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OpenSees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: Conservative on initial stiffness but superior in capturing late-stage ductility and hardening.</a:t>
            </a:r>
          </a:p>
        </p:txBody>
      </p:sp>
    </p:spTree>
    <p:extLst>
      <p:ext uri="{BB962C8B-B14F-4D97-AF65-F5344CB8AC3E}">
        <p14:creationId xmlns:p14="http://schemas.microsoft.com/office/powerpoint/2010/main" val="3041286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28C2F-5858-D10F-ADF9-2B3311FB7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9667029E-87F1-CC7A-EDCC-B59076821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301" y="1267742"/>
            <a:ext cx="7837663" cy="4952946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9D9A4421-D777-3963-CAE4-29F5D600E04F}"/>
              </a:ext>
            </a:extLst>
          </p:cNvPr>
          <p:cNvSpPr txBox="1"/>
          <p:nvPr/>
        </p:nvSpPr>
        <p:spPr>
          <a:xfrm>
            <a:off x="281100" y="256309"/>
            <a:ext cx="134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case3</a:t>
            </a:r>
            <a:endParaRPr lang="zh-TW" altLang="en-US" dirty="0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67F40885-4E16-C9D7-5E75-26C6387C9DE4}"/>
              </a:ext>
            </a:extLst>
          </p:cNvPr>
          <p:cNvCxnSpPr>
            <a:cxnSpLocks/>
          </p:cNvCxnSpPr>
          <p:nvPr/>
        </p:nvCxnSpPr>
        <p:spPr>
          <a:xfrm flipV="1">
            <a:off x="1447800" y="1717766"/>
            <a:ext cx="784094" cy="4004161"/>
          </a:xfrm>
          <a:prstGeom prst="line">
            <a:avLst/>
          </a:prstGeom>
          <a:ln>
            <a:solidFill>
              <a:schemeClr val="accent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0772F6BA-B62E-9863-42CC-FDE1903709A6}"/>
              </a:ext>
            </a:extLst>
          </p:cNvPr>
          <p:cNvCxnSpPr>
            <a:cxnSpLocks/>
          </p:cNvCxnSpPr>
          <p:nvPr/>
        </p:nvCxnSpPr>
        <p:spPr>
          <a:xfrm flipV="1">
            <a:off x="1447800" y="1496291"/>
            <a:ext cx="740269" cy="4250004"/>
          </a:xfrm>
          <a:prstGeom prst="line">
            <a:avLst/>
          </a:prstGeom>
          <a:ln>
            <a:solidFill>
              <a:schemeClr val="accent5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C8AACE44-F221-B001-2D25-5D99B4B51615}"/>
                  </a:ext>
                </a:extLst>
              </p:cNvPr>
              <p:cNvSpPr txBox="1"/>
              <p:nvPr/>
            </p:nvSpPr>
            <p:spPr>
              <a:xfrm>
                <a:off x="2188069" y="1471923"/>
                <a:ext cx="8688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𝑋𝑡𝑟𝑎𝑐𝑡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C8AACE44-F221-B001-2D25-5D99B4B516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8069" y="1471923"/>
                <a:ext cx="86882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B789EFAF-7F7F-CED8-65B2-FA432D7AD842}"/>
                  </a:ext>
                </a:extLst>
              </p:cNvPr>
              <p:cNvSpPr txBox="1"/>
              <p:nvPr/>
            </p:nvSpPr>
            <p:spPr>
              <a:xfrm>
                <a:off x="1103456" y="1496291"/>
                <a:ext cx="1084613" cy="39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𝑂𝑝𝑒𝑛𝑆𝑒𝑒𝑠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B789EFAF-7F7F-CED8-65B2-FA432D7AD8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456" y="1496291"/>
                <a:ext cx="1084613" cy="390748"/>
              </a:xfrm>
              <a:prstGeom prst="rect">
                <a:avLst/>
              </a:prstGeom>
              <a:blipFill>
                <a:blip r:embed="rId4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A8AE19A-0D4A-254C-4803-86CA17AE9196}"/>
                  </a:ext>
                </a:extLst>
              </p:cNvPr>
              <p:cNvSpPr txBox="1"/>
              <p:nvPr/>
            </p:nvSpPr>
            <p:spPr>
              <a:xfrm>
                <a:off x="8637795" y="3744215"/>
                <a:ext cx="1699952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=0.002</m:t>
                      </m:r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=70 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𝑀𝑃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A8AE19A-0D4A-254C-4803-86CA17AE9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7795" y="3744215"/>
                <a:ext cx="1699952" cy="9233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E14A51FD-0F96-23AF-FBD1-D5EFB0BC5A33}"/>
                  </a:ext>
                </a:extLst>
              </p:cNvPr>
              <p:cNvSpPr txBox="1"/>
              <p:nvPr/>
            </p:nvSpPr>
            <p:spPr>
              <a:xfrm>
                <a:off x="8637795" y="1988393"/>
                <a:ext cx="3008336" cy="149592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TW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,  </m:t>
                          </m:r>
                          <m:r>
                            <m:rPr>
                              <m:sty m:val="p"/>
                            </m:rPr>
                            <a:rPr lang="en-US" altLang="zh-TW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a:rPr lang="en-US" altLang="zh-TW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𝑝𝑒𝑛𝑆𝑒𝑒𝑠</m:t>
                          </m:r>
                        </m:sub>
                      </m:sSub>
                      <m:r>
                        <a:rPr lang="en-US" altLang="zh-TW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altLang="zh-TW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TW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TW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TW" dirty="0">
                  <a:solidFill>
                    <a:schemeClr val="accent5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TW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𝑋𝑡𝑟𝑎𝑐𝑡</m:t>
                          </m:r>
                        </m:sub>
                      </m:sSub>
                      <m:r>
                        <a:rPr lang="en-US" altLang="zh-TW" b="0" i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=4700</m:t>
                      </m:r>
                      <m:rad>
                        <m:radPr>
                          <m:degHide m:val="on"/>
                          <m:ctrlPr>
                            <a:rPr lang="en-US" altLang="zh-TW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altLang="zh-TW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TW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zh-TW" altLang="en-US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E14A51FD-0F96-23AF-FBD1-D5EFB0BC5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7795" y="1988393"/>
                <a:ext cx="3008336" cy="149592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9795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0A03C-AA55-9E4E-45EF-EEAA27A55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497BFAF6-A873-8E41-D1BE-94337AF354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846" y="1814610"/>
            <a:ext cx="6073582" cy="3837936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B087D8CB-4E92-7FA6-B52E-1554111587BF}"/>
              </a:ext>
            </a:extLst>
          </p:cNvPr>
          <p:cNvSpPr txBox="1"/>
          <p:nvPr/>
        </p:nvSpPr>
        <p:spPr>
          <a:xfrm>
            <a:off x="281100" y="256309"/>
            <a:ext cx="134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case3</a:t>
            </a:r>
            <a:endParaRPr lang="zh-TW" altLang="en-US" dirty="0"/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E1CA2679-3525-E7D4-6608-AD63199957E1}"/>
              </a:ext>
            </a:extLst>
          </p:cNvPr>
          <p:cNvCxnSpPr/>
          <p:nvPr/>
        </p:nvCxnSpPr>
        <p:spPr>
          <a:xfrm>
            <a:off x="2576945" y="2660072"/>
            <a:ext cx="648393" cy="590203"/>
          </a:xfrm>
          <a:prstGeom prst="straightConnector1">
            <a:avLst/>
          </a:prstGeom>
          <a:ln>
            <a:solidFill>
              <a:srgbClr val="00B05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1">
            <a:extLst>
              <a:ext uri="{FF2B5EF4-FFF2-40B4-BE49-F238E27FC236}">
                <a16:creationId xmlns:a16="http://schemas.microsoft.com/office/drawing/2014/main" id="{439B8E01-4892-5866-29F5-0013BDC6C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8428" y="417891"/>
            <a:ext cx="5722472" cy="6146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1. Observation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Sharp &amp; Deep Drop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: OpenSees exhibits a more dramatic load reduction compared to 28MPa cases.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Brittle Failure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: The curve reflects the sudden nature of high-strength concrete failure.</a:t>
            </a:r>
            <a:endParaRPr kumimoji="0" lang="en-US" altLang="zh-TW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TW" altLang="zh-TW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2. Technical Causes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Material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: 70MPa concrete is more brittle than 28MPa</a:t>
            </a:r>
            <a:r>
              <a:rPr kumimoji="0" lang="en-US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kumimoji="0" lang="en-US" altLang="zh-TW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Explicit Spalling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: The OpenSees script terminates cover strength</a:t>
            </a:r>
            <a:r>
              <a:rPr kumimoji="0" lang="en-US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at </a:t>
            </a: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0.004 strain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Massive Load Loss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kumimoji="0" lang="en-US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Because the 70MPa cover layer carries a much higher axial load, its sudden failure leads to a "falling off a cliff" effect.</a:t>
            </a:r>
            <a:endParaRPr kumimoji="0" lang="en-US" altLang="zh-TW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TW" altLang="zh-TW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3. Software Logic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OpenSees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: Captures the physical reality of a brittle </a:t>
            </a:r>
            <a:r>
              <a:rPr kumimoji="0" lang="en-US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spalling 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through explicit fiber failure.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XTRACT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: Uses numerical smoothing, which masks this sharp physical transition.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FE172093-FF67-EF9D-722D-4B0F9CFF5FA0}"/>
                  </a:ext>
                </a:extLst>
              </p:cNvPr>
              <p:cNvSpPr txBox="1"/>
              <p:nvPr/>
            </p:nvSpPr>
            <p:spPr>
              <a:xfrm>
                <a:off x="2576945" y="3198457"/>
                <a:ext cx="797151" cy="5078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b="0" i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m:t>Drop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FE172093-FF67-EF9D-722D-4B0F9CFF5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6945" y="3198457"/>
                <a:ext cx="797151" cy="5078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6191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38E24-2F94-7EFC-072F-80705241B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5FC77A7-F36A-EB41-3A47-C7B194AA55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302" y="1267742"/>
            <a:ext cx="7837661" cy="4952946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CDFB888B-2AB7-A68C-108D-7A540B774F2C}"/>
              </a:ext>
            </a:extLst>
          </p:cNvPr>
          <p:cNvSpPr txBox="1"/>
          <p:nvPr/>
        </p:nvSpPr>
        <p:spPr>
          <a:xfrm>
            <a:off x="281100" y="256309"/>
            <a:ext cx="134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case4</a:t>
            </a:r>
            <a:endParaRPr lang="zh-TW" altLang="en-US" dirty="0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D15347B4-CB4C-C971-2AFC-F10C3D694283}"/>
              </a:ext>
            </a:extLst>
          </p:cNvPr>
          <p:cNvCxnSpPr>
            <a:cxnSpLocks/>
          </p:cNvCxnSpPr>
          <p:nvPr/>
        </p:nvCxnSpPr>
        <p:spPr>
          <a:xfrm flipV="1">
            <a:off x="1447800" y="1841255"/>
            <a:ext cx="846513" cy="3880672"/>
          </a:xfrm>
          <a:prstGeom prst="line">
            <a:avLst/>
          </a:prstGeom>
          <a:ln>
            <a:solidFill>
              <a:schemeClr val="accent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ACBE902D-808D-3EA4-6AFB-86DD94739FFC}"/>
              </a:ext>
            </a:extLst>
          </p:cNvPr>
          <p:cNvCxnSpPr>
            <a:cxnSpLocks/>
          </p:cNvCxnSpPr>
          <p:nvPr/>
        </p:nvCxnSpPr>
        <p:spPr>
          <a:xfrm flipV="1">
            <a:off x="1447800" y="1496291"/>
            <a:ext cx="740269" cy="4250004"/>
          </a:xfrm>
          <a:prstGeom prst="line">
            <a:avLst/>
          </a:prstGeom>
          <a:ln>
            <a:solidFill>
              <a:schemeClr val="accent5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42565125-5549-4DAE-A3C4-E7BEFD52BE98}"/>
                  </a:ext>
                </a:extLst>
              </p:cNvPr>
              <p:cNvSpPr txBox="1"/>
              <p:nvPr/>
            </p:nvSpPr>
            <p:spPr>
              <a:xfrm>
                <a:off x="2188069" y="2203443"/>
                <a:ext cx="8688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𝑋𝑡𝑟𝑎𝑐𝑡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42565125-5549-4DAE-A3C4-E7BEFD52BE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8069" y="2203443"/>
                <a:ext cx="86882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02A9B235-0C6B-9C94-FF81-3BA32F58DF2C}"/>
                  </a:ext>
                </a:extLst>
              </p:cNvPr>
              <p:cNvSpPr txBox="1"/>
              <p:nvPr/>
            </p:nvSpPr>
            <p:spPr>
              <a:xfrm>
                <a:off x="1103456" y="1496291"/>
                <a:ext cx="1084613" cy="39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𝑂𝑝𝑒𝑛𝑆𝑒𝑒𝑠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02A9B235-0C6B-9C94-FF81-3BA32F58DF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456" y="1496291"/>
                <a:ext cx="1084613" cy="390748"/>
              </a:xfrm>
              <a:prstGeom prst="rect">
                <a:avLst/>
              </a:prstGeom>
              <a:blipFill>
                <a:blip r:embed="rId4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B649C9D0-BD45-8926-A3E7-B77CABC82CDF}"/>
                  </a:ext>
                </a:extLst>
              </p:cNvPr>
              <p:cNvSpPr txBox="1"/>
              <p:nvPr/>
            </p:nvSpPr>
            <p:spPr>
              <a:xfrm>
                <a:off x="8637795" y="1988393"/>
                <a:ext cx="3008336" cy="149592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TW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,  </m:t>
                          </m:r>
                          <m:r>
                            <m:rPr>
                              <m:sty m:val="p"/>
                            </m:rPr>
                            <a:rPr lang="en-US" altLang="zh-TW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a:rPr lang="en-US" altLang="zh-TW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𝑝𝑒𝑛𝑆𝑒𝑒𝑠</m:t>
                          </m:r>
                        </m:sub>
                      </m:sSub>
                      <m:r>
                        <a:rPr lang="en-US" altLang="zh-TW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altLang="zh-TW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TW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TW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TW" dirty="0">
                  <a:solidFill>
                    <a:schemeClr val="accent5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TW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𝑋𝑡𝑟𝑎𝑐𝑡</m:t>
                          </m:r>
                        </m:sub>
                      </m:sSub>
                      <m:r>
                        <a:rPr lang="en-US" altLang="zh-TW" b="0" i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=4700</m:t>
                      </m:r>
                      <m:rad>
                        <m:radPr>
                          <m:degHide m:val="on"/>
                          <m:ctrlPr>
                            <a:rPr lang="en-US" altLang="zh-TW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altLang="zh-TW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TW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zh-TW" altLang="en-US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B649C9D0-BD45-8926-A3E7-B77CABC82C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7795" y="1988393"/>
                <a:ext cx="3008336" cy="149592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2D95259-1A8B-64D6-2E34-7F8EDB63A3E6}"/>
                  </a:ext>
                </a:extLst>
              </p:cNvPr>
              <p:cNvSpPr txBox="1"/>
              <p:nvPr/>
            </p:nvSpPr>
            <p:spPr>
              <a:xfrm>
                <a:off x="8637795" y="3744215"/>
                <a:ext cx="1699952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=0.002</m:t>
                      </m:r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=70 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𝑀𝑃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2D95259-1A8B-64D6-2E34-7F8EDB63A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7795" y="3744215"/>
                <a:ext cx="1699952" cy="923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5829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2F836-E065-4D9A-CB18-3370119ED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7B5F6F84-B980-4BB0-14B1-190094A4B2AB}"/>
              </a:ext>
            </a:extLst>
          </p:cNvPr>
          <p:cNvSpPr txBox="1"/>
          <p:nvPr/>
        </p:nvSpPr>
        <p:spPr>
          <a:xfrm>
            <a:off x="281100" y="256309"/>
            <a:ext cx="22204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Summary</a:t>
            </a: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170B89D-D86C-6270-C155-ABCDFE5E8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91" y="2824412"/>
            <a:ext cx="5932810" cy="375146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C08D62C4-392D-3F8A-9F8F-706E8C954CD8}"/>
                  </a:ext>
                </a:extLst>
              </p:cNvPr>
              <p:cNvSpPr txBox="1"/>
              <p:nvPr/>
            </p:nvSpPr>
            <p:spPr>
              <a:xfrm>
                <a:off x="1157819" y="779529"/>
                <a:ext cx="4549159" cy="18485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TW" b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Case 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=28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𝑀𝑃𝑎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 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=420</m:t>
                    </m:r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𝑀𝑃𝑎</m:t>
                    </m:r>
                  </m:oMath>
                </a14:m>
                <a:endParaRPr lang="en-US" altLang="zh-TW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TW" dirty="0">
                    <a:ea typeface="Cambria Math" panose="02040503050406030204" pitchFamily="18" charset="0"/>
                  </a:rPr>
                  <a:t>Case 2: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28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𝑀𝑃𝑎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550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𝑀𝑃𝑎</m:t>
                    </m:r>
                  </m:oMath>
                </a14:m>
                <a:endParaRPr lang="en-US" altLang="zh-TW" dirty="0"/>
              </a:p>
              <a:p>
                <a:pPr>
                  <a:lnSpc>
                    <a:spcPct val="150000"/>
                  </a:lnSpc>
                </a:pPr>
                <a:r>
                  <a:rPr lang="en-US" altLang="zh-TW" dirty="0">
                    <a:ea typeface="Cambria Math" panose="02040503050406030204" pitchFamily="18" charset="0"/>
                  </a:rPr>
                  <a:t>Case 3: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70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𝑀𝑃𝑎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42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𝑀𝑃𝑎</m:t>
                    </m:r>
                  </m:oMath>
                </a14:m>
                <a:endParaRPr lang="en-US" altLang="zh-TW" dirty="0"/>
              </a:p>
              <a:p>
                <a:pPr>
                  <a:lnSpc>
                    <a:spcPct val="150000"/>
                  </a:lnSpc>
                </a:pPr>
                <a:r>
                  <a:rPr lang="en-US" altLang="zh-TW" dirty="0">
                    <a:ea typeface="Cambria Math" panose="02040503050406030204" pitchFamily="18" charset="0"/>
                  </a:rPr>
                  <a:t>Case 4: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70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𝑀𝑃𝑎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55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𝑀𝑃𝑎</m:t>
                    </m:r>
                  </m:oMath>
                </a14:m>
                <a:endParaRPr lang="en-US" altLang="zh-TW" dirty="0"/>
              </a:p>
            </p:txBody>
          </p:sp>
        </mc:Choice>
        <mc:Fallback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C08D62C4-392D-3F8A-9F8F-706E8C954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819" y="779529"/>
                <a:ext cx="4549159" cy="1848583"/>
              </a:xfrm>
              <a:prstGeom prst="rect">
                <a:avLst/>
              </a:prstGeom>
              <a:blipFill>
                <a:blip r:embed="rId3"/>
                <a:stretch>
                  <a:fillRect l="-1206" b="-36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HW1-Model.pdf" descr="HW1-Model.pdf">
            <a:extLst>
              <a:ext uri="{FF2B5EF4-FFF2-40B4-BE49-F238E27FC236}">
                <a16:creationId xmlns:a16="http://schemas.microsoft.com/office/drawing/2014/main" id="{C53B97DB-5598-25DE-7AC2-6980C3298F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710" t="25607" r="32710" b="25607"/>
          <a:stretch>
            <a:fillRect/>
          </a:stretch>
        </p:blipFill>
        <p:spPr>
          <a:xfrm>
            <a:off x="7920222" y="1227487"/>
            <a:ext cx="2659352" cy="2651258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S__110797071.jpg" descr="S__110797071.jpg">
            <a:extLst>
              <a:ext uri="{FF2B5EF4-FFF2-40B4-BE49-F238E27FC236}">
                <a16:creationId xmlns:a16="http://schemas.microsoft.com/office/drawing/2014/main" id="{F5F54DE0-12D5-B643-A3BA-D420FA3A48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9898" y="4666223"/>
            <a:ext cx="2865977" cy="1052696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973D56A0-6941-2ABF-CFA3-65E388B42A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8286" y="4304884"/>
            <a:ext cx="1775374" cy="1775374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B6D921C3-4094-D5AF-A98E-A19B824D9CB0}"/>
              </a:ext>
            </a:extLst>
          </p:cNvPr>
          <p:cNvSpPr txBox="1"/>
          <p:nvPr/>
        </p:nvSpPr>
        <p:spPr>
          <a:xfrm>
            <a:off x="8583988" y="4930961"/>
            <a:ext cx="8179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Vs.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50475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577</Words>
  <Application>Microsoft Office PowerPoint</Application>
  <PresentationFormat>寬螢幕</PresentationFormat>
  <Paragraphs>93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微軟正黑體</vt:lpstr>
      <vt:lpstr>Aptos</vt:lpstr>
      <vt:lpstr>Aptos Display</vt:lpstr>
      <vt:lpstr>Arial</vt:lpstr>
      <vt:lpstr>Cambria Math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林平旭</dc:creator>
  <cp:lastModifiedBy>林平旭</cp:lastModifiedBy>
  <cp:revision>27</cp:revision>
  <dcterms:created xsi:type="dcterms:W3CDTF">2026-03-29T05:12:22Z</dcterms:created>
  <dcterms:modified xsi:type="dcterms:W3CDTF">2026-03-29T11:40:15Z</dcterms:modified>
</cp:coreProperties>
</file>