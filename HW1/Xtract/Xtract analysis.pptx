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6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F63E-07F2-C684-D11E-C073F09C2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46EEC-7BFA-65A3-5D8B-2A9F08B67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4C04F-EDCA-3E0C-F677-53897C72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74B83-7B40-D68E-E4FF-820DD510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894D6-757D-E722-5ED5-EC869C1C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346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FBF3-C861-EC17-A9B8-381A6FA3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F3209-A465-2782-7433-FD6036055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92BB4-7EC0-BCD3-C8B2-5433028B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4CC69-8864-397D-62E9-02B9EB85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13FF4-5FCD-5B9C-1D6D-F221433D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775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F86-E45D-9B7B-E2DD-F63A0E45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1EDB-5CF0-F2F8-3EAB-E57D217AA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B11D7-4A4F-0748-06F4-B885013B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7493-BA6A-0F43-FB51-C6A17241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0AB4-831A-6CFC-82E1-A72B97E9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50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2BC7C-B70F-1A45-0844-8C86FB01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BA15-3D7C-2E1E-C0F6-DDFF4C210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E9EDC-711D-852C-BA77-27F710155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6CD03-8044-B018-EEA8-EF23919A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3E336-446E-6979-0FC3-BD5032BE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57356-7E14-096D-1A25-35D09D32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988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215A-ECF3-91FC-B0FD-3B7BCA5C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B0505-2E6E-D6EA-42EB-9B0E8C218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5477C-D26E-AC5A-99F8-8E711EADC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45B08-DF32-F15D-1EAF-BF4AC86AD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3F701-3F3E-A071-121F-2AB1C787C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66B67-2AB0-1A09-ECA2-DA6D935C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E7FF8-C9C4-146B-1AC1-D9F3801F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F3B5E2-8E6F-5952-CFFE-B8461B88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444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DCA5-B718-7EC2-E0FC-58B3A0B8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AC600D-0F8A-FEA9-69A5-2874B97C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84486-0F41-F873-249A-7B97F71B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C1618-5FF3-3A86-8A4A-54E56423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57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72F97-1ACB-FE4B-C40F-1AD42140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2D2D0-638C-A5EB-0E4A-665E70AB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87950-0BA3-0E65-EDE6-8697949A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666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CEC0-0083-6485-EB15-F0CFD568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DF46-2110-F130-B8F1-1396BC38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65017-A9A5-9ADA-30BF-34BFAD69E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8BBFE-E056-D52C-970D-A3FA9A99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819F7-4506-AE95-A8D8-EC9655E7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30781-41E8-C66F-A964-7B131B67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641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0767-EB8F-3E05-D724-E3402D3A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9A3373-5FE4-5549-8F00-CF662962E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3DD21-621F-55A8-38B9-ACBD18E79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65B-CDB4-109B-54A5-7F6FC89E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15CB6-DE0E-C2C5-B4AF-8CF7CAFE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E5A9C-70C1-B355-9E93-856DA6D2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311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5F9D-070B-77C6-1442-B1B498BE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DE605-D843-7B6C-550C-95D95B2E4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36AC-BDF0-E059-C115-F5909B04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3D600-A55D-BFAC-A068-04CDBD8B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9D5E0-6BE3-BB75-45BF-B98848A4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018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1EDC1-76BE-89CB-482F-C6131917F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EA99F-2E00-E410-D741-710A8F420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1A6A-7145-B5E8-7623-7D6E0DDD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ACC0-A223-1CC7-A189-FE6B9B60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985E-C0ED-6A4E-F4C3-945B9B12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361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B7FB4-DA46-B7BC-1DD5-6E2DF22F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D3E3B-0DCD-60AB-B041-A8B1199CB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7CBEB-E905-278F-17A8-0D66EC055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2058C-6DCB-4594-86E9-DE4DC969017E}" type="datetimeFigureOut">
              <a:rPr lang="en-ID" smtClean="0"/>
              <a:t>29/03/2026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DCEC-A57A-7FDC-AB6C-96D37768B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4C519-959F-A0AF-00D0-337E7CBBE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0D60-DE44-41D3-AD1E-291FB51D94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13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0A71-64ED-B99F-E146-5F861EF35C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Xtract analysis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6298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02B56-4B5D-9CB9-5C67-1E07C454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XTRACT ANALYSIS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211713-19CE-7E87-4304-E39B91C3F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1976" y="1714081"/>
            <a:ext cx="2654687" cy="4327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E4B1C0-5302-377C-5053-B96000C2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63" y="2345850"/>
            <a:ext cx="2912738" cy="2915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97FF35-36A4-CE69-C10C-4F408744E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388" y="1682524"/>
            <a:ext cx="2669037" cy="43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8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F07A-0739-ECC4-A372-F0EF9D7F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Garamond Pro" panose="02020502060506020403" pitchFamily="18" charset="0"/>
              </a:rPr>
              <a:t>Unconfined 28 MPa</a:t>
            </a:r>
            <a:endParaRPr lang="en-ID" dirty="0">
              <a:latin typeface="Adobe Garamond Pro" panose="02020502060506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A3E12-A87E-2A9F-B0C6-DB5F3DD02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724" y="5382073"/>
            <a:ext cx="3886029" cy="117384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dobe Garamond Pro" panose="02020502060506020403" pitchFamily="18" charset="0"/>
              </a:rPr>
              <a:t>Peak load at 10000kN</a:t>
            </a:r>
          </a:p>
          <a:p>
            <a:r>
              <a:rPr lang="en-US" sz="2000" dirty="0">
                <a:latin typeface="Adobe Garamond Pro" panose="02020502060506020403" pitchFamily="18" charset="0"/>
              </a:rPr>
              <a:t>After peak &gt; sudden drop </a:t>
            </a:r>
          </a:p>
          <a:p>
            <a:r>
              <a:rPr lang="en-US" sz="2000" dirty="0">
                <a:latin typeface="Adobe Garamond Pro" panose="02020502060506020403" pitchFamily="18" charset="0"/>
              </a:rPr>
              <a:t>Very low ductility</a:t>
            </a:r>
          </a:p>
          <a:p>
            <a:pPr marL="0" indent="0">
              <a:buNone/>
            </a:pPr>
            <a:endParaRPr lang="en-ID" dirty="0">
              <a:latin typeface="Adobe Garamond Pro" panose="020205020605060204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88F295-1821-145C-7F3A-CBD1EB461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063" y="1577757"/>
            <a:ext cx="5855352" cy="3702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BE9BF1-4556-3DDD-25AC-AB60DD3FB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24" y="1394268"/>
            <a:ext cx="2383590" cy="388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7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60E30A-B55D-AC4E-A266-BF28B89C7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6" y="1113808"/>
            <a:ext cx="6806279" cy="423564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6ECB7-760B-6D12-C4B6-605E2505C6E7}"/>
              </a:ext>
            </a:extLst>
          </p:cNvPr>
          <p:cNvCxnSpPr>
            <a:cxnSpLocks/>
          </p:cNvCxnSpPr>
          <p:nvPr/>
        </p:nvCxnSpPr>
        <p:spPr>
          <a:xfrm>
            <a:off x="2531015" y="1338943"/>
            <a:ext cx="0" cy="3584121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33473F-1997-B225-8181-3727DFC9F930}"/>
              </a:ext>
            </a:extLst>
          </p:cNvPr>
          <p:cNvCxnSpPr>
            <a:cxnSpLocks/>
          </p:cNvCxnSpPr>
          <p:nvPr/>
        </p:nvCxnSpPr>
        <p:spPr>
          <a:xfrm>
            <a:off x="2912219" y="1338943"/>
            <a:ext cx="0" cy="3584121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9D2D87-FB5B-5DAC-3644-8CC777278B47}"/>
              </a:ext>
            </a:extLst>
          </p:cNvPr>
          <p:cNvCxnSpPr>
            <a:cxnSpLocks/>
          </p:cNvCxnSpPr>
          <p:nvPr/>
        </p:nvCxnSpPr>
        <p:spPr>
          <a:xfrm>
            <a:off x="3767661" y="2341263"/>
            <a:ext cx="0" cy="262890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05D4E8-95DC-9DC8-B7CB-D9FC8304E244}"/>
              </a:ext>
            </a:extLst>
          </p:cNvPr>
          <p:cNvCxnSpPr>
            <a:cxnSpLocks/>
          </p:cNvCxnSpPr>
          <p:nvPr/>
        </p:nvCxnSpPr>
        <p:spPr>
          <a:xfrm>
            <a:off x="6322708" y="2166659"/>
            <a:ext cx="0" cy="2756405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A03F88-57A1-5BA8-09D3-DC36D9B1695A}"/>
              </a:ext>
            </a:extLst>
          </p:cNvPr>
          <p:cNvCxnSpPr>
            <a:cxnSpLocks/>
          </p:cNvCxnSpPr>
          <p:nvPr/>
        </p:nvCxnSpPr>
        <p:spPr>
          <a:xfrm>
            <a:off x="4302033" y="1338943"/>
            <a:ext cx="0" cy="3584121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92BFCB-0F79-23CD-20EF-783A7FCF0B1C}"/>
              </a:ext>
            </a:extLst>
          </p:cNvPr>
          <p:cNvSpPr txBox="1"/>
          <p:nvPr/>
        </p:nvSpPr>
        <p:spPr>
          <a:xfrm>
            <a:off x="1305940" y="2074195"/>
            <a:ext cx="81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Stage1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24250-9B50-A5B5-F4DF-D0506BEDC630}"/>
              </a:ext>
            </a:extLst>
          </p:cNvPr>
          <p:cNvSpPr txBox="1"/>
          <p:nvPr/>
        </p:nvSpPr>
        <p:spPr>
          <a:xfrm rot="16200000">
            <a:off x="2266891" y="3380142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9AA5F-0C61-5560-F9B8-378AE1140107}"/>
              </a:ext>
            </a:extLst>
          </p:cNvPr>
          <p:cNvSpPr txBox="1"/>
          <p:nvPr/>
        </p:nvSpPr>
        <p:spPr>
          <a:xfrm rot="16200000">
            <a:off x="3638216" y="3360195"/>
            <a:ext cx="86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 2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BD016F-2F95-008A-24FA-3D6C97A69D70}"/>
              </a:ext>
            </a:extLst>
          </p:cNvPr>
          <p:cNvSpPr txBox="1"/>
          <p:nvPr/>
        </p:nvSpPr>
        <p:spPr>
          <a:xfrm>
            <a:off x="4542239" y="3231631"/>
            <a:ext cx="81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Stage3</a:t>
            </a:r>
            <a:endParaRPr lang="en-ID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AD6869-5889-D333-9E0C-E90E3891379F}"/>
              </a:ext>
            </a:extLst>
          </p:cNvPr>
          <p:cNvSpPr txBox="1"/>
          <p:nvPr/>
        </p:nvSpPr>
        <p:spPr>
          <a:xfrm>
            <a:off x="6377137" y="1807764"/>
            <a:ext cx="81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Stage3</a:t>
            </a:r>
            <a:endParaRPr lang="en-ID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9A5881A-D618-E57B-D083-D7C405E0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900" y="2074195"/>
            <a:ext cx="2447362" cy="2443665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5646C33-A8B1-ECE0-2905-5B65A0184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28" y="5367491"/>
            <a:ext cx="10047859" cy="104542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dobe Garamond Pro" panose="02020502060506020403" pitchFamily="18" charset="0"/>
              </a:rPr>
              <a:t>Stage 1 Initial Elastic Response</a:t>
            </a:r>
          </a:p>
          <a:p>
            <a:r>
              <a:rPr lang="en-US" dirty="0">
                <a:latin typeface="Adobe Garamond Pro" panose="02020502060506020403" pitchFamily="18" charset="0"/>
              </a:rPr>
              <a:t>Stage 2 Peak Load (ultimate strength)</a:t>
            </a:r>
          </a:p>
          <a:p>
            <a:r>
              <a:rPr lang="en-US" dirty="0">
                <a:latin typeface="Adobe Garamond Pro" panose="02020502060506020403" pitchFamily="18" charset="0"/>
              </a:rPr>
              <a:t>Stage 3 Post Peak Behavior (softening / ductility)</a:t>
            </a:r>
          </a:p>
          <a:p>
            <a:pPr marL="0" indent="0">
              <a:buNone/>
            </a:pPr>
            <a:endParaRPr lang="en-US" dirty="0">
              <a:latin typeface="Adobe Garamond Pro" panose="02020502060506020403" pitchFamily="18" charset="0"/>
            </a:endParaRPr>
          </a:p>
          <a:p>
            <a:endParaRPr lang="en-US" dirty="0">
              <a:latin typeface="Adobe Garamond Pro" panose="02020502060506020403" pitchFamily="18" charset="0"/>
            </a:endParaRPr>
          </a:p>
          <a:p>
            <a:endParaRPr lang="en-ID" dirty="0">
              <a:latin typeface="Adobe Garamond Pro" panose="02020502060506020403" pitchFamily="18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BE89C173-A510-75EB-CEAD-8D1A962C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21" y="124087"/>
            <a:ext cx="10515600" cy="1325563"/>
          </a:xfrm>
        </p:spPr>
        <p:txBody>
          <a:bodyPr/>
          <a:lstStyle/>
          <a:p>
            <a:r>
              <a:rPr lang="en-US" dirty="0">
                <a:latin typeface="Adobe Garamond Pro" panose="02020502060506020403" pitchFamily="18" charset="0"/>
              </a:rPr>
              <a:t>Confined Concrete Analysis</a:t>
            </a:r>
            <a:endParaRPr lang="en-ID" dirty="0">
              <a:latin typeface="Adobe Garamond Pro" panose="020205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99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AE17-0B7C-DEF6-37C0-3AFF0600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Garamond Pro" panose="02020502060506020403" pitchFamily="18" charset="0"/>
              </a:rPr>
              <a:t>Confined Concrete Analysis</a:t>
            </a:r>
            <a:endParaRPr lang="en-ID" dirty="0">
              <a:latin typeface="Adobe Garamond Pro" panose="02020502060506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7E41B-375D-AC42-DE78-9538DD7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54" y="1521797"/>
            <a:ext cx="8421859" cy="5325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AB1B57-8DD8-5EFA-4BC4-C58B25A152DB}"/>
              </a:ext>
            </a:extLst>
          </p:cNvPr>
          <p:cNvSpPr txBox="1"/>
          <p:nvPr/>
        </p:nvSpPr>
        <p:spPr>
          <a:xfrm>
            <a:off x="2370933" y="2824482"/>
            <a:ext cx="3066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dobe Garamond Pro" panose="02020502060506020403" pitchFamily="18" charset="0"/>
              </a:rPr>
              <a:t>Much higher strength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dobe Garamond Pro" panose="02020502060506020403" pitchFamily="18" charset="0"/>
              </a:rPr>
              <a:t>Slightly steeper drop after peak </a:t>
            </a:r>
          </a:p>
          <a:p>
            <a:endParaRPr lang="en-ID" sz="1600" dirty="0">
              <a:latin typeface="Adobe Garamond Pro" panose="020205020605060204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9D47C-28D5-0446-6F6A-72F7CBBB5DCD}"/>
              </a:ext>
            </a:extLst>
          </p:cNvPr>
          <p:cNvSpPr txBox="1"/>
          <p:nvPr/>
        </p:nvSpPr>
        <p:spPr>
          <a:xfrm>
            <a:off x="2594979" y="4054447"/>
            <a:ext cx="23839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dobe Garamond Pro" panose="02020502060506020403" pitchFamily="18" charset="0"/>
              </a:rPr>
              <a:t>Lower strength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dobe Garamond Pro" panose="02020502060506020403" pitchFamily="18" charset="0"/>
              </a:rPr>
              <a:t>More gradual behavior </a:t>
            </a:r>
          </a:p>
          <a:p>
            <a:endParaRPr lang="en-ID" sz="1600" dirty="0">
              <a:latin typeface="Adobe Garamond Pro" panose="020205020605060204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AF5B4-872E-408C-AB16-708BC0B437B3}"/>
              </a:ext>
            </a:extLst>
          </p:cNvPr>
          <p:cNvSpPr txBox="1"/>
          <p:nvPr/>
        </p:nvSpPr>
        <p:spPr>
          <a:xfrm>
            <a:off x="2125504" y="5426562"/>
            <a:ext cx="1415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dobe Garamond Pro" panose="02020502060506020403" pitchFamily="18" charset="0"/>
              </a:rPr>
              <a:t>Sudden failure</a:t>
            </a:r>
          </a:p>
          <a:p>
            <a:endParaRPr lang="en-ID" sz="1600" dirty="0">
              <a:latin typeface="Adobe Garamond Pro" panose="02020502060506020403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CED419-0DAA-A6B2-C33B-0D0F9D3ADDCC}"/>
              </a:ext>
            </a:extLst>
          </p:cNvPr>
          <p:cNvCxnSpPr>
            <a:cxnSpLocks/>
          </p:cNvCxnSpPr>
          <p:nvPr/>
        </p:nvCxnSpPr>
        <p:spPr>
          <a:xfrm>
            <a:off x="5144500" y="2579914"/>
            <a:ext cx="0" cy="35269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2C38C9-BF40-24E0-573C-B5D5D2D2825B}"/>
              </a:ext>
            </a:extLst>
          </p:cNvPr>
          <p:cNvCxnSpPr>
            <a:cxnSpLocks/>
          </p:cNvCxnSpPr>
          <p:nvPr/>
        </p:nvCxnSpPr>
        <p:spPr>
          <a:xfrm>
            <a:off x="4747979" y="3584121"/>
            <a:ext cx="0" cy="25227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A8D3803-C8E7-DC2A-7152-AEF6BE052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563" y="2004721"/>
            <a:ext cx="2669037" cy="43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75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70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Adobe Garamond Pro</vt:lpstr>
      <vt:lpstr>Arial</vt:lpstr>
      <vt:lpstr>Calibri</vt:lpstr>
      <vt:lpstr>Calibri Light</vt:lpstr>
      <vt:lpstr>Office Theme</vt:lpstr>
      <vt:lpstr>Xtract analysis</vt:lpstr>
      <vt:lpstr>XTRACT ANALYSIS</vt:lpstr>
      <vt:lpstr>Unconfined 28 MPa</vt:lpstr>
      <vt:lpstr>Confined Concrete Analysis</vt:lpstr>
      <vt:lpstr>Confined Concrete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Rhaditya Viansyah</dc:creator>
  <cp:lastModifiedBy>Rhaditya Viansyah</cp:lastModifiedBy>
  <cp:revision>2</cp:revision>
  <dcterms:created xsi:type="dcterms:W3CDTF">2026-03-29T07:24:55Z</dcterms:created>
  <dcterms:modified xsi:type="dcterms:W3CDTF">2026-03-29T11:25:55Z</dcterms:modified>
</cp:coreProperties>
</file>