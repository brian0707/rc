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80318"/>
  </p:normalViewPr>
  <p:slideViewPr>
    <p:cSldViewPr snapToGrid="0" snapToObjects="1">
      <p:cViewPr varScale="1">
        <p:scale>
          <a:sx n="55" d="100"/>
          <a:sy n="55" d="100"/>
        </p:scale>
        <p:origin x="1346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4" name="Shape 18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Report about the software we are going to use, and the reason why  we choose ETABS and OpenSees.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1" name="Shape 19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We choose this section because …</a:t>
            </a:r>
            <a:br>
              <a:rPr dirty="0"/>
            </a:br>
            <a:r>
              <a:rPr dirty="0"/>
              <a:t>1. 30*30 minimum size  requirement of ACI-318</a:t>
            </a:r>
          </a:p>
          <a:p>
            <a:r>
              <a:rPr dirty="0"/>
              <a:t>2. Slenderness effect need to be neglect.</a:t>
            </a:r>
          </a:p>
          <a:p>
            <a:r>
              <a:rPr dirty="0"/>
              <a:t>3. Height should be enough for a floor (3.2~3.5 m/floor)</a:t>
            </a:r>
          </a:p>
          <a:p>
            <a:r>
              <a:rPr dirty="0"/>
              <a:t>4. Ties is according to the regulation of ACI-318.</a:t>
            </a:r>
          </a:p>
          <a:p>
            <a:r>
              <a:rPr dirty="0"/>
              <a:t>5. Clear cover is also according to the ACI-318 regulation.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8" name="Shape 19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First concrete properties is the most common used concrete as our base line.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大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作者和日期</a:t>
            </a:r>
          </a:p>
        </p:txBody>
      </p:sp>
      <p:sp>
        <p:nvSpPr>
          <p:cNvPr id="12" name="簡報標題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簡報標題</a:t>
            </a:r>
          </a:p>
        </p:txBody>
      </p:sp>
      <p:sp>
        <p:nvSpPr>
          <p:cNvPr id="13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簡報副標題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酪梨與萊姆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簡報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簡報標題</a:t>
            </a:r>
          </a:p>
        </p:txBody>
      </p:sp>
      <p:sp>
        <p:nvSpPr>
          <p:cNvPr id="23" name="作者和日期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作者和日期</a:t>
            </a:r>
          </a:p>
        </p:txBody>
      </p:sp>
      <p:sp>
        <p:nvSpPr>
          <p:cNvPr id="24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簡報副標題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替用照片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鮭魚餅、沙拉和鷹嘴豆泥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幻燈片標題</a:t>
            </a:r>
          </a:p>
        </p:txBody>
      </p:sp>
      <p:sp>
        <p:nvSpPr>
          <p:cNvPr id="34" name="內文層級一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幻燈片副標題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燈片標題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幻燈片標題</a:t>
            </a:r>
          </a:p>
        </p:txBody>
      </p:sp>
      <p:sp>
        <p:nvSpPr>
          <p:cNvPr id="43" name="幻燈片副標題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幻燈片副標題</a:t>
            </a:r>
          </a:p>
        </p:txBody>
      </p:sp>
      <p:sp>
        <p:nvSpPr>
          <p:cNvPr id="44" name="內文層級一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內文層級一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、項目符號與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燈片副標題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幻燈片副標題</a:t>
            </a:r>
          </a:p>
        </p:txBody>
      </p:sp>
      <p:sp>
        <p:nvSpPr>
          <p:cNvPr id="61" name="內文層級一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一碗搭配洋香菜奶油、烤榛子和刨絲帕瑪森起司的特寬麵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幻燈片標題</a:t>
            </a:r>
          </a:p>
        </p:txBody>
      </p:sp>
      <p:sp>
        <p:nvSpPr>
          <p:cNvPr id="6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、項目符號與小型即時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燈片副標題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幻燈片副標題</a:t>
            </a:r>
          </a:p>
        </p:txBody>
      </p:sp>
      <p:sp>
        <p:nvSpPr>
          <p:cNvPr id="72" name="內文層級一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幻燈片標題</a:t>
            </a:r>
          </a:p>
        </p:txBody>
      </p:sp>
      <p:sp>
        <p:nvSpPr>
          <p:cNvPr id="7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、項目符號與大型即時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燈片副標題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幻燈片副標題</a:t>
            </a:r>
          </a:p>
        </p:txBody>
      </p:sp>
      <p:sp>
        <p:nvSpPr>
          <p:cNvPr id="82" name="內文層級一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幻燈片標題</a:t>
            </a:r>
          </a:p>
        </p:txBody>
      </p:sp>
      <p:sp>
        <p:nvSpPr>
          <p:cNvPr id="8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章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節標題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章節標題</a:t>
            </a:r>
          </a:p>
        </p:txBody>
      </p:sp>
      <p:sp>
        <p:nvSpPr>
          <p:cNvPr id="92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大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幻燈片標題</a:t>
            </a:r>
          </a:p>
        </p:txBody>
      </p:sp>
      <p:sp>
        <p:nvSpPr>
          <p:cNvPr id="100" name="幻燈片副標題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幻燈片副標題</a:t>
            </a:r>
          </a:p>
        </p:txBody>
      </p:sp>
      <p:sp>
        <p:nvSpPr>
          <p:cNvPr id="10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議程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議程標題</a:t>
            </a:r>
          </a:p>
        </p:txBody>
      </p:sp>
      <p:sp>
        <p:nvSpPr>
          <p:cNvPr id="109" name="議程副標題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議程副標題</a:t>
            </a:r>
          </a:p>
        </p:txBody>
      </p:sp>
      <p:sp>
        <p:nvSpPr>
          <p:cNvPr id="110" name="內文層級一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議程主題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聲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內文層級一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聲明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重要事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詳細資訊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詳細資訊</a:t>
            </a:r>
          </a:p>
        </p:txBody>
      </p:sp>
      <p:sp>
        <p:nvSpPr>
          <p:cNvPr id="128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名言語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處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出處</a:t>
            </a:r>
          </a:p>
        </p:txBody>
      </p:sp>
      <p:sp>
        <p:nvSpPr>
          <p:cNvPr id="136" name="內文層級一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「著名的引言」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一頁三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搭配炒飯、水煮蛋和筷子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一碗鮭魚餅、沙拉和鷹嘴豆泥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一碗搭配洋香菜奶油、烤榛子和刨絲帕瑪森起司的特寬麵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搭配炒飯、水煮蛋和筷子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幻燈片標題</a:t>
            </a:r>
          </a:p>
        </p:txBody>
      </p:sp>
      <p:sp>
        <p:nvSpPr>
          <p:cNvPr id="3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20206.03.16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>
            <a:lvl1pPr defTabSz="825500">
              <a:defRPr sz="3600"/>
            </a:lvl1pPr>
          </a:lstStyle>
          <a:p>
            <a:r>
              <a:rPr dirty="0"/>
              <a:t>2026.03.16</a:t>
            </a:r>
          </a:p>
        </p:txBody>
      </p:sp>
      <p:sp>
        <p:nvSpPr>
          <p:cNvPr id="172" name="HW1"/>
          <p:cNvSpPr txBox="1">
            <a:spLocks noGrp="1"/>
          </p:cNvSpPr>
          <p:nvPr>
            <p:ph type="ctrTitle"/>
          </p:nvPr>
        </p:nvSpPr>
        <p:spPr>
          <a:xfrm>
            <a:off x="1206498" y="947884"/>
            <a:ext cx="21971004" cy="4648201"/>
          </a:xfrm>
          <a:prstGeom prst="rect">
            <a:avLst/>
          </a:prstGeom>
        </p:spPr>
        <p:txBody>
          <a:bodyPr/>
          <a:lstStyle/>
          <a:p>
            <a:r>
              <a:rPr dirty="0"/>
              <a:t>HW1</a:t>
            </a:r>
          </a:p>
        </p:txBody>
      </p:sp>
      <p:sp>
        <p:nvSpPr>
          <p:cNvPr id="173" name="Yu Hung Lin…"/>
          <p:cNvSpPr txBox="1">
            <a:spLocks noGrp="1"/>
          </p:cNvSpPr>
          <p:nvPr>
            <p:ph type="subTitle" sz="half" idx="1"/>
          </p:nvPr>
        </p:nvSpPr>
        <p:spPr>
          <a:xfrm>
            <a:off x="1206499" y="6274045"/>
            <a:ext cx="21971001" cy="4059028"/>
          </a:xfrm>
          <a:prstGeom prst="rect">
            <a:avLst/>
          </a:prstGeom>
        </p:spPr>
        <p:txBody>
          <a:bodyPr/>
          <a:lstStyle/>
          <a:p>
            <a:r>
              <a:rPr dirty="0"/>
              <a:t>Yu</a:t>
            </a:r>
            <a:r>
              <a:rPr lang="en-US" dirty="0"/>
              <a:t>-</a:t>
            </a:r>
            <a:r>
              <a:rPr dirty="0"/>
              <a:t>Hung Lin</a:t>
            </a:r>
            <a:r>
              <a:rPr lang="en-US" dirty="0"/>
              <a:t> Master std.</a:t>
            </a:r>
            <a:endParaRPr dirty="0"/>
          </a:p>
          <a:p>
            <a:r>
              <a:rPr dirty="0"/>
              <a:t>Ping-Xu Lin</a:t>
            </a:r>
            <a:r>
              <a:rPr lang="en-US" altLang="zh-TW" dirty="0"/>
              <a:t> Master std.</a:t>
            </a:r>
            <a:endParaRPr lang="en-US" dirty="0"/>
          </a:p>
          <a:p>
            <a:r>
              <a:rPr lang="en-US" dirty="0" err="1"/>
              <a:t>Rhaditya</a:t>
            </a:r>
            <a:r>
              <a:rPr lang="en-US" dirty="0"/>
              <a:t> </a:t>
            </a:r>
            <a:r>
              <a:rPr lang="en-US" dirty="0" err="1"/>
              <a:t>Viansyah</a:t>
            </a:r>
            <a:r>
              <a:rPr lang="en-US" dirty="0"/>
              <a:t> A.</a:t>
            </a:r>
            <a:r>
              <a:rPr lang="en-US" altLang="zh-TW" dirty="0"/>
              <a:t> Master std.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91E15E58-EC0F-4458-790C-B1B102F3AC67}"/>
              </a:ext>
            </a:extLst>
          </p:cNvPr>
          <p:cNvSpPr/>
          <p:nvPr/>
        </p:nvSpPr>
        <p:spPr>
          <a:xfrm>
            <a:off x="16680714" y="8937751"/>
            <a:ext cx="6316446" cy="143316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011C6AD1-1C1C-8254-61F7-94323B273A61}"/>
              </a:ext>
            </a:extLst>
          </p:cNvPr>
          <p:cNvSpPr/>
          <p:nvPr/>
        </p:nvSpPr>
        <p:spPr>
          <a:xfrm>
            <a:off x="1527029" y="4053840"/>
            <a:ext cx="4693920" cy="143316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5" name="Table of Cont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Table of Content</a:t>
            </a:r>
          </a:p>
        </p:txBody>
      </p:sp>
      <p:sp>
        <p:nvSpPr>
          <p:cNvPr id="177" name="幻燈片項目符號文字"/>
          <p:cNvSpPr txBox="1">
            <a:spLocks noGrp="1"/>
          </p:cNvSpPr>
          <p:nvPr>
            <p:ph type="body" idx="1"/>
          </p:nvPr>
        </p:nvSpPr>
        <p:spPr>
          <a:xfrm>
            <a:off x="1206500" y="4319113"/>
            <a:ext cx="5334977" cy="902616"/>
          </a:xfrm>
          <a:prstGeom prst="rect">
            <a:avLst/>
          </a:prstGeom>
        </p:spPr>
        <p:txBody>
          <a:bodyPr anchor="ctr"/>
          <a:lstStyle/>
          <a:p>
            <a:pPr marL="0" indent="0" algn="ctr">
              <a:buNone/>
            </a:pPr>
            <a:r>
              <a:rPr lang="en-US" dirty="0"/>
              <a:t>Software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DFAE61A-AF82-35EB-6B23-8E7FA36632CD}"/>
              </a:ext>
            </a:extLst>
          </p:cNvPr>
          <p:cNvSpPr/>
          <p:nvPr/>
        </p:nvSpPr>
        <p:spPr>
          <a:xfrm>
            <a:off x="8499962" y="6415739"/>
            <a:ext cx="5720862" cy="143316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幻燈片項目符號文字">
            <a:extLst>
              <a:ext uri="{FF2B5EF4-FFF2-40B4-BE49-F238E27FC236}">
                <a16:creationId xmlns:a16="http://schemas.microsoft.com/office/drawing/2014/main" id="{2060DB00-0068-BE4E-9A89-3412A72DC15F}"/>
              </a:ext>
            </a:extLst>
          </p:cNvPr>
          <p:cNvSpPr txBox="1">
            <a:spLocks/>
          </p:cNvSpPr>
          <p:nvPr/>
        </p:nvSpPr>
        <p:spPr>
          <a:xfrm>
            <a:off x="8692904" y="6415738"/>
            <a:ext cx="5334977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609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ctr" hangingPunct="1">
              <a:buFontTx/>
              <a:buNone/>
            </a:pPr>
            <a:r>
              <a:rPr lang="en-US" dirty="0"/>
              <a:t>Section properties</a:t>
            </a:r>
          </a:p>
        </p:txBody>
      </p:sp>
      <p:sp>
        <p:nvSpPr>
          <p:cNvPr id="6" name="幻燈片項目符號文字">
            <a:extLst>
              <a:ext uri="{FF2B5EF4-FFF2-40B4-BE49-F238E27FC236}">
                <a16:creationId xmlns:a16="http://schemas.microsoft.com/office/drawing/2014/main" id="{50B0600B-732E-0D44-9A10-8D1146019C91}"/>
              </a:ext>
            </a:extLst>
          </p:cNvPr>
          <p:cNvSpPr txBox="1">
            <a:spLocks/>
          </p:cNvSpPr>
          <p:nvPr/>
        </p:nvSpPr>
        <p:spPr>
          <a:xfrm>
            <a:off x="16978506" y="8937752"/>
            <a:ext cx="5720863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609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ctr" hangingPunct="1">
              <a:buFontTx/>
              <a:buNone/>
            </a:pPr>
            <a:r>
              <a:rPr lang="en-US" dirty="0"/>
              <a:t>Analysis parameters</a:t>
            </a:r>
          </a:p>
        </p:txBody>
      </p:sp>
      <p:sp>
        <p:nvSpPr>
          <p:cNvPr id="7" name="箭號: 上彎 6">
            <a:extLst>
              <a:ext uri="{FF2B5EF4-FFF2-40B4-BE49-F238E27FC236}">
                <a16:creationId xmlns:a16="http://schemas.microsoft.com/office/drawing/2014/main" id="{EAC46762-C6ED-D812-7D11-9489C7E92361}"/>
              </a:ext>
            </a:extLst>
          </p:cNvPr>
          <p:cNvSpPr/>
          <p:nvPr/>
        </p:nvSpPr>
        <p:spPr>
          <a:xfrm rot="5400000">
            <a:off x="5713020" y="4970822"/>
            <a:ext cx="2270760" cy="3303122"/>
          </a:xfrm>
          <a:prstGeom prst="bentUpArrow">
            <a:avLst>
              <a:gd name="adj1" fmla="val 22196"/>
              <a:gd name="adj2" fmla="val 22664"/>
              <a:gd name="adj3" fmla="val 35324"/>
            </a:avLst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箭號: 上彎 7">
            <a:extLst>
              <a:ext uri="{FF2B5EF4-FFF2-40B4-BE49-F238E27FC236}">
                <a16:creationId xmlns:a16="http://schemas.microsoft.com/office/drawing/2014/main" id="{B5773A73-C895-0FAD-489C-DD252E75BE74}"/>
              </a:ext>
            </a:extLst>
          </p:cNvPr>
          <p:cNvSpPr/>
          <p:nvPr/>
        </p:nvSpPr>
        <p:spPr>
          <a:xfrm rot="5400000">
            <a:off x="13893773" y="7332721"/>
            <a:ext cx="2270760" cy="3303122"/>
          </a:xfrm>
          <a:prstGeom prst="bentUpArrow">
            <a:avLst>
              <a:gd name="adj1" fmla="val 22196"/>
              <a:gd name="adj2" fmla="val 22664"/>
              <a:gd name="adj3" fmla="val 35324"/>
            </a:avLst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HW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HW1</a:t>
            </a:r>
          </a:p>
        </p:txBody>
      </p:sp>
      <p:sp>
        <p:nvSpPr>
          <p:cNvPr id="180" name="Softwar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825500">
              <a:defRPr sz="5500"/>
            </a:lvl1pPr>
          </a:lstStyle>
          <a:p>
            <a:r>
              <a:t>Software</a:t>
            </a:r>
          </a:p>
        </p:txBody>
      </p:sp>
      <p:pic>
        <p:nvPicPr>
          <p:cNvPr id="181" name="S__110797071.jpg" descr="S__1107970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2323" y="5454098"/>
            <a:ext cx="10781470" cy="396011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61D8166-77CF-0D4F-A678-E8F94F75EE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969" y="4063240"/>
            <a:ext cx="6741834" cy="674183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HW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HW1</a:t>
            </a:r>
          </a:p>
        </p:txBody>
      </p:sp>
      <p:sp>
        <p:nvSpPr>
          <p:cNvPr id="187" name="Section, parameter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825500">
              <a:defRPr sz="5500"/>
            </a:lvl1pPr>
          </a:lstStyle>
          <a:p>
            <a:r>
              <a:t>Section,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Longitudinal bars: #8-D25…"/>
              <p:cNvSpPr/>
              <p:nvPr/>
            </p:nvSpPr>
            <p:spPr>
              <a:xfrm>
                <a:off x="14917768" y="2586252"/>
                <a:ext cx="9023510" cy="1039686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r>
                  <a:t>Longitudinal bars: #8-D25</a:t>
                </a:r>
              </a:p>
              <a:p>
                <a:r>
                  <a:t>Transverse bars: #4-D19</a:t>
                </a:r>
              </a:p>
              <a:p>
                <a:r>
                  <a:t>Section Area: 60*60 </a:t>
                </a:r>
                <a14:m>
                  <m:oMath xmlns:m="http://schemas.openxmlformats.org/officeDocument/2006/math"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/>
              </a:p>
            </p:txBody>
          </p:sp>
        </mc:Choice>
        <mc:Fallback xmlns="">
          <p:sp>
            <p:nvSpPr>
              <p:cNvPr id="188" name="Longitudinal bars: #8-D25…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7768" y="2586252"/>
                <a:ext cx="9023510" cy="10396864"/>
              </a:xfrm>
              <a:prstGeom prst="rect">
                <a:avLst/>
              </a:prstGeom>
              <a:blipFill>
                <a:blip r:embed="rId3"/>
                <a:stretch>
                  <a:fillRect l="-351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9" name="HW1-Model.pdf" descr="HW1-Model.pdf"/>
          <p:cNvPicPr>
            <a:picLocks noChangeAspect="1"/>
          </p:cNvPicPr>
          <p:nvPr/>
        </p:nvPicPr>
        <p:blipFill>
          <a:blip r:embed="rId4"/>
          <a:srcRect l="17758" t="7000" r="9649" b="23459"/>
          <a:stretch>
            <a:fillRect/>
          </a:stretch>
        </p:blipFill>
        <p:spPr>
          <a:xfrm>
            <a:off x="868680" y="4030997"/>
            <a:ext cx="12712068" cy="86055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HW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HW1</a:t>
            </a:r>
          </a:p>
        </p:txBody>
      </p:sp>
      <p:sp>
        <p:nvSpPr>
          <p:cNvPr id="194" name="Material Propertie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825500">
              <a:defRPr sz="5500"/>
            </a:lvl1pPr>
          </a:lstStyle>
          <a:p>
            <a:r>
              <a:t>Material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Normal Concrete (28MPa)…"/>
              <p:cNvSpPr/>
              <p:nvPr/>
            </p:nvSpPr>
            <p:spPr>
              <a:xfrm>
                <a:off x="1584604" y="3570260"/>
                <a:ext cx="10183970" cy="96124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t>Normal Concrete (28MPa)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=28</m:t>
                      </m:r>
                      <m:r>
                        <m:rPr>
                          <m:nor/>
                        </m:rP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=0.002</m:t>
                      </m:r>
                    </m:oMath>
                  </m:oMathPara>
                </a14:m>
                <a:endParaRPr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𝑝𝑐𝑢</m:t>
                          </m:r>
                        </m:sub>
                      </m:sSub>
                      <m: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m:rPr>
                          <m:nor/>
                        </m:rP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𝑐𝑢</m:t>
                          </m:r>
                        </m:sub>
                      </m:sSub>
                      <m: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=0.004</m:t>
                      </m:r>
                    </m:oMath>
                  </m:oMathPara>
                </a14:m>
                <a:endParaRPr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t>Type: “Concrete01”</a:t>
                </a:r>
              </a:p>
            </p:txBody>
          </p:sp>
        </mc:Choice>
        <mc:Fallback xmlns="">
          <p:sp>
            <p:nvSpPr>
              <p:cNvPr id="195" name="Normal Concrete (28MPa)…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604" y="3570260"/>
                <a:ext cx="10183970" cy="9612499"/>
              </a:xfrm>
              <a:prstGeom prst="rect">
                <a:avLst/>
              </a:prstGeom>
              <a:blipFill>
                <a:blip r:embed="rId3"/>
                <a:stretch>
                  <a:fillRect l="-311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6" name="Concrete01.gif" descr="Concrete01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7619" y="4319617"/>
            <a:ext cx="10183969" cy="81137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HW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HW1</a:t>
            </a:r>
          </a:p>
        </p:txBody>
      </p:sp>
      <p:sp>
        <p:nvSpPr>
          <p:cNvPr id="201" name="Material Propertie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825500">
              <a:defRPr sz="5500"/>
            </a:lvl1pPr>
          </a:lstStyle>
          <a:p>
            <a:r>
              <a:t>Material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High Strength Concrete (70MPa)…"/>
              <p:cNvSpPr/>
              <p:nvPr/>
            </p:nvSpPr>
            <p:spPr>
              <a:xfrm>
                <a:off x="1584604" y="3570260"/>
                <a:ext cx="10183970" cy="96124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t>High Strength Concrete (70MPa)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endParaRPr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=70</m:t>
                      </m:r>
                      <m:r>
                        <m:rPr>
                          <m:nor/>
                        </m:rP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=0.002</m:t>
                      </m:r>
                    </m:oMath>
                  </m:oMathPara>
                </a14:m>
                <a:endParaRPr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𝑝𝑐𝑢</m:t>
                          </m:r>
                        </m:sub>
                      </m:sSub>
                      <m: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m:rPr>
                          <m:nor/>
                        </m:rP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𝑐𝑢</m:t>
                          </m:r>
                        </m:sub>
                      </m:sSub>
                      <m: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=0.004</m:t>
                      </m:r>
                    </m:oMath>
                  </m:oMathPara>
                </a14:m>
                <a:endParaRPr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t>Type: “Concrete01”</a:t>
                </a:r>
              </a:p>
            </p:txBody>
          </p:sp>
        </mc:Choice>
        <mc:Fallback xmlns="">
          <p:sp>
            <p:nvSpPr>
              <p:cNvPr id="202" name="High Strength Concrete (70MPa)…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604" y="3570260"/>
                <a:ext cx="10183970" cy="9612499"/>
              </a:xfrm>
              <a:prstGeom prst="rect">
                <a:avLst/>
              </a:prstGeom>
              <a:blipFill>
                <a:blip r:embed="rId2"/>
                <a:stretch>
                  <a:fillRect l="-311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3" name="Concrete01.gif" descr="Concrete0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7619" y="4319617"/>
            <a:ext cx="10183970" cy="81137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HW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HW1</a:t>
            </a:r>
          </a:p>
        </p:txBody>
      </p:sp>
      <p:sp>
        <p:nvSpPr>
          <p:cNvPr id="206" name="Material Propertie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825500">
              <a:defRPr sz="5500"/>
            </a:lvl1pPr>
          </a:lstStyle>
          <a:p>
            <a:r>
              <a:t>Material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SD420…"/>
              <p:cNvSpPr/>
              <p:nvPr/>
            </p:nvSpPr>
            <p:spPr>
              <a:xfrm>
                <a:off x="1584604" y="3570260"/>
                <a:ext cx="10183970" cy="96124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t>SD420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endParaRPr/>
              </a:p>
              <a:p>
                <a:pPr lvl="2"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=420</m:t>
                      </m:r>
                      <m:r>
                        <m:rPr>
                          <m:nor/>
                        </m:rP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/>
              </a:p>
              <a:p>
                <a:pPr lvl="2"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=420∗1.25</m:t>
                      </m:r>
                      <m:r>
                        <m:rPr>
                          <m:nor/>
                        </m:rP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/>
              </a:p>
              <a:p>
                <a:pPr lvl="2"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=200</m:t>
                      </m:r>
                      <m:r>
                        <m:rPr>
                          <m:nor/>
                        </m:rP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/>
              </a:p>
              <a:p>
                <a:pPr lvl="2">
                  <a:lnSpc>
                    <a:spcPct val="120000"/>
                  </a:lnSpc>
                  <a:spcBef>
                    <a:spcPts val="0"/>
                  </a:spcBef>
                </a:pPr>
                <a:r>
                  <a:t>Type : “Steel01”</a:t>
                </a:r>
              </a:p>
            </p:txBody>
          </p:sp>
        </mc:Choice>
        <mc:Fallback xmlns="">
          <p:sp>
            <p:nvSpPr>
              <p:cNvPr id="207" name="SD420…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604" y="3570260"/>
                <a:ext cx="10183970" cy="9612499"/>
              </a:xfrm>
              <a:prstGeom prst="rect">
                <a:avLst/>
              </a:prstGeom>
              <a:blipFill>
                <a:blip r:embed="rId2"/>
                <a:stretch>
                  <a:fillRect l="-274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8" name="Steel01.gif" descr="Steel0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1698" y="4281968"/>
            <a:ext cx="10215812" cy="81890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HW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HW1</a:t>
            </a:r>
          </a:p>
        </p:txBody>
      </p:sp>
      <p:sp>
        <p:nvSpPr>
          <p:cNvPr id="211" name="Material Propertie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825500">
              <a:defRPr sz="5500"/>
            </a:lvl1pPr>
          </a:lstStyle>
          <a:p>
            <a:r>
              <a:t>Material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SD550…"/>
              <p:cNvSpPr/>
              <p:nvPr/>
            </p:nvSpPr>
            <p:spPr>
              <a:xfrm>
                <a:off x="1584604" y="3570260"/>
                <a:ext cx="10183970" cy="96124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 anchor="ctr"/>
              <a:lstStyle/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t>SD550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endParaRPr/>
              </a:p>
              <a:p>
                <a:pPr lvl="2"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=550</m:t>
                      </m:r>
                      <m:r>
                        <m:rPr>
                          <m:nor/>
                        </m:rP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/>
              </a:p>
              <a:p>
                <a:pPr lvl="2"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=550∗1.25</m:t>
                      </m:r>
                      <m:r>
                        <m:rPr>
                          <m:nor/>
                        </m:rP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/>
              </a:p>
              <a:p>
                <a:pPr lvl="2">
                  <a:lnSpc>
                    <a:spcPct val="12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sz="5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=200</m:t>
                      </m:r>
                      <m:r>
                        <m:rPr>
                          <m:nor/>
                        </m:rPr>
                        <a:rPr sz="5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/>
              </a:p>
              <a:p>
                <a:pPr lvl="2">
                  <a:lnSpc>
                    <a:spcPct val="120000"/>
                  </a:lnSpc>
                  <a:spcBef>
                    <a:spcPts val="0"/>
                  </a:spcBef>
                </a:pPr>
                <a:r>
                  <a:t>Type : “Steel01”</a:t>
                </a:r>
              </a:p>
            </p:txBody>
          </p:sp>
        </mc:Choice>
        <mc:Fallback xmlns="">
          <p:sp>
            <p:nvSpPr>
              <p:cNvPr id="212" name="SD550…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604" y="3570260"/>
                <a:ext cx="10183970" cy="9612499"/>
              </a:xfrm>
              <a:prstGeom prst="rect">
                <a:avLst/>
              </a:prstGeom>
              <a:blipFill>
                <a:blip r:embed="rId2"/>
                <a:stretch>
                  <a:fillRect l="-274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3" name="Steel01.gif" descr="Steel0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1698" y="4281968"/>
            <a:ext cx="10215812" cy="81890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HW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HW1</a:t>
            </a:r>
          </a:p>
        </p:txBody>
      </p:sp>
      <p:sp>
        <p:nvSpPr>
          <p:cNvPr id="216" name="Analysis cas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defTabSz="825500">
              <a:defRPr sz="5500"/>
            </a:lvl1pPr>
          </a:lstStyle>
          <a:p>
            <a:r>
              <a:t>Analysis case</a:t>
            </a:r>
          </a:p>
        </p:txBody>
      </p:sp>
      <p:pic>
        <p:nvPicPr>
          <p:cNvPr id="217" name="HW1-Model.pdf" descr="HW1-Model.pdf"/>
          <p:cNvPicPr>
            <a:picLocks noChangeAspect="1"/>
          </p:cNvPicPr>
          <p:nvPr/>
        </p:nvPicPr>
        <p:blipFill>
          <a:blip r:embed="rId2"/>
          <a:srcRect l="32710" t="25607" r="32710" b="25607"/>
          <a:stretch>
            <a:fillRect/>
          </a:stretch>
        </p:blipFill>
        <p:spPr>
          <a:xfrm>
            <a:off x="2357101" y="4288498"/>
            <a:ext cx="8200794" cy="8175833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Case1: NC-SD420…"/>
          <p:cNvSpPr/>
          <p:nvPr/>
        </p:nvSpPr>
        <p:spPr>
          <a:xfrm>
            <a:off x="12663176" y="2051751"/>
            <a:ext cx="10183969" cy="9612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1">
              <a:lnSpc>
                <a:spcPct val="120000"/>
              </a:lnSpc>
              <a:spcBef>
                <a:spcPts val="0"/>
              </a:spcBef>
            </a:pPr>
            <a:r>
              <a:t>Case1: NC-SD420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t>Case2: NC-SD550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t>Case1: HSC-SD420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t>Case1: HSC-SD420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253</Words>
  <Application>Microsoft Office PowerPoint</Application>
  <PresentationFormat>自訂</PresentationFormat>
  <Paragraphs>63</Paragraphs>
  <Slides>9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Helvetica Neue</vt:lpstr>
      <vt:lpstr>Helvetica Neue Medium</vt:lpstr>
      <vt:lpstr>Cambria Math</vt:lpstr>
      <vt:lpstr>21_BasicWhite</vt:lpstr>
      <vt:lpstr>HW1</vt:lpstr>
      <vt:lpstr>Table of Content</vt:lpstr>
      <vt:lpstr>HW1</vt:lpstr>
      <vt:lpstr>HW1</vt:lpstr>
      <vt:lpstr>HW1</vt:lpstr>
      <vt:lpstr>HW1</vt:lpstr>
      <vt:lpstr>HW1</vt:lpstr>
      <vt:lpstr>HW1</vt:lpstr>
      <vt:lpstr>HW1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HW1</dc:title>
  <cp:lastModifiedBy>林平旭</cp:lastModifiedBy>
  <cp:revision>4</cp:revision>
  <dcterms:modified xsi:type="dcterms:W3CDTF">2026-03-13T13:18:35Z</dcterms:modified>
</cp:coreProperties>
</file>