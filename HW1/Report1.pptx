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24384000" cy="13716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1pPr>
    <a:lvl2pPr marL="0" marR="0" indent="457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2pPr>
    <a:lvl3pPr marL="0" marR="0" indent="914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3pPr>
    <a:lvl4pPr marL="0" marR="0" indent="1371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4pPr>
    <a:lvl5pPr marL="0" marR="0" indent="18288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5pPr>
    <a:lvl6pPr marL="0" marR="0" indent="22860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6pPr>
    <a:lvl7pPr marL="0" marR="0" indent="27432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7pPr>
    <a:lvl8pPr marL="0" marR="0" indent="32004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8pPr>
    <a:lvl9pPr marL="0" marR="0" indent="3657600" algn="l" defTabSz="2438338" rtl="0" fontAlgn="auto" latinLnBrk="0" hangingPunct="0">
      <a:lnSpc>
        <a:spcPct val="90000"/>
      </a:lnSpc>
      <a:spcBef>
        <a:spcPts val="4500"/>
      </a:spcBef>
      <a:spcAft>
        <a:spcPts val="0"/>
      </a:spcAft>
      <a:buClrTx/>
      <a:buSzTx/>
      <a:buFontTx/>
      <a:buNone/>
      <a:tabLst/>
      <a:defRPr kumimoji="0" sz="4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Helvetica Neue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381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381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3E5E8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536773"/>
              </a:solidFill>
              <a:prstDash val="solid"/>
              <a:miter lim="400000"/>
            </a:ln>
          </a:top>
          <a:bottom>
            <a:ln w="12700" cap="flat">
              <a:solidFill>
                <a:srgbClr val="536773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381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36773"/>
              </a:solidFill>
              <a:prstDash val="solid"/>
              <a:miter lim="400000"/>
            </a:ln>
          </a:left>
          <a:right>
            <a:ln w="12700" cap="flat">
              <a:solidFill>
                <a:srgbClr val="536773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536773"/>
              </a:solidFill>
              <a:prstDash val="solid"/>
              <a:miter lim="400000"/>
            </a:ln>
          </a:insideH>
          <a:insideV>
            <a:ln w="12700" cap="flat">
              <a:solidFill>
                <a:srgbClr val="536773"/>
              </a:solidFill>
              <a:prstDash val="solid"/>
              <a:miter lim="400000"/>
            </a:ln>
          </a:insideV>
        </a:tcBdr>
        <a:fill>
          <a:solidFill>
            <a:schemeClr val="accent1">
              <a:lumOff val="16847"/>
            </a:schemeClr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838383"/>
              </a:solidFill>
              <a:prstDash val="solid"/>
              <a:miter lim="400000"/>
            </a:ln>
          </a:left>
          <a:right>
            <a:ln w="12700" cap="flat">
              <a:solidFill>
                <a:srgbClr val="838383"/>
              </a:solidFill>
              <a:prstDash val="solid"/>
              <a:miter lim="400000"/>
            </a:ln>
          </a:right>
          <a:top>
            <a:ln w="12700" cap="flat">
              <a:solidFill>
                <a:srgbClr val="838383"/>
              </a:solidFill>
              <a:prstDash val="solid"/>
              <a:miter lim="400000"/>
            </a:ln>
          </a:top>
          <a:bottom>
            <a:ln w="12700" cap="flat">
              <a:solidFill>
                <a:srgbClr val="838383"/>
              </a:solidFill>
              <a:prstDash val="solid"/>
              <a:miter lim="400000"/>
            </a:ln>
          </a:bottom>
          <a:insideH>
            <a:ln w="12700" cap="flat">
              <a:solidFill>
                <a:srgbClr val="838383"/>
              </a:solidFill>
              <a:prstDash val="solid"/>
              <a:miter lim="400000"/>
            </a:ln>
          </a:insideH>
          <a:insideV>
            <a:ln w="12700" cap="flat">
              <a:solidFill>
                <a:srgbClr val="838383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808080"/>
              </a:solidFill>
              <a:prstDash val="solid"/>
              <a:miter lim="400000"/>
            </a:ln>
          </a:right>
          <a:top>
            <a:ln w="12700" cap="flat">
              <a:solidFill>
                <a:srgbClr val="808080"/>
              </a:solidFill>
              <a:prstDash val="solid"/>
              <a:miter lim="400000"/>
            </a:ln>
          </a:top>
          <a:bottom>
            <a:ln w="12700" cap="flat">
              <a:solidFill>
                <a:srgbClr val="808080"/>
              </a:solidFill>
              <a:prstDash val="solid"/>
              <a:miter lim="400000"/>
            </a:ln>
          </a:bottom>
          <a:insideH>
            <a:ln w="12700" cap="flat">
              <a:solidFill>
                <a:srgbClr val="808080"/>
              </a:solidFill>
              <a:prstDash val="solid"/>
              <a:miter lim="400000"/>
            </a:ln>
          </a:insideH>
          <a:insideV>
            <a:ln w="12700" cap="flat">
              <a:solidFill>
                <a:srgbClr val="808080"/>
              </a:solidFill>
              <a:prstDash val="solid"/>
              <a:miter lim="400000"/>
            </a:ln>
          </a:insideV>
        </a:tcBdr>
        <a:fill>
          <a:solidFill>
            <a:srgbClr val="88FA4F"/>
          </a:solidFill>
        </a:fill>
      </a:tcStyle>
    </a:firstCol>
    <a:lastRow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38100" cap="flat">
              <a:solidFill>
                <a:schemeClr val="accent3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4D4D4D"/>
              </a:solidFill>
              <a:prstDash val="solid"/>
              <a:miter lim="400000"/>
            </a:ln>
          </a:left>
          <a:right>
            <a:ln w="12700" cap="flat">
              <a:solidFill>
                <a:srgbClr val="4D4D4D"/>
              </a:solidFill>
              <a:prstDash val="solid"/>
              <a:miter lim="400000"/>
            </a:ln>
          </a:right>
          <a:top>
            <a:ln w="12700" cap="flat">
              <a:solidFill>
                <a:srgbClr val="4D4D4D"/>
              </a:solidFill>
              <a:prstDash val="solid"/>
              <a:miter lim="400000"/>
            </a:ln>
          </a:top>
          <a:bottom>
            <a:ln w="12700" cap="flat">
              <a:solidFill>
                <a:srgbClr val="4D4D4D"/>
              </a:solidFill>
              <a:prstDash val="solid"/>
              <a:miter lim="400000"/>
            </a:ln>
          </a:bottom>
          <a:insideH>
            <a:ln w="12700" cap="flat">
              <a:solidFill>
                <a:srgbClr val="4D4D4D"/>
              </a:solidFill>
              <a:prstDash val="solid"/>
              <a:miter lim="400000"/>
            </a:ln>
          </a:insideH>
          <a:insideV>
            <a:ln w="12700" cap="flat">
              <a:solidFill>
                <a:srgbClr val="4D4D4D"/>
              </a:solidFill>
              <a:prstDash val="solid"/>
              <a:miter lim="400000"/>
            </a:ln>
          </a:insideV>
        </a:tcBdr>
        <a:fill>
          <a:solidFill>
            <a:srgbClr val="60D937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wholeTbl>
    <a:band2H>
      <a:tcTxStyle/>
      <a:tcStyle>
        <a:tcBdr/>
        <a:fill>
          <a:solidFill>
            <a:schemeClr val="accent4">
              <a:hueOff val="348544"/>
              <a:lumOff val="7139"/>
            </a:schemeClr>
          </a:solidFill>
        </a:fill>
      </a:tcStyle>
    </a:band2H>
    <a:firstCol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8BB00"/>
          </a:solidFill>
        </a:fill>
      </a:tcStyle>
    </a:firstCol>
    <a:la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38100" cap="flat">
              <a:solidFill>
                <a:srgbClr val="F8BA00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AF7E9"/>
          </a:solidFill>
        </a:fill>
      </a:tcStyle>
    </a:lastRow>
    <a:firstRow>
      <a:tcTxStyle b="off" i="off">
        <a:font>
          <a:latin typeface="Helvetica Neue Medium"/>
          <a:ea typeface="Helvetica Neue Medium"/>
          <a:cs typeface="Helvetica Neue Medium"/>
        </a:font>
        <a:srgbClr val="000000"/>
      </a:tcTxStyle>
      <a:tcStyle>
        <a:tcBdr>
          <a:left>
            <a:ln w="12700" cap="flat">
              <a:solidFill>
                <a:srgbClr val="5B5A5A"/>
              </a:solidFill>
              <a:prstDash val="solid"/>
              <a:miter lim="400000"/>
            </a:ln>
          </a:left>
          <a:right>
            <a:ln w="12700" cap="flat">
              <a:solidFill>
                <a:srgbClr val="5B5A5A"/>
              </a:solidFill>
              <a:prstDash val="solid"/>
              <a:miter lim="400000"/>
            </a:ln>
          </a:right>
          <a:top>
            <a:ln w="12700" cap="flat">
              <a:solidFill>
                <a:srgbClr val="5B5A5A"/>
              </a:solidFill>
              <a:prstDash val="solid"/>
              <a:miter lim="400000"/>
            </a:ln>
          </a:top>
          <a:bottom>
            <a:ln w="12700" cap="flat">
              <a:solidFill>
                <a:srgbClr val="5B5A5A"/>
              </a:solidFill>
              <a:prstDash val="solid"/>
              <a:miter lim="400000"/>
            </a:ln>
          </a:bottom>
          <a:insideH>
            <a:ln w="12700" cap="flat">
              <a:solidFill>
                <a:srgbClr val="5B5A5A"/>
              </a:solidFill>
              <a:prstDash val="solid"/>
              <a:miter lim="400000"/>
            </a:ln>
          </a:insideH>
          <a:insideV>
            <a:ln w="12700" cap="flat">
              <a:solidFill>
                <a:srgbClr val="5B5A5A"/>
              </a:solidFill>
              <a:prstDash val="solid"/>
              <a:miter lim="400000"/>
            </a:ln>
          </a:insideV>
        </a:tcBdr>
        <a:fill>
          <a:solidFill>
            <a:srgbClr val="FF9400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464646"/>
              </a:solidFill>
              <a:prstDash val="solid"/>
              <a:miter lim="400000"/>
            </a:ln>
          </a:left>
          <a:right>
            <a:ln w="12700" cap="flat">
              <a:solidFill>
                <a:srgbClr val="464646"/>
              </a:solidFill>
              <a:prstDash val="solid"/>
              <a:miter lim="400000"/>
            </a:ln>
          </a:right>
          <a:top>
            <a:ln w="12700" cap="flat">
              <a:solidFill>
                <a:srgbClr val="464646"/>
              </a:solidFill>
              <a:prstDash val="solid"/>
              <a:miter lim="400000"/>
            </a:ln>
          </a:top>
          <a:bottom>
            <a:ln w="12700" cap="flat">
              <a:solidFill>
                <a:srgbClr val="464646"/>
              </a:solidFill>
              <a:prstDash val="solid"/>
              <a:miter lim="400000"/>
            </a:ln>
          </a:bottom>
          <a:insideH>
            <a:ln w="12700" cap="flat">
              <a:solidFill>
                <a:srgbClr val="464646"/>
              </a:solidFill>
              <a:prstDash val="solid"/>
              <a:miter lim="400000"/>
            </a:ln>
          </a:insideH>
          <a:insideV>
            <a:ln w="12700" cap="flat">
              <a:solidFill>
                <a:srgbClr val="464646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D4D5D5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C3C3C3"/>
              </a:solidFill>
              <a:prstDash val="solid"/>
              <a:miter lim="400000"/>
            </a:ln>
          </a:top>
          <a:bottom>
            <a:ln w="12700" cap="flat">
              <a:solidFill>
                <a:srgbClr val="C3C3C3"/>
              </a:solidFill>
              <a:prstDash val="solid"/>
              <a:miter lim="400000"/>
            </a:ln>
          </a:bottom>
          <a:insideH>
            <a:ln w="12700" cap="flat">
              <a:solidFill>
                <a:srgbClr val="C3C3C3"/>
              </a:solidFill>
              <a:prstDash val="solid"/>
              <a:miter lim="400000"/>
            </a:ln>
          </a:insideH>
          <a:insideV>
            <a:ln w="12700" cap="flat">
              <a:solidFill>
                <a:srgbClr val="C3C3C3"/>
              </a:solidFill>
              <a:prstDash val="solid"/>
              <a:miter lim="400000"/>
            </a:ln>
          </a:insideV>
        </a:tcBdr>
        <a:fill>
          <a:solidFill>
            <a:srgbClr val="CB2A7B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5E5E5E"/>
              </a:solidFill>
              <a:prstDash val="solid"/>
              <a:miter lim="400000"/>
            </a:ln>
          </a:left>
          <a:right>
            <a:ln w="12700" cap="flat">
              <a:solidFill>
                <a:srgbClr val="5E5E5E"/>
              </a:solidFill>
              <a:prstDash val="solid"/>
              <a:miter lim="400000"/>
            </a:ln>
          </a:right>
          <a:top>
            <a:ln w="38100" cap="flat">
              <a:solidFill>
                <a:srgbClr val="CB297B"/>
              </a:solidFill>
              <a:prstDash val="solid"/>
              <a:miter lim="400000"/>
            </a:ln>
          </a:top>
          <a:bottom>
            <a:ln w="12700" cap="flat">
              <a:solidFill>
                <a:srgbClr val="5E5E5E"/>
              </a:solidFill>
              <a:prstDash val="solid"/>
              <a:miter lim="400000"/>
            </a:ln>
          </a:bottom>
          <a:insideH>
            <a:ln w="12700" cap="flat">
              <a:solidFill>
                <a:srgbClr val="5E5E5E"/>
              </a:solidFill>
              <a:prstDash val="solid"/>
              <a:miter lim="400000"/>
            </a:ln>
          </a:insideH>
          <a:insideV>
            <a:ln w="12700" cap="flat">
              <a:solidFill>
                <a:srgbClr val="5E5E5E"/>
              </a:solidFill>
              <a:prstDash val="solid"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A6AAA9"/>
              </a:solidFill>
              <a:prstDash val="solid"/>
              <a:miter lim="400000"/>
            </a:ln>
          </a:left>
          <a:right>
            <a:ln w="12700" cap="flat">
              <a:solidFill>
                <a:srgbClr val="A6AAA9"/>
              </a:solidFill>
              <a:prstDash val="solid"/>
              <a:miter lim="400000"/>
            </a:ln>
          </a:right>
          <a:top>
            <a:ln w="12700" cap="flat">
              <a:solidFill>
                <a:srgbClr val="5E5E5E"/>
              </a:solidFill>
              <a:prstDash val="solid"/>
              <a:miter lim="400000"/>
            </a:ln>
          </a:top>
          <a:bottom>
            <a:ln w="12700" cap="flat">
              <a:solidFill>
                <a:srgbClr val="A6AAA9"/>
              </a:solidFill>
              <a:prstDash val="solid"/>
              <a:miter lim="400000"/>
            </a:ln>
          </a:bottom>
          <a:insideH>
            <a:ln w="12700" cap="flat">
              <a:solidFill>
                <a:srgbClr val="A6AAA9"/>
              </a:solidFill>
              <a:prstDash val="solid"/>
              <a:miter lim="400000"/>
            </a:ln>
          </a:insideH>
          <a:insideV>
            <a:ln w="12700" cap="flat">
              <a:solidFill>
                <a:srgbClr val="A6AAA9"/>
              </a:solidFill>
              <a:prstDash val="solid"/>
              <a:miter lim="400000"/>
            </a:ln>
          </a:insideV>
        </a:tcBdr>
        <a:fill>
          <a:solidFill>
            <a:srgbClr val="991A5F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DEEEE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6C6C6C"/>
              </a:solidFill>
              <a:prstDash val="solid"/>
              <a:miter lim="400000"/>
            </a:ln>
          </a:left>
          <a:right>
            <a:ln w="254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6C6C6C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miter lim="400000"/>
            </a:ln>
          </a:left>
          <a:right>
            <a:ln w="12700" cap="flat">
              <a:solidFill>
                <a:srgbClr val="000000"/>
              </a:solidFill>
              <a:prstDash val="solid"/>
              <a:miter lim="400000"/>
            </a:ln>
          </a:right>
          <a:top>
            <a:ln w="12700" cap="flat">
              <a:solidFill>
                <a:srgbClr val="6C6C6C"/>
              </a:solidFill>
              <a:prstDash val="solid"/>
              <a:miter lim="400000"/>
            </a:ln>
          </a:top>
          <a:bottom>
            <a:ln w="12700" cap="flat">
              <a:solidFill>
                <a:srgbClr val="000000"/>
              </a:solidFill>
              <a:prstDash val="solid"/>
              <a:miter lim="400000"/>
            </a:ln>
          </a:bottom>
          <a:insideH>
            <a:ln w="12700" cap="flat">
              <a:solidFill>
                <a:srgbClr val="000000"/>
              </a:solidFill>
              <a:prstDash val="solid"/>
              <a:miter lim="400000"/>
            </a:ln>
          </a:insideH>
          <a:insideV>
            <a:ln w="12700" cap="flat">
              <a:solidFill>
                <a:srgbClr val="000000"/>
              </a:solidFill>
              <a:prstDash val="solid"/>
              <a:miter lim="400000"/>
            </a:ln>
          </a:insideV>
        </a:tcBdr>
        <a:fill>
          <a:solidFill>
            <a:srgbClr val="D6DCE0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80318"/>
  </p:normalViewPr>
  <p:slideViewPr>
    <p:cSldViewPr snapToGrid="0" snapToObjects="1">
      <p:cViewPr>
        <p:scale>
          <a:sx n="33" d="100"/>
          <a:sy n="33" d="100"/>
        </p:scale>
        <p:origin x="1376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Shape 16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69" name="Shape 16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1pPr>
    <a:lvl2pPr indent="228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2pPr>
    <a:lvl3pPr indent="457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3pPr>
    <a:lvl4pPr indent="685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4pPr>
    <a:lvl5pPr indent="9144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5pPr>
    <a:lvl6pPr indent="11430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6pPr>
    <a:lvl7pPr indent="13716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7pPr>
    <a:lvl8pPr indent="16002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8pPr>
    <a:lvl9pPr indent="1828800" defTabSz="457200" latinLnBrk="0">
      <a:lnSpc>
        <a:spcPct val="117999"/>
      </a:lnSpc>
      <a:defRPr sz="2200">
        <a:latin typeface="+mn-lt"/>
        <a:ea typeface="+mn-ea"/>
        <a:cs typeface="+mn-cs"/>
        <a:sym typeface="Helvetica Neue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Shape 183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84" name="Shape 184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Report about the software we are going to use, and the reason why  we choose ETABS and OpenSees.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hape 190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1" name="Shape 191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dirty="0"/>
              <a:t>We choose this section because …</a:t>
            </a:r>
            <a:br>
              <a:rPr dirty="0"/>
            </a:br>
            <a:r>
              <a:rPr dirty="0"/>
              <a:t>1. 30*30 minimum size  requirement of ACI-318</a:t>
            </a:r>
          </a:p>
          <a:p>
            <a:r>
              <a:rPr dirty="0"/>
              <a:t>2. Slenderness effect need to be neglect.</a:t>
            </a:r>
          </a:p>
          <a:p>
            <a:r>
              <a:rPr dirty="0"/>
              <a:t>3. Height should be enough for a floor (3.2~3.5 m/floor)</a:t>
            </a:r>
          </a:p>
          <a:p>
            <a:r>
              <a:rPr dirty="0"/>
              <a:t>4. Ties is according to the regulation of ACI-318.</a:t>
            </a:r>
          </a:p>
          <a:p>
            <a:r>
              <a:rPr dirty="0"/>
              <a:t>5. Clear cover is also according to the ACI-318 regulation.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Shape 197"/>
          <p:cNvSpPr>
            <a:spLocks noGrp="1" noRot="1" noChangeAspect="1"/>
          </p:cNvSpPr>
          <p:nvPr>
            <p:ph type="sldImg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98" name="Shape 198"/>
          <p:cNvSpPr>
            <a:spLocks noGrp="1"/>
          </p:cNvSpPr>
          <p:nvPr>
            <p:ph type="body" sz="quarter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First concrete properties is the most common used concrete as our base line.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大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作者和日期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1340" y="11859862"/>
            <a:ext cx="21971003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sz="3060" b="1"/>
            </a:lvl1pPr>
          </a:lstStyle>
          <a:p>
            <a:r>
              <a:t>作者和日期</a:t>
            </a:r>
          </a:p>
        </p:txBody>
      </p:sp>
      <p:sp>
        <p:nvSpPr>
          <p:cNvPr id="12" name="簡報標題"/>
          <p:cNvSpPr txBox="1">
            <a:spLocks noGrp="1"/>
          </p:cNvSpPr>
          <p:nvPr>
            <p:ph type="title" hasCustomPrompt="1"/>
          </p:nvPr>
        </p:nvSpPr>
        <p:spPr>
          <a:xfrm>
            <a:off x="1206496" y="2574991"/>
            <a:ext cx="21971004" cy="4648201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簡報標題</a:t>
            </a:r>
          </a:p>
        </p:txBody>
      </p:sp>
      <p:sp>
        <p:nvSpPr>
          <p:cNvPr id="13" name="內文層級一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1342" y="7223190"/>
            <a:ext cx="21971001" cy="1905001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簡報副標題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與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酪梨與萊姆"/>
          <p:cNvSpPr>
            <a:spLocks noGrp="1"/>
          </p:cNvSpPr>
          <p:nvPr>
            <p:ph type="pic" idx="21"/>
          </p:nvPr>
        </p:nvSpPr>
        <p:spPr>
          <a:xfrm>
            <a:off x="-1155700" y="-1295400"/>
            <a:ext cx="26746200" cy="16018933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22" name="簡報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7124700"/>
            <a:ext cx="21971000" cy="4648200"/>
          </a:xfrm>
          <a:prstGeom prst="rect">
            <a:avLst/>
          </a:prstGeom>
        </p:spPr>
        <p:txBody>
          <a:bodyPr anchor="b"/>
          <a:lstStyle>
            <a:lvl1pPr>
              <a:defRPr sz="11600" spc="-232"/>
            </a:lvl1pPr>
          </a:lstStyle>
          <a:p>
            <a:r>
              <a:t>簡報標題</a:t>
            </a:r>
          </a:p>
        </p:txBody>
      </p:sp>
      <p:sp>
        <p:nvSpPr>
          <p:cNvPr id="23" name="作者和日期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1207690" y="1106137"/>
            <a:ext cx="21968621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sz="3060" b="1"/>
            </a:lvl1pPr>
          </a:lstStyle>
          <a:p>
            <a:r>
              <a:t>作者和日期</a:t>
            </a:r>
          </a:p>
        </p:txBody>
      </p:sp>
      <p:sp>
        <p:nvSpPr>
          <p:cNvPr id="24" name="內文層級一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11609910"/>
            <a:ext cx="21971000" cy="1116952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簡報副標題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25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與替用照片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一碗鮭魚餅、沙拉和鷹嘴豆泥"/>
          <p:cNvSpPr>
            <a:spLocks noGrp="1"/>
          </p:cNvSpPr>
          <p:nvPr>
            <p:ph type="pic" idx="21"/>
          </p:nvPr>
        </p:nvSpPr>
        <p:spPr>
          <a:xfrm>
            <a:off x="10972800" y="-203200"/>
            <a:ext cx="12144837" cy="141351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3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270000"/>
            <a:ext cx="9779000" cy="5882273"/>
          </a:xfrm>
          <a:prstGeom prst="rect">
            <a:avLst/>
          </a:prstGeom>
        </p:spPr>
        <p:txBody>
          <a:bodyPr anchor="b"/>
          <a:lstStyle/>
          <a:p>
            <a:r>
              <a:t>幻燈片標題</a:t>
            </a:r>
          </a:p>
        </p:txBody>
      </p:sp>
      <p:sp>
        <p:nvSpPr>
          <p:cNvPr id="34" name="內文層級一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1206500" y="7060576"/>
            <a:ext cx="9779000" cy="5385424"/>
          </a:xfrm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1pPr>
            <a:lvl2pPr marL="0" indent="4572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2pPr>
            <a:lvl3pPr marL="0" indent="9144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3pPr>
            <a:lvl4pPr marL="0" indent="13716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4pPr>
            <a:lvl5pPr marL="0" indent="1828800" defTabSz="825500">
              <a:lnSpc>
                <a:spcPct val="100000"/>
              </a:lnSpc>
              <a:spcBef>
                <a:spcPts val="0"/>
              </a:spcBef>
              <a:buSzTx/>
              <a:buNone/>
              <a:defRPr sz="5500" b="1"/>
            </a:lvl5pPr>
          </a:lstStyle>
          <a:p>
            <a:r>
              <a:t>幻燈片副標題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35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與項目符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幻燈片標題"/>
          <p:cNvSpPr txBox="1">
            <a:spLocks noGrp="1"/>
          </p:cNvSpPr>
          <p:nvPr>
            <p:ph type="title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43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44" name="內文層級一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5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項目符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內文層級一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 numCol="2" spcCol="1098550"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53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、項目符號與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61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62" name="一碗搭配洋香菜奶油、烤榛子和刨絲帕瑪森起司的特寬麵"/>
          <p:cNvSpPr>
            <a:spLocks noGrp="1"/>
          </p:cNvSpPr>
          <p:nvPr>
            <p:ph type="pic" idx="22"/>
          </p:nvPr>
        </p:nvSpPr>
        <p:spPr>
          <a:xfrm>
            <a:off x="12192000" y="-407266"/>
            <a:ext cx="10916874" cy="14555832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6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6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、項目符號與小型即時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72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7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7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大標題、項目符號與大型即時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9779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82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248504"/>
            <a:ext cx="9779000" cy="8256630"/>
          </a:xfrm>
          <a:prstGeom prst="rect">
            <a:avLst/>
          </a:prstGeom>
        </p:spPr>
        <p:txBody>
          <a:bodyPr/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83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9779000" cy="1435100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84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章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章節標題"/>
          <p:cNvSpPr txBox="1">
            <a:spLocks noGrp="1"/>
          </p:cNvSpPr>
          <p:nvPr>
            <p:ph type="title" hasCustomPrompt="1"/>
          </p:nvPr>
        </p:nvSpPr>
        <p:spPr>
          <a:xfrm>
            <a:off x="1206496" y="4533900"/>
            <a:ext cx="21971004" cy="4648200"/>
          </a:xfrm>
          <a:prstGeom prst="rect">
            <a:avLst/>
          </a:prstGeom>
        </p:spPr>
        <p:txBody>
          <a:bodyPr anchor="ctr"/>
          <a:lstStyle>
            <a:lvl1pPr>
              <a:defRPr sz="11600" b="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</a:lstStyle>
          <a:p>
            <a:r>
              <a:t>章節標題</a:t>
            </a:r>
          </a:p>
        </p:txBody>
      </p:sp>
      <p:sp>
        <p:nvSpPr>
          <p:cNvPr id="92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5233"/>
            <a:ext cx="368505" cy="374600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只有大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4949"/>
          </a:xfrm>
          <a:prstGeom prst="rect">
            <a:avLst/>
          </a:prstGeom>
        </p:spPr>
        <p:txBody>
          <a:bodyPr/>
          <a:lstStyle/>
          <a:p>
            <a:r>
              <a:t>幻燈片標題</a:t>
            </a:r>
          </a:p>
        </p:txBody>
      </p:sp>
      <p:sp>
        <p:nvSpPr>
          <p:cNvPr id="100" name="幻燈片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幻燈片副標題</a:t>
            </a:r>
          </a:p>
        </p:txBody>
      </p:sp>
      <p:sp>
        <p:nvSpPr>
          <p:cNvPr id="101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議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議程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5100"/>
          </a:xfrm>
          <a:prstGeom prst="rect">
            <a:avLst/>
          </a:prstGeom>
        </p:spPr>
        <p:txBody>
          <a:bodyPr/>
          <a:lstStyle/>
          <a:p>
            <a:r>
              <a:t>議程標題</a:t>
            </a:r>
          </a:p>
        </p:txBody>
      </p:sp>
      <p:sp>
        <p:nvSpPr>
          <p:cNvPr id="109" name="議程副標題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2372962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議程副標題</a:t>
            </a:r>
          </a:p>
        </p:txBody>
      </p:sp>
      <p:sp>
        <p:nvSpPr>
          <p:cNvPr id="110" name="內文層級一…"/>
          <p:cNvSpPr txBox="1">
            <a:spLocks noGrp="1"/>
          </p:cNvSpPr>
          <p:nvPr>
            <p:ph type="body" idx="1" hasCustomPrompt="1"/>
          </p:nvPr>
        </p:nvSpPr>
        <p:spPr>
          <a:prstGeom prst="rect">
            <a:avLst/>
          </a:prstGeom>
        </p:spPr>
        <p:txBody>
          <a:bodyPr/>
          <a:lstStyle>
            <a:lvl1pPr marL="0" indent="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1pPr>
            <a:lvl2pPr marL="0" indent="4572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2pPr>
            <a:lvl3pPr marL="0" indent="9144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3pPr>
            <a:lvl4pPr marL="0" indent="13716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4pPr>
            <a:lvl5pPr marL="0" indent="1828800" defTabSz="825500">
              <a:lnSpc>
                <a:spcPct val="100000"/>
              </a:lnSpc>
              <a:spcBef>
                <a:spcPts val="1800"/>
              </a:spcBef>
              <a:buSzTx/>
              <a:buNone/>
              <a:defRPr sz="5500" spc="-55"/>
            </a:lvl5pPr>
          </a:lstStyle>
          <a:p>
            <a:r>
              <a:t>議程主題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1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聲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206500" y="4920843"/>
            <a:ext cx="21971000" cy="3874314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11600" spc="-232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聲明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19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重要事實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內文層級一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1075927"/>
            <a:ext cx="21971000" cy="7241584"/>
          </a:xfrm>
          <a:prstGeom prst="rect">
            <a:avLst/>
          </a:prstGeom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1pPr>
            <a:lvl2pPr marL="0" indent="4572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2pPr>
            <a:lvl3pPr marL="0" indent="9144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3pPr>
            <a:lvl4pPr marL="0" indent="13716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4pPr>
            <a:lvl5pPr marL="0" indent="1828800" algn="ctr">
              <a:lnSpc>
                <a:spcPct val="80000"/>
              </a:lnSpc>
              <a:spcBef>
                <a:spcPts val="0"/>
              </a:spcBef>
              <a:buSzTx/>
              <a:buNone/>
              <a:defRPr sz="25000" b="1" spc="-250"/>
            </a:lvl5pPr>
          </a:lstStyle>
          <a:p>
            <a:r>
              <a:t>100%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27" name="詳細資訊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1206500" y="8262180"/>
            <a:ext cx="21971000" cy="93478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algn="ctr" defTabSz="726440">
              <a:lnSpc>
                <a:spcPct val="100000"/>
              </a:lnSpc>
              <a:spcBef>
                <a:spcPts val="0"/>
              </a:spcBef>
              <a:buSzTx/>
              <a:buNone/>
              <a:defRPr sz="4840" b="1"/>
            </a:lvl1pPr>
          </a:lstStyle>
          <a:p>
            <a:r>
              <a:t>詳細資訊</a:t>
            </a:r>
          </a:p>
        </p:txBody>
      </p:sp>
      <p:sp>
        <p:nvSpPr>
          <p:cNvPr id="128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名言語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出處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2430025" y="10675453"/>
            <a:ext cx="20200052" cy="636979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701675">
              <a:lnSpc>
                <a:spcPct val="100000"/>
              </a:lnSpc>
              <a:spcBef>
                <a:spcPts val="0"/>
              </a:spcBef>
              <a:buSzTx/>
              <a:buNone/>
              <a:defRPr sz="3060" b="1"/>
            </a:lvl1pPr>
          </a:lstStyle>
          <a:p>
            <a:r>
              <a:t>出處</a:t>
            </a:r>
          </a:p>
        </p:txBody>
      </p:sp>
      <p:sp>
        <p:nvSpPr>
          <p:cNvPr id="136" name="內文層級一…"/>
          <p:cNvSpPr txBox="1">
            <a:spLocks noGrp="1"/>
          </p:cNvSpPr>
          <p:nvPr>
            <p:ph type="body" sz="half" idx="1" hasCustomPrompt="1"/>
          </p:nvPr>
        </p:nvSpPr>
        <p:spPr>
          <a:xfrm>
            <a:off x="1753923" y="4939860"/>
            <a:ext cx="20876154" cy="3836280"/>
          </a:xfrm>
          <a:prstGeom prst="rect">
            <a:avLst/>
          </a:prstGeom>
        </p:spPr>
        <p:txBody>
          <a:bodyPr/>
          <a:lstStyle>
            <a:lvl1pPr marL="638923" indent="-469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638923" indent="-12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2pPr>
            <a:lvl3pPr marL="638923" indent="4445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3pPr>
            <a:lvl4pPr marL="638923" indent="9017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4pPr>
            <a:lvl5pPr marL="638923" indent="1358900">
              <a:spcBef>
                <a:spcPts val="0"/>
              </a:spcBef>
              <a:buSzTx/>
              <a:buNone/>
              <a:defRPr sz="8500" spc="-170">
                <a:latin typeface="Helvetica Neue Medium"/>
                <a:ea typeface="Helvetica Neue Medium"/>
                <a:cs typeface="Helvetica Neue Medium"/>
                <a:sym typeface="Helvetica Neue Medium"/>
              </a:defRPr>
            </a:lvl5pPr>
          </a:lstStyle>
          <a:p>
            <a:r>
              <a:t>「著名的引言」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37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 - 一頁三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一碗沙拉搭配炒飯、水煮蛋和筷子"/>
          <p:cNvSpPr>
            <a:spLocks noGrp="1"/>
          </p:cNvSpPr>
          <p:nvPr>
            <p:ph type="pic" sz="quarter" idx="21"/>
          </p:nvPr>
        </p:nvSpPr>
        <p:spPr>
          <a:xfrm>
            <a:off x="15760700" y="1016000"/>
            <a:ext cx="7439099" cy="5949678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5" name="一碗鮭魚餅、沙拉和鷹嘴豆泥 "/>
          <p:cNvSpPr>
            <a:spLocks noGrp="1"/>
          </p:cNvSpPr>
          <p:nvPr>
            <p:ph type="pic" sz="half" idx="22"/>
          </p:nvPr>
        </p:nvSpPr>
        <p:spPr>
          <a:xfrm>
            <a:off x="13500100" y="3978275"/>
            <a:ext cx="10439400" cy="12150181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6" name="一碗搭配洋香菜奶油、烤榛子和刨絲帕瑪森起司的特寬麵"/>
          <p:cNvSpPr>
            <a:spLocks noGrp="1"/>
          </p:cNvSpPr>
          <p:nvPr>
            <p:ph type="pic" idx="23"/>
          </p:nvPr>
        </p:nvSpPr>
        <p:spPr>
          <a:xfrm>
            <a:off x="-139700" y="495300"/>
            <a:ext cx="16611600" cy="124587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47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照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一碗沙拉搭配炒飯、水煮蛋和筷子"/>
          <p:cNvSpPr>
            <a:spLocks noGrp="1"/>
          </p:cNvSpPr>
          <p:nvPr>
            <p:ph type="pic" idx="21"/>
          </p:nvPr>
        </p:nvSpPr>
        <p:spPr>
          <a:xfrm>
            <a:off x="-1333500" y="-5524500"/>
            <a:ext cx="27051000" cy="216408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55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燈片標題"/>
          <p:cNvSpPr txBox="1">
            <a:spLocks noGrp="1"/>
          </p:cNvSpPr>
          <p:nvPr>
            <p:ph type="title" hasCustomPrompt="1"/>
          </p:nvPr>
        </p:nvSpPr>
        <p:spPr>
          <a:xfrm>
            <a:off x="1206500" y="1079500"/>
            <a:ext cx="21971000" cy="14331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幻燈片標題</a:t>
            </a:r>
          </a:p>
        </p:txBody>
      </p:sp>
      <p:sp>
        <p:nvSpPr>
          <p:cNvPr id="3" name="內文層級一…"/>
          <p:cNvSpPr txBox="1">
            <a:spLocks noGrp="1"/>
          </p:cNvSpPr>
          <p:nvPr>
            <p:ph type="body" idx="1" hasCustomPrompt="1"/>
          </p:nvPr>
        </p:nvSpPr>
        <p:spPr>
          <a:xfrm>
            <a:off x="1206500" y="4248504"/>
            <a:ext cx="21971000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幻燈片項目符號文字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4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2001499" y="13080999"/>
            <a:ext cx="368505" cy="374600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 anchor="b">
            <a:spAutoFit/>
          </a:bodyPr>
          <a:lstStyle>
            <a:lvl1pPr algn="ctr" defTabSz="584200">
              <a:lnSpc>
                <a:spcPct val="100000"/>
              </a:lnSpc>
              <a:spcBef>
                <a:spcPts val="0"/>
              </a:spcBef>
              <a:defRPr sz="1800"/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transition spd="med"/>
  <p:txStyles>
    <p:titleStyle>
      <a:lvl1pPr marL="0" marR="0" indent="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l" defTabSz="2438338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8500" b="1" i="0" u="none" strike="noStrike" cap="none" spc="-17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609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1pPr>
      <a:lvl2pPr marL="1219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2pPr>
      <a:lvl3pPr marL="1828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3pPr>
      <a:lvl4pPr marL="2438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4pPr>
      <a:lvl5pPr marL="30480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5pPr>
      <a:lvl6pPr marL="36576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6pPr>
      <a:lvl7pPr marL="42672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7pPr>
      <a:lvl8pPr marL="48768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8pPr>
      <a:lvl9pPr marL="5486400" marR="0" indent="-609600" algn="l" defTabSz="2438338" rtl="0" latinLnBrk="0">
        <a:lnSpc>
          <a:spcPct val="90000"/>
        </a:lnSpc>
        <a:spcBef>
          <a:spcPts val="4500"/>
        </a:spcBef>
        <a:spcAft>
          <a:spcPts val="0"/>
        </a:spcAft>
        <a:buClrTx/>
        <a:buSzPct val="123000"/>
        <a:buFontTx/>
        <a:buChar char="•"/>
        <a:tabLst/>
        <a:defRPr sz="48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Helvetica Neue"/>
        </a:defRPr>
      </a:lvl9pPr>
    </p:bodyStyle>
    <p:otherStyle>
      <a:lvl1pPr marL="0" marR="0" indent="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457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914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1371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18288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22860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27432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32004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3657600" algn="ctr" defTabSz="584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8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gi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gif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gif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20206.03.16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>
            <a:lvl1pPr defTabSz="825500">
              <a:defRPr sz="3600"/>
            </a:lvl1pPr>
          </a:lstStyle>
          <a:p>
            <a:r>
              <a:t>20206.03.16</a:t>
            </a:r>
          </a:p>
        </p:txBody>
      </p:sp>
      <p:sp>
        <p:nvSpPr>
          <p:cNvPr id="172" name="HW1"/>
          <p:cNvSpPr txBox="1">
            <a:spLocks noGrp="1"/>
          </p:cNvSpPr>
          <p:nvPr>
            <p:ph type="ctrTitle"/>
          </p:nvPr>
        </p:nvSpPr>
        <p:spPr>
          <a:xfrm>
            <a:off x="1206498" y="947884"/>
            <a:ext cx="21971004" cy="4648201"/>
          </a:xfrm>
          <a:prstGeom prst="rect">
            <a:avLst/>
          </a:prstGeom>
        </p:spPr>
        <p:txBody>
          <a:bodyPr/>
          <a:lstStyle/>
          <a:p>
            <a:r>
              <a:rPr dirty="0"/>
              <a:t>HW1</a:t>
            </a:r>
          </a:p>
        </p:txBody>
      </p:sp>
      <p:sp>
        <p:nvSpPr>
          <p:cNvPr id="173" name="Yu Hung Lin…"/>
          <p:cNvSpPr txBox="1">
            <a:spLocks noGrp="1"/>
          </p:cNvSpPr>
          <p:nvPr>
            <p:ph type="subTitle" sz="half" idx="1"/>
          </p:nvPr>
        </p:nvSpPr>
        <p:spPr>
          <a:xfrm>
            <a:off x="1206499" y="6274045"/>
            <a:ext cx="21971001" cy="4059028"/>
          </a:xfrm>
          <a:prstGeom prst="rect">
            <a:avLst/>
          </a:prstGeom>
        </p:spPr>
        <p:txBody>
          <a:bodyPr/>
          <a:lstStyle/>
          <a:p>
            <a:r>
              <a:rPr dirty="0"/>
              <a:t>Yu</a:t>
            </a:r>
            <a:r>
              <a:rPr lang="en-US" dirty="0"/>
              <a:t>-</a:t>
            </a:r>
            <a:r>
              <a:rPr dirty="0"/>
              <a:t>Hung Lin</a:t>
            </a:r>
            <a:r>
              <a:rPr lang="en-US" dirty="0"/>
              <a:t> Master std.</a:t>
            </a:r>
            <a:endParaRPr dirty="0"/>
          </a:p>
          <a:p>
            <a:r>
              <a:rPr dirty="0"/>
              <a:t>Ping-Xu Lin</a:t>
            </a:r>
            <a:r>
              <a:rPr lang="en-US" altLang="zh-TW" dirty="0"/>
              <a:t> Master std.</a:t>
            </a:r>
            <a:endParaRPr lang="en-US" dirty="0"/>
          </a:p>
          <a:p>
            <a:r>
              <a:rPr lang="en-US" dirty="0" err="1"/>
              <a:t>Rhaditya</a:t>
            </a:r>
            <a:r>
              <a:rPr lang="en-US" dirty="0"/>
              <a:t> </a:t>
            </a:r>
            <a:r>
              <a:rPr lang="en-US" dirty="0" err="1"/>
              <a:t>Viansyah</a:t>
            </a:r>
            <a:r>
              <a:rPr lang="en-US" dirty="0"/>
              <a:t> A.</a:t>
            </a:r>
            <a:r>
              <a:rPr lang="en-US" altLang="zh-TW" dirty="0"/>
              <a:t> Master std.</a:t>
            </a:r>
            <a:endParaRPr dirty="0"/>
          </a:p>
        </p:txBody>
      </p:sp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able of Conten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Table of Content</a:t>
            </a:r>
          </a:p>
        </p:txBody>
      </p:sp>
      <p:sp>
        <p:nvSpPr>
          <p:cNvPr id="177" name="幻燈片項目符號文字"/>
          <p:cNvSpPr txBox="1">
            <a:spLocks noGrp="1"/>
          </p:cNvSpPr>
          <p:nvPr>
            <p:ph type="body" idx="1"/>
          </p:nvPr>
        </p:nvSpPr>
        <p:spPr>
          <a:xfrm>
            <a:off x="1206500" y="4248504"/>
            <a:ext cx="5334977" cy="8256012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en-US" dirty="0"/>
              <a:t>Software</a:t>
            </a:r>
          </a:p>
          <a:p>
            <a:pPr marL="0" indent="0">
              <a:buNone/>
            </a:pPr>
            <a:endParaRPr dirty="0"/>
          </a:p>
        </p:txBody>
      </p:sp>
      <p:sp>
        <p:nvSpPr>
          <p:cNvPr id="5" name="幻燈片項目符號文字">
            <a:extLst>
              <a:ext uri="{FF2B5EF4-FFF2-40B4-BE49-F238E27FC236}">
                <a16:creationId xmlns:a16="http://schemas.microsoft.com/office/drawing/2014/main" id="{2060DB00-0068-BE4E-9A89-3412A72DC15F}"/>
              </a:ext>
            </a:extLst>
          </p:cNvPr>
          <p:cNvSpPr txBox="1">
            <a:spLocks/>
          </p:cNvSpPr>
          <p:nvPr/>
        </p:nvSpPr>
        <p:spPr>
          <a:xfrm>
            <a:off x="9524511" y="4248504"/>
            <a:ext cx="5334977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609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marL="0" indent="0" hangingPunct="1">
              <a:buFontTx/>
              <a:buNone/>
            </a:pPr>
            <a:r>
              <a:rPr lang="en-US" dirty="0"/>
              <a:t>Section properties</a:t>
            </a:r>
          </a:p>
          <a:p>
            <a:pPr marL="0" indent="0" hangingPunct="1">
              <a:buFontTx/>
              <a:buNone/>
            </a:pPr>
            <a:endParaRPr lang="en-US" dirty="0"/>
          </a:p>
        </p:txBody>
      </p:sp>
      <p:sp>
        <p:nvSpPr>
          <p:cNvPr id="6" name="幻燈片項目符號文字">
            <a:extLst>
              <a:ext uri="{FF2B5EF4-FFF2-40B4-BE49-F238E27FC236}">
                <a16:creationId xmlns:a16="http://schemas.microsoft.com/office/drawing/2014/main" id="{50B0600B-732E-0D44-9A10-8D1146019C91}"/>
              </a:ext>
            </a:extLst>
          </p:cNvPr>
          <p:cNvSpPr txBox="1">
            <a:spLocks/>
          </p:cNvSpPr>
          <p:nvPr/>
        </p:nvSpPr>
        <p:spPr>
          <a:xfrm>
            <a:off x="17842522" y="4248504"/>
            <a:ext cx="5720863" cy="82560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>
            <a:lvl1pPr marL="609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1219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1828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2438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30480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36576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42672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48768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5486400" marR="0" indent="-609600" algn="l" defTabSz="2438338" rtl="0" latinLnBrk="0">
              <a:lnSpc>
                <a:spcPct val="90000"/>
              </a:lnSpc>
              <a:spcBef>
                <a:spcPts val="4500"/>
              </a:spcBef>
              <a:spcAft>
                <a:spcPts val="0"/>
              </a:spcAft>
              <a:buClrTx/>
              <a:buSzPct val="123000"/>
              <a:buFontTx/>
              <a:buChar char="•"/>
              <a:tabLst/>
              <a:defRPr sz="4800" b="0" i="0" u="none" strike="noStrike" cap="none" spc="0" baseline="0"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marL="0" indent="0" hangingPunct="1">
              <a:buFontTx/>
              <a:buNone/>
            </a:pPr>
            <a:r>
              <a:rPr lang="en-US" dirty="0"/>
              <a:t>Analysis parameters</a:t>
            </a:r>
          </a:p>
          <a:p>
            <a:pPr marL="0" indent="0" hangingPunct="1">
              <a:buFontTx/>
              <a:buNone/>
            </a:pPr>
            <a:endParaRPr lang="en-US"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180" name="Softwar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Software</a:t>
            </a:r>
          </a:p>
        </p:txBody>
      </p:sp>
      <p:pic>
        <p:nvPicPr>
          <p:cNvPr id="181" name="S__110797071.jpg" descr="S__1107970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2323" y="5454098"/>
            <a:ext cx="10781470" cy="3960118"/>
          </a:xfrm>
          <a:prstGeom prst="rect">
            <a:avLst/>
          </a:prstGeom>
          <a:ln w="12700">
            <a:miter lim="400000"/>
          </a:ln>
        </p:spPr>
      </p:pic>
      <p:pic>
        <p:nvPicPr>
          <p:cNvPr id="3" name="圖片 2">
            <a:extLst>
              <a:ext uri="{FF2B5EF4-FFF2-40B4-BE49-F238E27FC236}">
                <a16:creationId xmlns:a16="http://schemas.microsoft.com/office/drawing/2014/main" id="{161D8166-77CF-0D4F-A678-E8F94F75EE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14969" y="4063240"/>
            <a:ext cx="6741834" cy="6741834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187" name="Section, parameter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Section, parameters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8" name="Longitudinal bars: #8-D25…"/>
              <p:cNvSpPr/>
              <p:nvPr/>
            </p:nvSpPr>
            <p:spPr>
              <a:xfrm>
                <a:off x="14917768" y="2586252"/>
                <a:ext cx="9023510" cy="10396864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r>
                  <a:t>Longitudinal bars: #8-D25</a:t>
                </a:r>
              </a:p>
              <a:p>
                <a:r>
                  <a:t>Transverse bars: #4-D19</a:t>
                </a:r>
              </a:p>
              <a:p>
                <a:r>
                  <a:t>Section Area: 60*60 </a:t>
                </a:r>
                <a14:m>
                  <m:oMath xmlns:m="http://schemas.openxmlformats.org/officeDocument/2006/math">
                    <m:r>
                      <a:rPr sz="5750" i="1">
                        <a:solidFill>
                          <a:srgbClr val="00000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sz="5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sz="5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sz="5750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/>
              </a:p>
            </p:txBody>
          </p:sp>
        </mc:Choice>
        <mc:Fallback>
          <p:sp>
            <p:nvSpPr>
              <p:cNvPr id="188" name="Longitudinal bars: #8-D25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917768" y="2586252"/>
                <a:ext cx="9023510" cy="10396864"/>
              </a:xfrm>
              <a:prstGeom prst="rect">
                <a:avLst/>
              </a:prstGeom>
              <a:blipFill>
                <a:blip r:embed="rId3"/>
                <a:stretch>
                  <a:fillRect l="-3516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9" name="HW1-Model.pdf" descr="HW1-Model.pdf"/>
          <p:cNvPicPr>
            <a:picLocks noChangeAspect="1"/>
          </p:cNvPicPr>
          <p:nvPr/>
        </p:nvPicPr>
        <p:blipFill>
          <a:blip r:embed="rId4"/>
          <a:srcRect t="7000" r="9649"/>
          <a:stretch>
            <a:fillRect/>
          </a:stretch>
        </p:blipFill>
        <p:spPr>
          <a:xfrm>
            <a:off x="-2241134" y="4030997"/>
            <a:ext cx="15821882" cy="11508397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194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Normal Concrete (28MPa)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t>Normal Concrete (28MPa)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=28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=0.002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=0.004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Type: “Concrete01”</a:t>
                </a:r>
              </a:p>
            </p:txBody>
          </p:sp>
        </mc:Choice>
        <mc:Fallback>
          <p:sp>
            <p:nvSpPr>
              <p:cNvPr id="195" name="Normal Concrete (28MPa)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3"/>
                <a:stretch>
                  <a:fillRect l="-311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6" name="Concrete01.gif" descr="Concrete01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47619" y="4319617"/>
            <a:ext cx="10183969" cy="811378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01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2" name="High Strength Concrete (70MPa)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r>
                  <a:t>High Strength Concrete (70MPa)</a:t>
                </a:r>
              </a:p>
              <a:p>
                <a:pPr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  <m:sup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=70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=0.002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𝑝𝑐𝑢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𝑐𝑢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=0.004</m:t>
                      </m:r>
                    </m:oMath>
                  </m:oMathPara>
                </a14:m>
                <a:endParaRPr/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Type: “Concrete01”</a:t>
                </a:r>
              </a:p>
            </p:txBody>
          </p:sp>
        </mc:Choice>
        <mc:Fallback>
          <p:sp>
            <p:nvSpPr>
              <p:cNvPr id="202" name="High Strength Concrete (70MPa)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2"/>
                <a:stretch>
                  <a:fillRect l="-3113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3" name="Concrete01.gif" descr="Concrete0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47619" y="4319617"/>
            <a:ext cx="10183970" cy="8113785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06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7" name="SD420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SD420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=420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=420∗1.25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:r>
                  <a:t>Type : “Steel01”</a:t>
                </a:r>
              </a:p>
            </p:txBody>
          </p:sp>
        </mc:Choice>
        <mc:Fallback>
          <p:sp>
            <p:nvSpPr>
              <p:cNvPr id="207" name="SD420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2"/>
                <a:stretch>
                  <a:fillRect l="-274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8" name="Steel01.gif" descr="Steel0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1698" y="4281968"/>
            <a:ext cx="10215812" cy="81890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11" name="Material Properties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Material Properties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12" name="SD550…"/>
              <p:cNvSpPr/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m="http://schemas.openxmlformats.org/officeDocument/2006/math" xmlns="" val="1"/>
                </a:ext>
              </a:extLst>
            </p:spPr>
            <p:txBody>
              <a:bodyPr lIns="50800" tIns="50800" rIns="50800" bIns="50800" anchor="ctr"/>
              <a:lstStyle/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r>
                  <a:t>SD550</a:t>
                </a:r>
              </a:p>
              <a:p>
                <a:pPr lvl="1">
                  <a:lnSpc>
                    <a:spcPct val="120000"/>
                  </a:lnSpc>
                  <a:spcBef>
                    <a:spcPts val="0"/>
                  </a:spcBef>
                </a:pPr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=550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=550∗1.25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sz="5750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sz="5750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  <m:r>
                        <m:rPr>
                          <m:nor/>
                        </m:rPr>
                        <a:rPr sz="5750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</a:rPr>
                        <m:t>MPa</m:t>
                      </m:r>
                    </m:oMath>
                  </m:oMathPara>
                </a14:m>
                <a:endParaRPr/>
              </a:p>
              <a:p>
                <a:pPr lvl="2">
                  <a:lnSpc>
                    <a:spcPct val="120000"/>
                  </a:lnSpc>
                  <a:spcBef>
                    <a:spcPts val="0"/>
                  </a:spcBef>
                </a:pPr>
                <a:r>
                  <a:t>Type : “Steel01”</a:t>
                </a:r>
              </a:p>
            </p:txBody>
          </p:sp>
        </mc:Choice>
        <mc:Fallback>
          <p:sp>
            <p:nvSpPr>
              <p:cNvPr id="212" name="SD550…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4604" y="3570260"/>
                <a:ext cx="10183970" cy="9612499"/>
              </a:xfrm>
              <a:prstGeom prst="rect">
                <a:avLst/>
              </a:prstGeom>
              <a:blipFill>
                <a:blip r:embed="rId2"/>
                <a:stretch>
                  <a:fillRect l="-2740"/>
                </a:stretch>
              </a:blipFill>
              <a:ln w="12700">
                <a:miter lim="400000"/>
              </a:ln>
              <a:extLst>
                <a:ext uri="{C572A759-6A51-4108-AA02-DFA0A04FC94B}">
                  <ma14:wrappingTextBoxFlag xmlns:ma14="http://schemas.microsoft.com/office/mac/drawingml/2011/main" xmlns:a14="http://schemas.microsoft.com/office/drawing/2010/main" xmlns:m="http://schemas.openxmlformats.org/officeDocument/2006/math" xmlns="" val="1"/>
                </a:ext>
              </a:extLst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3" name="Steel01.gif" descr="Steel01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1698" y="4281968"/>
            <a:ext cx="10215812" cy="8189083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HW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HW1</a:t>
            </a:r>
          </a:p>
        </p:txBody>
      </p:sp>
      <p:sp>
        <p:nvSpPr>
          <p:cNvPr id="216" name="Analysis cas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>
            <a:lvl1pPr defTabSz="825500">
              <a:defRPr sz="5500"/>
            </a:lvl1pPr>
          </a:lstStyle>
          <a:p>
            <a:r>
              <a:t>Analysis case</a:t>
            </a:r>
          </a:p>
        </p:txBody>
      </p:sp>
      <p:pic>
        <p:nvPicPr>
          <p:cNvPr id="217" name="HW1-Model.pdf" descr="HW1-Model.pdf"/>
          <p:cNvPicPr>
            <a:picLocks noChangeAspect="1"/>
          </p:cNvPicPr>
          <p:nvPr/>
        </p:nvPicPr>
        <p:blipFill>
          <a:blip r:embed="rId2"/>
          <a:srcRect l="32710" t="25607" r="32710" b="25607"/>
          <a:stretch>
            <a:fillRect/>
          </a:stretch>
        </p:blipFill>
        <p:spPr>
          <a:xfrm>
            <a:off x="2357101" y="4288498"/>
            <a:ext cx="8200794" cy="8175833"/>
          </a:xfrm>
          <a:prstGeom prst="rect">
            <a:avLst/>
          </a:prstGeom>
          <a:ln w="12700">
            <a:miter lim="400000"/>
          </a:ln>
        </p:spPr>
      </p:pic>
      <p:sp>
        <p:nvSpPr>
          <p:cNvPr id="218" name="Case1: NC-SD420…"/>
          <p:cNvSpPr/>
          <p:nvPr/>
        </p:nvSpPr>
        <p:spPr>
          <a:xfrm>
            <a:off x="12663176" y="2051751"/>
            <a:ext cx="10183969" cy="961249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 anchor="ctr"/>
          <a:lstStyle/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Case1: NC-SD420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Case2: NC-SD550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Case1: HSC-SD420</a:t>
            </a:r>
          </a:p>
          <a:p>
            <a:pPr lvl="1">
              <a:lnSpc>
                <a:spcPct val="120000"/>
              </a:lnSpc>
              <a:spcBef>
                <a:spcPts val="0"/>
              </a:spcBef>
            </a:pPr>
            <a:r>
              <a:t>Case1: HSC-SD420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21_BasicWhite">
  <a:themeElements>
    <a:clrScheme name="21_Basic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FD932"/>
      </a:accent4>
      <a:accent5>
        <a:srgbClr val="FF644E"/>
      </a:accent5>
      <a:accent6>
        <a:srgbClr val="FF42A1"/>
      </a:accent6>
      <a:hlink>
        <a:srgbClr val="0000FF"/>
      </a:hlink>
      <a:folHlink>
        <a:srgbClr val="FF00FF"/>
      </a:folHlink>
    </a:clrScheme>
    <a:fontScheme name="21_BasicWhite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21_BasicWhit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000000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ctr" defTabSz="8255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3200" b="0" i="0" u="none" strike="noStrike" cap="none" spc="0" normalizeH="0" baseline="0">
            <a:ln>
              <a:noFill/>
            </a:ln>
            <a:solidFill>
              <a:srgbClr val="FFFFFF"/>
            </a:solidFill>
            <a:effectLst/>
            <a:uFillTx/>
            <a:latin typeface="Helvetica Neue Medium"/>
            <a:ea typeface="Helvetica Neue Medium"/>
            <a:cs typeface="Helvetica Neue Medium"/>
            <a:sym typeface="Helvetica Neue Medium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000000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2438338" rtl="0" fontAlgn="auto" latinLnBrk="0" hangingPunct="0">
          <a:lnSpc>
            <a:spcPct val="90000"/>
          </a:lnSpc>
          <a:spcBef>
            <a:spcPts val="4500"/>
          </a:spcBef>
          <a:spcAft>
            <a:spcPts val="0"/>
          </a:spcAft>
          <a:buClrTx/>
          <a:buSzTx/>
          <a:buFontTx/>
          <a:buNone/>
          <a:tabLst/>
          <a:defRPr kumimoji="0" sz="4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Helvetica Neue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253</Words>
  <Application>Microsoft Macintosh PowerPoint</Application>
  <PresentationFormat>自訂</PresentationFormat>
  <Paragraphs>63</Paragraphs>
  <Slides>9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Cambria Math</vt:lpstr>
      <vt:lpstr>Helvetica Neue</vt:lpstr>
      <vt:lpstr>Helvetica Neue Medium</vt:lpstr>
      <vt:lpstr>21_BasicWhite</vt:lpstr>
      <vt:lpstr>HW1</vt:lpstr>
      <vt:lpstr>Table of Content</vt:lpstr>
      <vt:lpstr>HW1</vt:lpstr>
      <vt:lpstr>HW1</vt:lpstr>
      <vt:lpstr>HW1</vt:lpstr>
      <vt:lpstr>HW1</vt:lpstr>
      <vt:lpstr>HW1</vt:lpstr>
      <vt:lpstr>HW1</vt:lpstr>
      <vt:lpstr>HW1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HW1</dc:title>
  <cp:lastModifiedBy>宥宏 林</cp:lastModifiedBy>
  <cp:revision>2</cp:revision>
  <dcterms:modified xsi:type="dcterms:W3CDTF">2026-03-11T08:24:00Z</dcterms:modified>
</cp:coreProperties>
</file>